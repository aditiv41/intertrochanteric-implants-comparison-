
<file path=[Content_Types].xml><?xml version="1.0" encoding="utf-8"?>
<Types xmlns="http://schemas.openxmlformats.org/package/2006/content-types">
  <Default ContentType="image/jpeg" Extension="jpg"/>
  <Default ContentType="image/vnd.ms-photo" Extension="wdp"/>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1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7.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6858000" cx="91440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775DCB02-9BB8-47FD-8907-85C794F793BA}" styleName="Themed Style 1 - Accent 4">
    <a:tblBg>
      <a:fillRef idx="2">
        <a:schemeClr val="accent4"/>
      </a:fillRef>
      <a:effectRef idx="1">
        <a:schemeClr val="accent4"/>
      </a:effectRef>
    </a:tblBg>
    <a:wholeTbl>
      <a:tcTxStyle>
        <a:fontRef idx="minor">
          <a:scrgbClr b="0" g="0" r="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b="0" g="0" r="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cmpd="sng" w="12700">
              <a:solidFill>
                <a:schemeClr val="lt1"/>
              </a:solidFill>
            </a:ln>
          </a:left>
          <a:right>
            <a:ln cmpd="sng" w="12700">
              <a:solidFill>
                <a:schemeClr val="lt1"/>
              </a:solidFill>
            </a:ln>
          </a:right>
          <a:top>
            <a:ln cmpd="sng" w="12700">
              <a:solidFill>
                <a:schemeClr val="lt1"/>
              </a:solidFill>
            </a:ln>
          </a:top>
          <a:bottom>
            <a:ln cmpd="sng" w="12700">
              <a:solidFill>
                <a:schemeClr val="lt1"/>
              </a:solidFill>
            </a:ln>
          </a:bottom>
          <a:insideH>
            <a:ln cmpd="sng" w="12700">
              <a:solidFill>
                <a:schemeClr val="lt1"/>
              </a:solidFill>
            </a:ln>
          </a:insideH>
          <a:insideV>
            <a:ln cmpd="sng"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cmpd="sng" w="38100">
              <a:solidFill>
                <a:schemeClr val="lt1"/>
              </a:solidFill>
            </a:ln>
          </a:top>
        </a:tcBdr>
        <a:fill>
          <a:solidFill>
            <a:schemeClr val="accent1"/>
          </a:solidFill>
        </a:fill>
      </a:tcStyle>
    </a:lastRow>
    <a:firstRow>
      <a:tcTxStyle b="on">
        <a:fontRef idx="minor">
          <a:prstClr val="black"/>
        </a:fontRef>
        <a:schemeClr val="lt1"/>
      </a:tcTxStyle>
      <a:tcStyle>
        <a:tcBdr>
          <a:bottom>
            <a:ln cmpd="sng" w="38100">
              <a:solidFill>
                <a:schemeClr val="lt1"/>
              </a:solidFill>
            </a:ln>
          </a:bottom>
        </a:tcBdr>
        <a:fill>
          <a:solidFill>
            <a:schemeClr val="accent1"/>
          </a:solidFill>
        </a:fill>
      </a:tcStyle>
    </a:firstRow>
  </a:tblStyle>
</a:tblStyleLst>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tableStyles" Target="tableStyles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55E8776-EE76-43CD-8C52-8CD1604437C1}" type="datetimeFigureOut">
              <a:rPr lang="en-US" smtClean="0"/>
              <a:pPr/>
              <a:t>5/8/2026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989E8C-4C43-425A-8A31-2FAA2C0C7D3E}" type="slidenum">
              <a:rPr lang="en-US" smtClean="0"/>
              <a:pPr/>
              <a:t>‹#›</a:t>
            </a:fld>
            <a:endParaRPr lang="en-US"/>
          </a:p>
        </p:txBody>
      </p:sp>
    </p:spTree>
    <p:extLst>
      <p:ext uri="{BB962C8B-B14F-4D97-AF65-F5344CB8AC3E}">
        <p14:creationId xmlns:p14="http://schemas.microsoft.com/office/powerpoint/2010/main" val="1624433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44A6FFA-70E3-4DDB-A166-618A2F6E5AA5}" type="datetime1">
              <a:rPr lang="en-IN" smtClean="0"/>
              <a:t>08-05-2026</a:t>
            </a:fld>
            <a:endParaRPr lang="en-US"/>
          </a:p>
        </p:txBody>
      </p:sp>
      <p:sp>
        <p:nvSpPr>
          <p:cNvPr id="5" name="Footer Placeholder 4"/>
          <p:cNvSpPr>
            <a:spLocks noGrp="1"/>
          </p:cNvSpPr>
          <p:nvPr>
            <p:ph type="ftr" sz="quarter" idx="11"/>
          </p:nvPr>
        </p:nvSpPr>
        <p:spPr/>
        <p:txBody>
          <a:bodyPr/>
          <a:lstStyle/>
          <a:p>
            <a:r>
              <a:rPr lang="en-US" smtClean="0"/>
              <a:t>B. Tech. Progress seminar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88421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1AFBCC-0DB8-4286-AE93-DFEBED047FD1}" type="datetime1">
              <a:rPr lang="en-IN" smtClean="0"/>
              <a:t>08-05-2026</a:t>
            </a:fld>
            <a:endParaRPr lang="en-US"/>
          </a:p>
        </p:txBody>
      </p:sp>
      <p:sp>
        <p:nvSpPr>
          <p:cNvPr id="5" name="Footer Placeholder 4"/>
          <p:cNvSpPr>
            <a:spLocks noGrp="1"/>
          </p:cNvSpPr>
          <p:nvPr>
            <p:ph type="ftr" sz="quarter" idx="11"/>
          </p:nvPr>
        </p:nvSpPr>
        <p:spPr/>
        <p:txBody>
          <a:bodyPr/>
          <a:lstStyle/>
          <a:p>
            <a:r>
              <a:rPr lang="en-US" smtClean="0"/>
              <a:t>B. Tech. Progress seminar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65507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A82B582-3497-4B18-B0E1-B82A9C8739D3}" type="datetime1">
              <a:rPr lang="en-IN" smtClean="0"/>
              <a:t>08-05-2026</a:t>
            </a:fld>
            <a:endParaRPr lang="en-US"/>
          </a:p>
        </p:txBody>
      </p:sp>
      <p:sp>
        <p:nvSpPr>
          <p:cNvPr id="5" name="Footer Placeholder 4"/>
          <p:cNvSpPr>
            <a:spLocks noGrp="1"/>
          </p:cNvSpPr>
          <p:nvPr>
            <p:ph type="ftr" sz="quarter" idx="11"/>
          </p:nvPr>
        </p:nvSpPr>
        <p:spPr/>
        <p:txBody>
          <a:bodyPr/>
          <a:lstStyle/>
          <a:p>
            <a:r>
              <a:rPr lang="en-US" smtClean="0"/>
              <a:t>B. Tech. Progress seminar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02193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A0047F5-E9CC-4CBE-B246-8C5E1070E4C3}" type="datetime1">
              <a:rPr lang="en-IN" smtClean="0"/>
              <a:t>08-05-2026</a:t>
            </a:fld>
            <a:endParaRPr lang="en-US"/>
          </a:p>
        </p:txBody>
      </p:sp>
      <p:sp>
        <p:nvSpPr>
          <p:cNvPr id="6" name="Footer Placeholder 5"/>
          <p:cNvSpPr>
            <a:spLocks noGrp="1"/>
          </p:cNvSpPr>
          <p:nvPr>
            <p:ph type="ftr" sz="quarter" idx="11"/>
          </p:nvPr>
        </p:nvSpPr>
        <p:spPr/>
        <p:txBody>
          <a:bodyPr/>
          <a:lstStyle/>
          <a:p>
            <a:r>
              <a:rPr lang="en-US" smtClean="0"/>
              <a:t>B. Tech. Progress seminar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36568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0B637EB-8F16-4487-8BDF-9B1E615C2B1D}" type="datetime1">
              <a:rPr lang="en-IN" smtClean="0"/>
              <a:t>08-05-2026</a:t>
            </a:fld>
            <a:endParaRPr lang="en-US"/>
          </a:p>
        </p:txBody>
      </p:sp>
      <p:sp>
        <p:nvSpPr>
          <p:cNvPr id="8" name="Footer Placeholder 7"/>
          <p:cNvSpPr>
            <a:spLocks noGrp="1"/>
          </p:cNvSpPr>
          <p:nvPr>
            <p:ph type="ftr" sz="quarter" idx="11"/>
          </p:nvPr>
        </p:nvSpPr>
        <p:spPr/>
        <p:txBody>
          <a:bodyPr/>
          <a:lstStyle/>
          <a:p>
            <a:r>
              <a:rPr lang="en-US" smtClean="0"/>
              <a:t>B. Tech. Progress seminar </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18956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DFE3B2D-F11E-42D0-964D-05131867EBD3}" type="datetime1">
              <a:rPr lang="en-IN" smtClean="0"/>
              <a:t>08-05-2026</a:t>
            </a:fld>
            <a:endParaRPr lang="en-US"/>
          </a:p>
        </p:txBody>
      </p:sp>
      <p:sp>
        <p:nvSpPr>
          <p:cNvPr id="4" name="Footer Placeholder 3"/>
          <p:cNvSpPr>
            <a:spLocks noGrp="1"/>
          </p:cNvSpPr>
          <p:nvPr>
            <p:ph type="ftr" sz="quarter" idx="11"/>
          </p:nvPr>
        </p:nvSpPr>
        <p:spPr/>
        <p:txBody>
          <a:bodyPr/>
          <a:lstStyle/>
          <a:p>
            <a:r>
              <a:rPr lang="en-US" smtClean="0"/>
              <a:t>B. Tech. Progress seminar </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82738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2D8C2-730E-41D0-A6A3-3DCB021D69EE}" type="datetime1">
              <a:rPr lang="en-IN" smtClean="0"/>
              <a:t>08-05-2026</a:t>
            </a:fld>
            <a:endParaRPr lang="en-US"/>
          </a:p>
        </p:txBody>
      </p:sp>
      <p:sp>
        <p:nvSpPr>
          <p:cNvPr id="3" name="Footer Placeholder 2"/>
          <p:cNvSpPr>
            <a:spLocks noGrp="1"/>
          </p:cNvSpPr>
          <p:nvPr>
            <p:ph type="ftr" sz="quarter" idx="11"/>
          </p:nvPr>
        </p:nvSpPr>
        <p:spPr/>
        <p:txBody>
          <a:bodyPr/>
          <a:lstStyle/>
          <a:p>
            <a:r>
              <a:rPr lang="en-US" smtClean="0"/>
              <a:t>B. Tech. Progress seminar </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8427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0A8EB5CD-DE4A-4C6E-9359-7D72851E747C}" type="datetime1">
              <a:rPr lang="en-IN" smtClean="0"/>
              <a:t>08-05-2026</a:t>
            </a:fld>
            <a:endParaRPr lang="en-US"/>
          </a:p>
        </p:txBody>
      </p:sp>
      <p:sp>
        <p:nvSpPr>
          <p:cNvPr id="6" name="Footer Placeholder 5"/>
          <p:cNvSpPr>
            <a:spLocks noGrp="1"/>
          </p:cNvSpPr>
          <p:nvPr>
            <p:ph type="ftr" sz="quarter" idx="11"/>
          </p:nvPr>
        </p:nvSpPr>
        <p:spPr/>
        <p:txBody>
          <a:bodyPr/>
          <a:lstStyle/>
          <a:p>
            <a:r>
              <a:rPr lang="en-US" smtClean="0"/>
              <a:t>B. Tech. Progress seminar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80372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0A477A2-C52C-4589-9093-9F450CB391CC}" type="datetime1">
              <a:rPr lang="en-IN" smtClean="0"/>
              <a:t>08-05-2026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08977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6D7446A-6977-4978-93BF-76E1E9025FD5}" type="datetime1">
              <a:rPr lang="en-IN" smtClean="0"/>
              <a:t>08-05-2026</a:t>
            </a:fld>
            <a:endParaRPr lang="en-US"/>
          </a:p>
        </p:txBody>
      </p:sp>
      <p:sp>
        <p:nvSpPr>
          <p:cNvPr id="5" name="Footer Placeholder 4"/>
          <p:cNvSpPr>
            <a:spLocks noGrp="1"/>
          </p:cNvSpPr>
          <p:nvPr>
            <p:ph type="ftr" sz="quarter" idx="11"/>
          </p:nvPr>
        </p:nvSpPr>
        <p:spPr/>
        <p:txBody>
          <a:bodyPr/>
          <a:lstStyle/>
          <a:p>
            <a:r>
              <a:rPr lang="en-US" smtClean="0"/>
              <a:t>B. Tech. Progress seminar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8112347"/>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6D7446A-6977-4978-93BF-76E1E9025FD5}" type="datetime1">
              <a:rPr lang="en-IN" smtClean="0"/>
              <a:t>08-05-2026</a:t>
            </a:fld>
            <a:endParaRPr lang="en-US"/>
          </a:p>
        </p:txBody>
      </p:sp>
      <p:sp>
        <p:nvSpPr>
          <p:cNvPr id="5" name="Footer Placeholder 4"/>
          <p:cNvSpPr>
            <a:spLocks noGrp="1"/>
          </p:cNvSpPr>
          <p:nvPr>
            <p:ph type="ftr" sz="quarter" idx="11"/>
          </p:nvPr>
        </p:nvSpPr>
        <p:spPr/>
        <p:txBody>
          <a:bodyPr/>
          <a:lstStyle/>
          <a:p>
            <a:r>
              <a:rPr lang="en-US" smtClean="0"/>
              <a:t>B. Tech. Progress seminar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57958435"/>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6D7446A-6977-4978-93BF-76E1E9025FD5}" type="datetime1">
              <a:rPr lang="en-IN" smtClean="0"/>
              <a:t>08-05-2026</a:t>
            </a:fld>
            <a:endParaRPr lang="en-US"/>
          </a:p>
        </p:txBody>
      </p:sp>
      <p:sp>
        <p:nvSpPr>
          <p:cNvPr id="5" name="Footer Placeholder 4"/>
          <p:cNvSpPr>
            <a:spLocks noGrp="1"/>
          </p:cNvSpPr>
          <p:nvPr>
            <p:ph type="ftr" sz="quarter" idx="11"/>
          </p:nvPr>
        </p:nvSpPr>
        <p:spPr/>
        <p:txBody>
          <a:bodyPr/>
          <a:lstStyle/>
          <a:p>
            <a:r>
              <a:rPr lang="en-US" smtClean="0"/>
              <a:t>B. Tech. Progress seminar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70389932"/>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6D7446A-6977-4978-93BF-76E1E9025FD5}" type="datetime1">
              <a:rPr lang="en-IN" smtClean="0"/>
              <a:t>08-05-2026</a:t>
            </a:fld>
            <a:endParaRPr lang="en-US"/>
          </a:p>
        </p:txBody>
      </p:sp>
      <p:sp>
        <p:nvSpPr>
          <p:cNvPr id="5" name="Footer Placeholder 4"/>
          <p:cNvSpPr>
            <a:spLocks noGrp="1"/>
          </p:cNvSpPr>
          <p:nvPr>
            <p:ph type="ftr" sz="quarter" idx="11"/>
          </p:nvPr>
        </p:nvSpPr>
        <p:spPr/>
        <p:txBody>
          <a:bodyPr/>
          <a:lstStyle/>
          <a:p>
            <a:r>
              <a:rPr lang="en-US" smtClean="0"/>
              <a:t>B. Tech. Progress seminar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11582291"/>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6D7446A-6977-4978-93BF-76E1E9025FD5}" type="datetime1">
              <a:rPr lang="en-IN" smtClean="0"/>
              <a:t>08-05-2026</a:t>
            </a:fld>
            <a:endParaRPr lang="en-US"/>
          </a:p>
        </p:txBody>
      </p:sp>
      <p:sp>
        <p:nvSpPr>
          <p:cNvPr id="5" name="Footer Placeholder 4"/>
          <p:cNvSpPr>
            <a:spLocks noGrp="1"/>
          </p:cNvSpPr>
          <p:nvPr>
            <p:ph type="ftr" sz="quarter" idx="11"/>
          </p:nvPr>
        </p:nvSpPr>
        <p:spPr/>
        <p:txBody>
          <a:bodyPr/>
          <a:lstStyle/>
          <a:p>
            <a:r>
              <a:rPr lang="en-US" smtClean="0"/>
              <a:t>B. Tech. Progress seminar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7633993"/>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BD849FF-9247-4C5A-9E51-2C26E823E50A}" type="datetime1">
              <a:rPr lang="en-IN" smtClean="0"/>
              <a:t>08-05-2026</a:t>
            </a:fld>
            <a:endParaRPr lang="en-US"/>
          </a:p>
        </p:txBody>
      </p:sp>
      <p:sp>
        <p:nvSpPr>
          <p:cNvPr id="5" name="Footer Placeholder 4"/>
          <p:cNvSpPr>
            <a:spLocks noGrp="1"/>
          </p:cNvSpPr>
          <p:nvPr>
            <p:ph type="ftr" sz="quarter" idx="11"/>
          </p:nvPr>
        </p:nvSpPr>
        <p:spPr/>
        <p:txBody>
          <a:bodyPr/>
          <a:lstStyle/>
          <a:p>
            <a:r>
              <a:rPr lang="en-US" smtClean="0"/>
              <a:t>B. Tech. Progress seminar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717370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0D65A49-1DB1-4D90-B8F8-1707CD4B47A3}" type="datetime1">
              <a:rPr lang="en-IN" smtClean="0"/>
              <a:t>08-05-2026</a:t>
            </a:fld>
            <a:endParaRPr lang="en-US"/>
          </a:p>
        </p:txBody>
      </p:sp>
      <p:sp>
        <p:nvSpPr>
          <p:cNvPr id="5" name="Footer Placeholder 4"/>
          <p:cNvSpPr>
            <a:spLocks noGrp="1"/>
          </p:cNvSpPr>
          <p:nvPr>
            <p:ph type="ftr" sz="quarter" idx="11"/>
          </p:nvPr>
        </p:nvSpPr>
        <p:spPr/>
        <p:txBody>
          <a:bodyPr/>
          <a:lstStyle/>
          <a:p>
            <a:r>
              <a:rPr lang="en-US" smtClean="0"/>
              <a:t>B. Tech. Progress seminar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819914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457200" y="6245225"/>
            <a:ext cx="2133600" cy="476250"/>
          </a:xfrm>
          <a:prstGeom prst="rect">
            <a:avLst/>
          </a:prstGeom>
        </p:spPr>
        <p:txBody>
          <a:bodyPr/>
          <a:lstStyle>
            <a:lvl1pPr>
              <a:defRPr/>
            </a:lvl1pPr>
          </a:lstStyle>
          <a:p>
            <a:fld id="{6CAA8016-FD93-45CE-8B82-89E48C5ECE4B}" type="datetime1">
              <a:rPr lang="en-IN" smtClean="0"/>
              <a:t>08-05-2026</a:t>
            </a:fld>
            <a:endParaRPr lang="en-US"/>
          </a:p>
        </p:txBody>
      </p:sp>
      <p:sp>
        <p:nvSpPr>
          <p:cNvPr id="4" name="Footer Placeholder 3"/>
          <p:cNvSpPr>
            <a:spLocks noGrp="1"/>
          </p:cNvSpPr>
          <p:nvPr>
            <p:ph type="ftr" sz="quarter" idx="11"/>
          </p:nvPr>
        </p:nvSpPr>
        <p:spPr>
          <a:xfrm>
            <a:off x="3124200" y="6245225"/>
            <a:ext cx="2895600" cy="476250"/>
          </a:xfrm>
          <a:prstGeom prst="rect">
            <a:avLst/>
          </a:prstGeom>
        </p:spPr>
        <p:txBody>
          <a:bodyPr/>
          <a:lstStyle>
            <a:lvl1pPr>
              <a:defRPr/>
            </a:lvl1pPr>
          </a:lstStyle>
          <a:p>
            <a:r>
              <a:rPr lang="en-US"/>
              <a:t>B. Tech. Progress seminar </a:t>
            </a:r>
          </a:p>
        </p:txBody>
      </p:sp>
      <p:sp>
        <p:nvSpPr>
          <p:cNvPr id="5" name="Slide Number Placeholder 4"/>
          <p:cNvSpPr>
            <a:spLocks noGrp="1"/>
          </p:cNvSpPr>
          <p:nvPr>
            <p:ph type="sldNum" sz="quarter" idx="12"/>
          </p:nvPr>
        </p:nvSpPr>
        <p:spPr>
          <a:xfrm>
            <a:off x="6553200" y="6245225"/>
            <a:ext cx="2133600" cy="476250"/>
          </a:xfrm>
          <a:prstGeom prst="rect">
            <a:avLst/>
          </a:prstGeom>
        </p:spPr>
        <p:txBody>
          <a:bodyPr/>
          <a:lstStyle>
            <a:lvl1pPr>
              <a:defRPr/>
            </a:lvl1pPr>
          </a:lstStyle>
          <a:p>
            <a:fld id="{E3F582E7-5946-46E8-90FE-86F4A45DA68F}" type="slidenum">
              <a:rPr lang="en-US"/>
              <a:pPr/>
              <a:t>‹#›</a:t>
            </a:fld>
            <a:endParaRPr lang="en-US"/>
          </a:p>
        </p:txBody>
      </p:sp>
    </p:spTree>
    <p:extLst>
      <p:ext uri="{BB962C8B-B14F-4D97-AF65-F5344CB8AC3E}">
        <p14:creationId xmlns:p14="http://schemas.microsoft.com/office/powerpoint/2010/main" val="1314025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6D7446A-6977-4978-93BF-76E1E9025FD5}" type="datetime1">
              <a:rPr lang="en-IN" smtClean="0"/>
              <a:t>08-05-2026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smtClean="0"/>
              <a:t>B. Tech. Progress seminar </a:t>
            </a:r>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76886680"/>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Lst>
  <p:hf hd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microsoft.com/office/2007/relationships/hdphoto" Target="../media/hdphoto3.wdp"/><Relationship Id="rId7" Type="http://schemas.microsoft.com/office/2007/relationships/hdphoto" Target="../media/hdphoto5.wdp"/><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0.png"/><Relationship Id="rId5" Type="http://schemas.microsoft.com/office/2007/relationships/hdphoto" Target="../media/hdphoto4.wdp"/><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jpeg"/><Relationship Id="rId7" Type="http://schemas.microsoft.com/office/2007/relationships/hdphoto" Target="../media/hdphoto7.wdp"/><Relationship Id="rId2" Type="http://schemas.openxmlformats.org/officeDocument/2006/relationships/image" Target="../media/image13.png"/><Relationship Id="rId1" Type="http://schemas.openxmlformats.org/officeDocument/2006/relationships/slideLayout" Target="../slideLayouts/slideLayout17.xml"/><Relationship Id="rId6" Type="http://schemas.openxmlformats.org/officeDocument/2006/relationships/image" Target="../media/image16.png"/><Relationship Id="rId5" Type="http://schemas.microsoft.com/office/2007/relationships/hdphoto" Target="../media/hdphoto6.wdp"/><Relationship Id="rId4" Type="http://schemas.openxmlformats.org/officeDocument/2006/relationships/image" Target="../media/image15.png"/><Relationship Id="rId9" Type="http://schemas.microsoft.com/office/2007/relationships/hdphoto" Target="../media/hdphoto8.wdp"/></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13" Type="http://schemas.microsoft.com/office/2007/relationships/hdphoto" Target="../media/hdphoto14.wdp"/><Relationship Id="rId18" Type="http://schemas.openxmlformats.org/officeDocument/2006/relationships/image" Target="../media/image26.png"/><Relationship Id="rId3" Type="http://schemas.microsoft.com/office/2007/relationships/hdphoto" Target="../media/hdphoto9.wdp"/><Relationship Id="rId21" Type="http://schemas.microsoft.com/office/2007/relationships/hdphoto" Target="../media/hdphoto18.wdp"/><Relationship Id="rId7" Type="http://schemas.microsoft.com/office/2007/relationships/hdphoto" Target="../media/hdphoto11.wdp"/><Relationship Id="rId12" Type="http://schemas.openxmlformats.org/officeDocument/2006/relationships/image" Target="../media/image23.png"/><Relationship Id="rId17" Type="http://schemas.microsoft.com/office/2007/relationships/hdphoto" Target="../media/hdphoto16.wdp"/><Relationship Id="rId2" Type="http://schemas.openxmlformats.org/officeDocument/2006/relationships/image" Target="../media/image18.png"/><Relationship Id="rId16" Type="http://schemas.openxmlformats.org/officeDocument/2006/relationships/image" Target="../media/image25.png"/><Relationship Id="rId20"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20.png"/><Relationship Id="rId11" Type="http://schemas.microsoft.com/office/2007/relationships/hdphoto" Target="../media/hdphoto13.wdp"/><Relationship Id="rId5" Type="http://schemas.microsoft.com/office/2007/relationships/hdphoto" Target="../media/hdphoto10.wdp"/><Relationship Id="rId15" Type="http://schemas.microsoft.com/office/2007/relationships/hdphoto" Target="../media/hdphoto15.wdp"/><Relationship Id="rId10" Type="http://schemas.openxmlformats.org/officeDocument/2006/relationships/image" Target="../media/image22.png"/><Relationship Id="rId19" Type="http://schemas.microsoft.com/office/2007/relationships/hdphoto" Target="../media/hdphoto17.wdp"/><Relationship Id="rId4" Type="http://schemas.openxmlformats.org/officeDocument/2006/relationships/image" Target="../media/image19.png"/><Relationship Id="rId9" Type="http://schemas.microsoft.com/office/2007/relationships/hdphoto" Target="../media/hdphoto12.wdp"/><Relationship Id="rId1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microsoft.com/office/2007/relationships/hdphoto" Target="../media/hdphoto20.wdp"/><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microsoft.com/office/2007/relationships/hdphoto" Target="../media/hdphoto21.wdp"/><Relationship Id="rId7" Type="http://schemas.microsoft.com/office/2007/relationships/hdphoto" Target="../media/hdphoto23.wdp"/><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5.png"/><Relationship Id="rId5" Type="http://schemas.microsoft.com/office/2007/relationships/hdphoto" Target="../media/hdphoto22.wdp"/><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microsoft.com/office/2007/relationships/hdphoto" Target="../media/hdphoto24.wdp"/><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microsoft.com/office/2007/relationships/hdphoto" Target="../media/hdphoto25.wdp"/><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microsoft.com/office/2007/relationships/hdphoto" Target="../media/hdphoto26.wdp"/><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microsoft.com/office/2007/relationships/hdphoto" Target="../media/hdphoto26.wdp"/><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5029200"/>
            <a:ext cx="8697310" cy="838200"/>
          </a:xfrm>
        </p:spPr>
        <p:txBody>
          <a:bodyPr>
            <a:normAutofit fontScale="90000"/>
          </a:bodyPr>
          <a:lstStyle/>
          <a:p>
            <a:pPr lvl="0">
              <a:spcBef>
                <a:spcPts val="0"/>
              </a:spcBef>
            </a:pPr>
            <a:r>
              <a:rPr lang="en-US" sz="2000" b="1" dirty="0">
                <a:latin typeface="Times New Roman" panose="02020603050405020304" pitchFamily="18" charset="0"/>
                <a:cs typeface="Times New Roman" panose="02020603050405020304" pitchFamily="18" charset="0"/>
              </a:rPr>
              <a:t>May - 2026</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Department of Mechanical Engineering</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Visvesvaraya National Institute of Technology Nagpur</a:t>
            </a:r>
          </a:p>
        </p:txBody>
      </p:sp>
      <p:sp>
        <p:nvSpPr>
          <p:cNvPr id="3" name="Content Placeholder 2"/>
          <p:cNvSpPr>
            <a:spLocks noGrp="1"/>
          </p:cNvSpPr>
          <p:nvPr>
            <p:ph idx="1"/>
          </p:nvPr>
        </p:nvSpPr>
        <p:spPr>
          <a:xfrm>
            <a:off x="467710" y="213377"/>
            <a:ext cx="8229600" cy="609600"/>
          </a:xfrm>
        </p:spPr>
        <p:txBody>
          <a:bodyPr/>
          <a:lstStyle/>
          <a:p>
            <a:pPr marL="0" lvl="0" indent="0" algn="ctr">
              <a:spcBef>
                <a:spcPts val="0"/>
              </a:spcBef>
              <a:buNone/>
            </a:pPr>
            <a:r>
              <a:rPr lang="en-US" sz="2800" b="1" dirty="0">
                <a:latin typeface="Times New Roman" panose="02020603050405020304" pitchFamily="18" charset="0"/>
                <a:cs typeface="Times New Roman" panose="02020603050405020304" pitchFamily="18" charset="0"/>
              </a:rPr>
              <a:t>Project Phase 2 : Seminar 3</a:t>
            </a:r>
          </a:p>
          <a:p>
            <a:endParaRPr lang="en-US" dirty="0">
              <a:latin typeface="Times New Roman" panose="02020603050405020304" pitchFamily="18" charset="0"/>
              <a:cs typeface="Times New Roman" panose="02020603050405020304" pitchFamily="18" charset="0"/>
            </a:endParaRPr>
          </a:p>
        </p:txBody>
      </p:sp>
      <p:sp>
        <p:nvSpPr>
          <p:cNvPr id="13" name="Date Placeholder 12"/>
          <p:cNvSpPr>
            <a:spLocks noGrp="1"/>
          </p:cNvSpPr>
          <p:nvPr>
            <p:ph type="dt" sz="half" idx="10"/>
          </p:nvPr>
        </p:nvSpPr>
        <p:spPr/>
        <p:txBody>
          <a:bodyPr/>
          <a:lstStyle/>
          <a:p>
            <a:fld id="{1B5889DF-CF5B-497C-A517-4F023D8C1F17}" type="datetime1">
              <a:rPr lang="en-IN" smtClean="0">
                <a:latin typeface="Times New Roman" panose="02020603050405020304" pitchFamily="18" charset="0"/>
                <a:cs typeface="Times New Roman" panose="02020603050405020304" pitchFamily="18" charset="0"/>
              </a:rPr>
              <a:t>08-05-2026</a:t>
            </a:fld>
            <a:endParaRPr lang="en-US" dirty="0">
              <a:latin typeface="Times New Roman" panose="02020603050405020304" pitchFamily="18" charset="0"/>
              <a:cs typeface="Times New Roman" panose="02020603050405020304" pitchFamily="18" charset="0"/>
            </a:endParaRPr>
          </a:p>
        </p:txBody>
      </p:sp>
      <p:sp>
        <p:nvSpPr>
          <p:cNvPr id="15" name="Footer Placeholder 14"/>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16" name="Slide Number Placeholder 1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a:t>
            </a:fld>
            <a:endParaRPr lang="en-US">
              <a:latin typeface="Times New Roman" panose="02020603050405020304" pitchFamily="18" charset="0"/>
              <a:cs typeface="Times New Roman" panose="02020603050405020304" pitchFamily="18" charset="0"/>
            </a:endParaRPr>
          </a:p>
        </p:txBody>
      </p:sp>
      <p:sp>
        <p:nvSpPr>
          <p:cNvPr id="9" name="TextBox 8"/>
          <p:cNvSpPr txBox="1"/>
          <p:nvPr/>
        </p:nvSpPr>
        <p:spPr>
          <a:xfrm>
            <a:off x="827762" y="823586"/>
            <a:ext cx="7239000" cy="1384995"/>
          </a:xfrm>
          <a:prstGeom prst="rect">
            <a:avLst/>
          </a:prstGeom>
          <a:noFill/>
        </p:spPr>
        <p:txBody>
          <a:bodyPr wrap="square" lIns="91440" tIns="45720" rIns="91440" bIns="45720" rtlCol="0" anchor="t">
            <a:spAutoFit/>
          </a:bodyPr>
          <a:lstStyle/>
          <a:p>
            <a:pPr algn="ctr"/>
            <a:r>
              <a:rPr lang="en-US" sz="2800" b="1" dirty="0">
                <a:latin typeface="Times New Roman" panose="02020603050405020304" pitchFamily="18" charset="0"/>
                <a:ea typeface="+mn-lt"/>
                <a:cs typeface="Times New Roman" panose="02020603050405020304" pitchFamily="18" charset="0"/>
              </a:rPr>
              <a:t>Biomechanical Comparison of Implants for Intertrochanteric Fracture Fixation Using Stress Analysis</a:t>
            </a:r>
            <a:endParaRPr lang="en-US" sz="2800" b="1" dirty="0">
              <a:latin typeface="Times New Roman" panose="02020603050405020304" pitchFamily="18" charset="0"/>
              <a:ea typeface="Calibri"/>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486789916"/>
              </p:ext>
            </p:extLst>
          </p:nvPr>
        </p:nvGraphicFramePr>
        <p:xfrm>
          <a:off x="543910" y="3948303"/>
          <a:ext cx="4038600" cy="838301"/>
        </p:xfrm>
        <a:graphic>
          <a:graphicData uri="http://schemas.openxmlformats.org/drawingml/2006/table">
            <a:tbl>
              <a:tblPr firstRow="1" firstCol="1" bandRow="1"/>
              <a:tblGrid>
                <a:gridCol w="2019300">
                  <a:extLst>
                    <a:ext uri="{9D8B030D-6E8A-4147-A177-3AD203B41FA5}">
                      <a16:colId xmlns:a16="http://schemas.microsoft.com/office/drawing/2014/main" val="2026124778"/>
                    </a:ext>
                  </a:extLst>
                </a:gridCol>
                <a:gridCol w="2019300">
                  <a:extLst>
                    <a:ext uri="{9D8B030D-6E8A-4147-A177-3AD203B41FA5}">
                      <a16:colId xmlns:a16="http://schemas.microsoft.com/office/drawing/2014/main" val="2825750669"/>
                    </a:ext>
                  </a:extLst>
                </a:gridCol>
              </a:tblGrid>
              <a:tr h="279400">
                <a:tc>
                  <a:txBody>
                    <a:bodyPr/>
                    <a:lstStyle/>
                    <a:p>
                      <a:pPr>
                        <a:lnSpc>
                          <a:spcPct val="107000"/>
                        </a:lnSpc>
                        <a:spcAft>
                          <a:spcPts val="0"/>
                        </a:spcAft>
                      </a:pPr>
                      <a:r>
                        <a:rPr lang="en-IN" sz="1800">
                          <a:effectLst/>
                          <a:latin typeface="Calibri" panose="020F0502020204030204" pitchFamily="34" charset="0"/>
                          <a:ea typeface="Calibri" panose="020F0502020204030204" pitchFamily="34" charset="0"/>
                          <a:cs typeface="Times New Roman" panose="02020603050405020304" pitchFamily="18" charset="0"/>
                        </a:rPr>
                        <a:t> Name of Student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IN" sz="1800">
                          <a:effectLst/>
                          <a:latin typeface="Calibri" panose="020F0502020204030204" pitchFamily="34" charset="0"/>
                          <a:ea typeface="Calibri" panose="020F0502020204030204" pitchFamily="34" charset="0"/>
                          <a:cs typeface="Times New Roman" panose="02020603050405020304" pitchFamily="18" charset="0"/>
                        </a:rPr>
                        <a:t>Enrolment No.</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9105131"/>
                  </a:ext>
                </a:extLst>
              </a:tr>
              <a:tr h="279400">
                <a:tc>
                  <a:txBody>
                    <a:bodyPr/>
                    <a:lstStyle/>
                    <a:p>
                      <a:pPr>
                        <a:lnSpc>
                          <a:spcPct val="107000"/>
                        </a:lnSpc>
                        <a:spcAft>
                          <a:spcPts val="0"/>
                        </a:spcAft>
                      </a:pPr>
                      <a:r>
                        <a:rPr lang="en-IN" sz="1600">
                          <a:effectLst/>
                          <a:latin typeface="Calibri" panose="020F0502020204030204" pitchFamily="34" charset="0"/>
                          <a:ea typeface="Calibri" panose="020F0502020204030204" pitchFamily="34" charset="0"/>
                          <a:cs typeface="Times New Roman" panose="02020603050405020304" pitchFamily="18" charset="0"/>
                        </a:rPr>
                        <a:t> Aditi Verma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IN" sz="1600">
                          <a:effectLst/>
                          <a:latin typeface="Calibri" panose="020F0502020204030204" pitchFamily="34" charset="0"/>
                          <a:ea typeface="Calibri" panose="020F0502020204030204" pitchFamily="34" charset="0"/>
                          <a:cs typeface="Times New Roman" panose="02020603050405020304" pitchFamily="18" charset="0"/>
                        </a:rPr>
                        <a:t> BT22MEC002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9121520"/>
                  </a:ext>
                </a:extLst>
              </a:tr>
              <a:tr h="265404">
                <a:tc>
                  <a:txBody>
                    <a:bodyPr/>
                    <a:lstStyle/>
                    <a:p>
                      <a:pPr>
                        <a:lnSpc>
                          <a:spcPct val="107000"/>
                        </a:lnSpc>
                        <a:spcAft>
                          <a:spcPts val="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 </a:t>
                      </a:r>
                      <a:r>
                        <a:rPr lang="en-IN" sz="1600" dirty="0" err="1">
                          <a:effectLst/>
                          <a:latin typeface="Calibri" panose="020F0502020204030204" pitchFamily="34" charset="0"/>
                          <a:ea typeface="Calibri" panose="020F0502020204030204" pitchFamily="34" charset="0"/>
                          <a:cs typeface="Times New Roman" panose="02020603050405020304" pitchFamily="18" charset="0"/>
                        </a:rPr>
                        <a:t>Sanskriti</a:t>
                      </a:r>
                      <a:r>
                        <a:rPr lang="en-IN" sz="1600" dirty="0">
                          <a:effectLst/>
                          <a:latin typeface="Calibri" panose="020F0502020204030204" pitchFamily="34" charset="0"/>
                          <a:ea typeface="Calibri" panose="020F0502020204030204" pitchFamily="34" charset="0"/>
                          <a:cs typeface="Times New Roman" panose="02020603050405020304" pitchFamily="18" charset="0"/>
                        </a:rPr>
                        <a:t> </a:t>
                      </a:r>
                      <a:r>
                        <a:rPr lang="en-IN" sz="1600" dirty="0" err="1">
                          <a:effectLst/>
                          <a:latin typeface="Calibri" panose="020F0502020204030204" pitchFamily="34" charset="0"/>
                          <a:ea typeface="Calibri" panose="020F0502020204030204" pitchFamily="34" charset="0"/>
                          <a:cs typeface="Times New Roman" panose="02020603050405020304" pitchFamily="18" charset="0"/>
                        </a:rPr>
                        <a:t>Rathore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0"/>
                        </a:spcAft>
                      </a:pPr>
                      <a:r>
                        <a:rPr lang="en-IN" sz="1600" dirty="0">
                          <a:effectLst/>
                          <a:latin typeface="Calibri" panose="020F0502020204030204" pitchFamily="34" charset="0"/>
                          <a:ea typeface="Calibri" panose="020F0502020204030204" pitchFamily="34" charset="0"/>
                          <a:cs typeface="Times New Roman" panose="02020603050405020304" pitchFamily="18" charset="0"/>
                        </a:rPr>
                        <a:t> BT22MEC010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8990919"/>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909170882"/>
              </p:ext>
            </p:extLst>
          </p:nvPr>
        </p:nvGraphicFramePr>
        <p:xfrm>
          <a:off x="5867400" y="3900502"/>
          <a:ext cx="2667000" cy="865436"/>
        </p:xfrm>
        <a:graphic>
          <a:graphicData uri="http://schemas.openxmlformats.org/drawingml/2006/table">
            <a:tbl>
              <a:tblPr firstRow="1" firstCol="1" bandRow="1"/>
              <a:tblGrid>
                <a:gridCol w="2667000">
                  <a:extLst>
                    <a:ext uri="{9D8B030D-6E8A-4147-A177-3AD203B41FA5}">
                      <a16:colId xmlns:a16="http://schemas.microsoft.com/office/drawing/2014/main" val="3023581574"/>
                    </a:ext>
                  </a:extLst>
                </a:gridCol>
              </a:tblGrid>
              <a:tr h="432718">
                <a:tc>
                  <a:txBody>
                    <a:bodyPr/>
                    <a:lstStyle/>
                    <a:p>
                      <a:pPr>
                        <a:lnSpc>
                          <a:spcPct val="107000"/>
                        </a:lnSpc>
                        <a:spcAft>
                          <a:spcPts val="0"/>
                        </a:spcAft>
                      </a:pPr>
                      <a:r>
                        <a:rPr lang="en-IN" sz="1100">
                          <a:effectLst/>
                          <a:latin typeface="Calibri" panose="020F0502020204030204" pitchFamily="34" charset="0"/>
                          <a:ea typeface="Calibri" panose="020F0502020204030204" pitchFamily="34" charset="0"/>
                          <a:cs typeface="Times New Roman" panose="02020603050405020304" pitchFamily="18" charset="0"/>
                        </a:rPr>
                        <a:t>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Name of Guide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1149714"/>
                  </a:ext>
                </a:extLst>
              </a:tr>
              <a:tr h="432718">
                <a:tc>
                  <a:txBody>
                    <a:bodyPr/>
                    <a:lstStyle/>
                    <a:p>
                      <a:pPr>
                        <a:lnSpc>
                          <a:spcPct val="107000"/>
                        </a:lnSpc>
                        <a:spcAft>
                          <a:spcPts val="0"/>
                        </a:spcAft>
                      </a:pPr>
                      <a:r>
                        <a:rPr lang="en-IN" sz="1100">
                          <a:effectLst/>
                          <a:latin typeface="Calibri"/>
                          <a:ea typeface="Calibri"/>
                          <a:cs typeface="Times New Roman"/>
                        </a:rPr>
                        <a:t> </a:t>
                      </a:r>
                      <a:r>
                        <a:rPr lang="en-IN" sz="1800">
                          <a:effectLst/>
                          <a:latin typeface="Calibri"/>
                          <a:ea typeface="Calibri"/>
                          <a:cs typeface="Times New Roman"/>
                        </a:rPr>
                        <a:t>Dr.</a:t>
                      </a:r>
                      <a:r>
                        <a:rPr lang="en-IN" sz="1800" baseline="0">
                          <a:effectLst/>
                          <a:latin typeface="Calibri"/>
                          <a:ea typeface="Calibri"/>
                          <a:cs typeface="Times New Roman"/>
                        </a:rPr>
                        <a:t> </a:t>
                      </a:r>
                      <a:r>
                        <a:rPr lang="en-IN" sz="1800" baseline="0" err="1">
                          <a:effectLst/>
                          <a:latin typeface="Calibri"/>
                          <a:ea typeface="Calibri"/>
                          <a:cs typeface="Times New Roman"/>
                        </a:rPr>
                        <a:t>Rashmi</a:t>
                      </a:r>
                      <a:r>
                        <a:rPr lang="en-IN" sz="1800" baseline="0">
                          <a:effectLst/>
                          <a:latin typeface="Calibri"/>
                          <a:ea typeface="Calibri"/>
                          <a:cs typeface="Times New Roman"/>
                        </a:rPr>
                        <a:t> </a:t>
                      </a:r>
                      <a:r>
                        <a:rPr lang="en-IN" sz="1800" baseline="0" err="1">
                          <a:effectLst/>
                          <a:latin typeface="Calibri"/>
                          <a:ea typeface="Calibri"/>
                          <a:cs typeface="Times New Roman"/>
                        </a:rPr>
                        <a:t>Uddanwadikar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3233233"/>
                  </a:ext>
                </a:extLst>
              </a:tr>
            </a:tbl>
          </a:graphicData>
        </a:graphic>
      </p:graphicFrame>
      <p:pic>
        <p:nvPicPr>
          <p:cNvPr id="14" name="Picture 13"/>
          <p:cNvPicPr/>
          <p:nvPr/>
        </p:nvPicPr>
        <p:blipFill>
          <a:blip r:embed="rId2"/>
          <a:srcRect/>
          <a:stretch>
            <a:fillRect/>
          </a:stretch>
        </p:blipFill>
        <p:spPr bwMode="auto">
          <a:xfrm>
            <a:off x="3953860" y="2209800"/>
            <a:ext cx="1257300" cy="1375192"/>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0" y="6477000"/>
            <a:ext cx="914400" cy="381000"/>
          </a:xfrm>
          <a:prstGeom prst="rect">
            <a:avLst/>
          </a:prstGeom>
          <a:noFill/>
        </p:spPr>
        <p:txBody>
          <a:bodyPr wrap="square" rtlCol="0">
            <a:spAutoFit/>
          </a:bodyPr>
          <a:lstStyle/>
          <a:p>
            <a:r>
              <a:rPr lang="en-US" b="1">
                <a:solidFill>
                  <a:schemeClr val="bg1"/>
                </a:solidFill>
                <a:latin typeface="Times New Roman" panose="02020603050405020304" pitchFamily="18" charset="0"/>
                <a:cs typeface="Times New Roman" panose="02020603050405020304" pitchFamily="18" charset="0"/>
              </a:rPr>
              <a:t>2  / 10</a:t>
            </a:r>
          </a:p>
        </p:txBody>
      </p:sp>
      <p:sp>
        <p:nvSpPr>
          <p:cNvPr id="5" name="Date Placeholder 4"/>
          <p:cNvSpPr>
            <a:spLocks noGrp="1"/>
          </p:cNvSpPr>
          <p:nvPr>
            <p:ph type="dt" sz="half" idx="10"/>
          </p:nvPr>
        </p:nvSpPr>
        <p:spPr/>
        <p:txBody>
          <a:bodyPr/>
          <a:lstStyle/>
          <a:p>
            <a:fld id="{529F6B9A-C0F0-4286-8851-0B3E98B8848C}"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7" name="Footer Placeholder 6"/>
          <p:cNvSpPr>
            <a:spLocks noGrp="1"/>
          </p:cNvSpPr>
          <p:nvPr>
            <p:ph type="ftr" sz="quarter" idx="11"/>
          </p:nvPr>
        </p:nvSpPr>
        <p:spPr/>
        <p:txBody>
          <a:bodyPr/>
          <a:lstStyle/>
          <a:p>
            <a:r>
              <a:rPr lang="en-US" b="1">
                <a:latin typeface="Times New Roman" panose="02020603050405020304" pitchFamily="18" charset="0"/>
                <a:cs typeface="Times New Roman" panose="02020603050405020304" pitchFamily="18" charset="0"/>
              </a:rPr>
              <a:t>B. Tech. Progress seminar </a:t>
            </a: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a:t>
            </a:fld>
            <a:endParaRPr lang="en-US">
              <a:latin typeface="Times New Roman" panose="02020603050405020304" pitchFamily="18" charset="0"/>
              <a:cs typeface="Times New Roman" panose="02020603050405020304" pitchFamily="18" charset="0"/>
            </a:endParaRPr>
          </a:p>
        </p:txBody>
      </p:sp>
      <p:sp>
        <p:nvSpPr>
          <p:cNvPr id="12" name="Title 4"/>
          <p:cNvSpPr txBox="1">
            <a:spLocks/>
          </p:cNvSpPr>
          <p:nvPr/>
        </p:nvSpPr>
        <p:spPr>
          <a:xfrm>
            <a:off x="438807" y="304800"/>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ea typeface="Calibri"/>
                <a:cs typeface="Times New Roman" panose="02020603050405020304" pitchFamily="18" charset="0"/>
              </a:rPr>
              <a:t>Acknowledgement</a:t>
            </a:r>
            <a:endParaRPr lang="en-US" sz="3200" b="0" i="0" u="none" strike="noStrike" kern="1200" cap="none" spc="0" normalizeH="0" baseline="0" noProof="0" dirty="0">
              <a:ln>
                <a:noFill/>
              </a:ln>
              <a:solidFill>
                <a:schemeClr val="lt1"/>
              </a:solidFill>
              <a:effectLst/>
              <a:uLnTx/>
              <a:uFillTx/>
              <a:latin typeface="Times New Roman" panose="02020603050405020304" pitchFamily="18" charset="0"/>
              <a:ea typeface="Calibri"/>
              <a:cs typeface="Times New Roman" panose="02020603050405020304" pitchFamily="18" charset="0"/>
            </a:endParaRPr>
          </a:p>
        </p:txBody>
      </p:sp>
      <p:sp>
        <p:nvSpPr>
          <p:cNvPr id="2" name="TextBox 1">
            <a:extLst>
              <a:ext uri="{FF2B5EF4-FFF2-40B4-BE49-F238E27FC236}">
                <a16:creationId xmlns:a16="http://schemas.microsoft.com/office/drawing/2014/main" id="{28B605E3-9CAF-4FB4-3D53-44924C8951D5}"/>
              </a:ext>
            </a:extLst>
          </p:cNvPr>
          <p:cNvSpPr txBox="1"/>
          <p:nvPr/>
        </p:nvSpPr>
        <p:spPr>
          <a:xfrm>
            <a:off x="473103" y="1513257"/>
            <a:ext cx="5690762"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panose="02020603050405020304" pitchFamily="18" charset="0"/>
                <a:ea typeface="+mn-lt"/>
                <a:cs typeface="Times New Roman" panose="02020603050405020304" pitchFamily="18" charset="0"/>
              </a:rPr>
              <a:t>We would like to express our sincere gratitude to </a:t>
            </a:r>
            <a:r>
              <a:rPr lang="en-US" sz="2000" b="1" dirty="0">
                <a:latin typeface="Times New Roman" panose="02020603050405020304" pitchFamily="18" charset="0"/>
                <a:ea typeface="+mn-lt"/>
                <a:cs typeface="Times New Roman" panose="02020603050405020304" pitchFamily="18" charset="0"/>
              </a:rPr>
              <a:t>Dr. </a:t>
            </a:r>
            <a:r>
              <a:rPr lang="en-US" sz="2000" b="1" dirty="0" err="1">
                <a:latin typeface="Times New Roman" panose="02020603050405020304" pitchFamily="18" charset="0"/>
                <a:ea typeface="+mn-lt"/>
                <a:cs typeface="Times New Roman" panose="02020603050405020304" pitchFamily="18" charset="0"/>
              </a:rPr>
              <a:t>Chandak</a:t>
            </a:r>
            <a:r>
              <a:rPr lang="en-US" sz="2000" dirty="0">
                <a:latin typeface="Times New Roman" panose="02020603050405020304" pitchFamily="18" charset="0"/>
                <a:ea typeface="+mn-lt"/>
                <a:cs typeface="Times New Roman" panose="02020603050405020304" pitchFamily="18" charset="0"/>
              </a:rPr>
              <a:t> and </a:t>
            </a:r>
            <a:r>
              <a:rPr lang="en-US" sz="2000" b="1" dirty="0">
                <a:latin typeface="Times New Roman" panose="02020603050405020304" pitchFamily="18" charset="0"/>
                <a:ea typeface="+mn-lt"/>
                <a:cs typeface="Times New Roman" panose="02020603050405020304" pitchFamily="18" charset="0"/>
              </a:rPr>
              <a:t>Dr. </a:t>
            </a:r>
            <a:r>
              <a:rPr lang="en-US" sz="2000" b="1" dirty="0" err="1">
                <a:latin typeface="Times New Roman" panose="02020603050405020304" pitchFamily="18" charset="0"/>
                <a:ea typeface="+mn-lt"/>
                <a:cs typeface="Times New Roman" panose="02020603050405020304" pitchFamily="18" charset="0"/>
              </a:rPr>
              <a:t>Pahukar</a:t>
            </a:r>
            <a:r>
              <a:rPr lang="en-US" sz="2000" dirty="0">
                <a:latin typeface="Times New Roman" panose="02020603050405020304" pitchFamily="18" charset="0"/>
                <a:ea typeface="+mn-lt"/>
                <a:cs typeface="Times New Roman" panose="02020603050405020304" pitchFamily="18" charset="0"/>
              </a:rPr>
              <a:t> for their invaluable guidance and support towards our project, titled "Biomechanical Comparison of Implants for Intertrochanteric Fracture Fixation Using Stress Analysis" </a:t>
            </a:r>
            <a:endParaRPr lang="en-US" sz="2000" dirty="0">
              <a:latin typeface="Times New Roman" panose="02020603050405020304" pitchFamily="18" charset="0"/>
              <a:ea typeface="Calibri"/>
              <a:cs typeface="Times New Roman" panose="02020603050405020304" pitchFamily="18" charset="0"/>
            </a:endParaRPr>
          </a:p>
          <a:p>
            <a:endParaRPr lang="en-US" sz="2000" dirty="0">
              <a:latin typeface="Times New Roman" panose="02020603050405020304" pitchFamily="18" charset="0"/>
              <a:ea typeface="+mn-lt"/>
              <a:cs typeface="Times New Roman" panose="02020603050405020304" pitchFamily="18" charset="0"/>
            </a:endParaRPr>
          </a:p>
          <a:p>
            <a:r>
              <a:rPr lang="en-US" sz="2000" dirty="0">
                <a:latin typeface="Times New Roman" panose="02020603050405020304" pitchFamily="18" charset="0"/>
                <a:ea typeface="+mn-lt"/>
                <a:cs typeface="Times New Roman" panose="02020603050405020304" pitchFamily="18" charset="0"/>
              </a:rPr>
              <a:t>Dr. </a:t>
            </a:r>
            <a:r>
              <a:rPr lang="en-US" sz="2000" dirty="0" err="1">
                <a:latin typeface="Times New Roman" panose="02020603050405020304" pitchFamily="18" charset="0"/>
                <a:ea typeface="+mn-lt"/>
                <a:cs typeface="Times New Roman" panose="02020603050405020304" pitchFamily="18" charset="0"/>
              </a:rPr>
              <a:t>Chandak</a:t>
            </a:r>
            <a:r>
              <a:rPr lang="en-US" sz="2000" dirty="0">
                <a:latin typeface="Times New Roman" panose="02020603050405020304" pitchFamily="18" charset="0"/>
                <a:ea typeface="+mn-lt"/>
                <a:cs typeface="Times New Roman" panose="02020603050405020304" pitchFamily="18" charset="0"/>
              </a:rPr>
              <a:t> and Dr. </a:t>
            </a:r>
            <a:r>
              <a:rPr lang="en-US" sz="2000" dirty="0" err="1">
                <a:latin typeface="Times New Roman" panose="02020603050405020304" pitchFamily="18" charset="0"/>
                <a:ea typeface="+mn-lt"/>
                <a:cs typeface="Times New Roman" panose="02020603050405020304" pitchFamily="18" charset="0"/>
              </a:rPr>
              <a:t>Pahukar's</a:t>
            </a:r>
            <a:r>
              <a:rPr lang="en-US" sz="2000" dirty="0">
                <a:latin typeface="Times New Roman" panose="02020603050405020304" pitchFamily="18" charset="0"/>
                <a:ea typeface="+mn-lt"/>
                <a:cs typeface="Times New Roman" panose="02020603050405020304" pitchFamily="18" charset="0"/>
              </a:rPr>
              <a:t> expertise in the field and their insightful ideas provided the foundation for this research. We are especially thankful for the data and resources they provided, which were essential for this project.</a:t>
            </a:r>
            <a:endParaRPr lang="en-US" sz="2000" dirty="0">
              <a:latin typeface="Times New Roman" panose="02020603050405020304" pitchFamily="18" charset="0"/>
              <a:ea typeface="Calibri"/>
              <a:cs typeface="Times New Roman" panose="02020603050405020304" pitchFamily="18" charset="0"/>
            </a:endParaRPr>
          </a:p>
          <a:p>
            <a:pPr algn="l"/>
            <a:endParaRPr lang="en-US" sz="2000" dirty="0">
              <a:latin typeface="Times New Roman" panose="02020603050405020304" pitchFamily="18" charset="0"/>
              <a:ea typeface="Calibri"/>
              <a:cs typeface="Times New Roman" panose="02020603050405020304" pitchFamily="18" charset="0"/>
            </a:endParaRPr>
          </a:p>
        </p:txBody>
      </p:sp>
      <p:pic>
        <p:nvPicPr>
          <p:cNvPr id="4" name="Picture 3" descr="RAJENDRA CHANDAK - Managing Director and Senior Orthopaedic Consultant at  CHANDAK NURSING HOME | LinkedIn">
            <a:extLst>
              <a:ext uri="{FF2B5EF4-FFF2-40B4-BE49-F238E27FC236}">
                <a16:creationId xmlns:a16="http://schemas.microsoft.com/office/drawing/2014/main" id="{5C2236BF-3003-422A-07C3-6077957389BB}"/>
              </a:ext>
            </a:extLst>
          </p:cNvPr>
          <p:cNvPicPr>
            <a:picLocks noChangeAspect="1"/>
          </p:cNvPicPr>
          <p:nvPr/>
        </p:nvPicPr>
        <p:blipFill>
          <a:blip r:embed="rId2"/>
          <a:stretch>
            <a:fillRect/>
          </a:stretch>
        </p:blipFill>
        <p:spPr>
          <a:xfrm>
            <a:off x="6369525" y="1516170"/>
            <a:ext cx="2202975" cy="2202975"/>
          </a:xfrm>
          <a:prstGeom prst="rect">
            <a:avLst/>
          </a:prstGeom>
        </p:spPr>
      </p:pic>
      <p:pic>
        <p:nvPicPr>
          <p:cNvPr id="9" name="Picture 8" descr="Dr. Manoj Pahukar - Orthopaedics &amp; Joint Replacement, Book Online  Appointment, Video Consultation, Check OPD Timings, View Fees | Max Hospital">
            <a:extLst>
              <a:ext uri="{FF2B5EF4-FFF2-40B4-BE49-F238E27FC236}">
                <a16:creationId xmlns:a16="http://schemas.microsoft.com/office/drawing/2014/main" id="{C7E9F522-B8B9-55CB-F270-FADA0A07423E}"/>
              </a:ext>
            </a:extLst>
          </p:cNvPr>
          <p:cNvPicPr>
            <a:picLocks noChangeAspect="1"/>
          </p:cNvPicPr>
          <p:nvPr/>
        </p:nvPicPr>
        <p:blipFill>
          <a:blip r:embed="rId3"/>
          <a:stretch>
            <a:fillRect/>
          </a:stretch>
        </p:blipFill>
        <p:spPr>
          <a:xfrm>
            <a:off x="6391229" y="3947746"/>
            <a:ext cx="2093549" cy="2093549"/>
          </a:xfrm>
          <a:prstGeom prst="rect">
            <a:avLst/>
          </a:prstGeom>
        </p:spPr>
      </p:pic>
    </p:spTree>
    <p:extLst>
      <p:ext uri="{BB962C8B-B14F-4D97-AF65-F5344CB8AC3E}">
        <p14:creationId xmlns:p14="http://schemas.microsoft.com/office/powerpoint/2010/main" val="3194367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27258-81C6-1F76-BE37-C1D086DA3B8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4077B7-CF9E-8C05-EB60-85E496885AFC}"/>
              </a:ext>
            </a:extLst>
          </p:cNvPr>
          <p:cNvSpPr>
            <a:spLocks noGrp="1"/>
          </p:cNvSpPr>
          <p:nvPr>
            <p:ph idx="1"/>
          </p:nvPr>
        </p:nvSpPr>
        <p:spPr>
          <a:xfrm>
            <a:off x="517634" y="1255576"/>
            <a:ext cx="8229600" cy="4525963"/>
          </a:xfrm>
        </p:spPr>
        <p:txBody>
          <a:bodyPr>
            <a:normAutofit/>
          </a:bodyPr>
          <a:lstStyle/>
          <a:p>
            <a:r>
              <a:rPr lang="en-US" sz="2800" dirty="0">
                <a:latin typeface="Times New Roman" panose="02020603050405020304" pitchFamily="18" charset="0"/>
                <a:cs typeface="Times New Roman" panose="02020603050405020304" pitchFamily="18" charset="0"/>
              </a:rPr>
              <a:t>Introduction</a:t>
            </a:r>
          </a:p>
          <a:p>
            <a:r>
              <a:rPr lang="en-US" sz="2800" dirty="0">
                <a:latin typeface="Times New Roman" panose="02020603050405020304" pitchFamily="18" charset="0"/>
                <a:cs typeface="Times New Roman" panose="02020603050405020304" pitchFamily="18" charset="0"/>
              </a:rPr>
              <a:t>Objectives of Project</a:t>
            </a:r>
          </a:p>
          <a:p>
            <a:r>
              <a:rPr lang="en-US" sz="2800" dirty="0">
                <a:latin typeface="Times New Roman" panose="02020603050405020304" pitchFamily="18" charset="0"/>
                <a:cs typeface="Times New Roman" panose="02020603050405020304" pitchFamily="18" charset="0"/>
              </a:rPr>
              <a:t>Outcomes of Literature Survey</a:t>
            </a:r>
          </a:p>
          <a:p>
            <a:r>
              <a:rPr lang="en-US" sz="2800" dirty="0">
                <a:latin typeface="Times New Roman" panose="02020603050405020304" pitchFamily="18" charset="0"/>
                <a:cs typeface="Times New Roman" panose="02020603050405020304" pitchFamily="18" charset="0"/>
              </a:rPr>
              <a:t>Modelling</a:t>
            </a:r>
          </a:p>
          <a:p>
            <a:r>
              <a:rPr lang="en-US" sz="2800" dirty="0">
                <a:latin typeface="Times New Roman" panose="02020603050405020304" pitchFamily="18" charset="0"/>
                <a:cs typeface="Times New Roman" panose="02020603050405020304" pitchFamily="18" charset="0"/>
              </a:rPr>
              <a:t>Analysis</a:t>
            </a:r>
          </a:p>
          <a:p>
            <a:r>
              <a:rPr lang="en-US" sz="2800" dirty="0">
                <a:latin typeface="Times New Roman" panose="02020603050405020304" pitchFamily="18" charset="0"/>
                <a:cs typeface="Times New Roman" panose="02020603050405020304" pitchFamily="18" charset="0"/>
              </a:rPr>
              <a:t>Results</a:t>
            </a:r>
          </a:p>
          <a:p>
            <a:r>
              <a:rPr lang="en-US" sz="2800" dirty="0">
                <a:latin typeface="Times New Roman" panose="02020603050405020304" pitchFamily="18" charset="0"/>
                <a:cs typeface="Times New Roman" panose="02020603050405020304" pitchFamily="18" charset="0"/>
              </a:rPr>
              <a:t>Comparison and Conclusion</a:t>
            </a:r>
          </a:p>
          <a:p>
            <a:r>
              <a:rPr lang="en-US" sz="2800" dirty="0">
                <a:latin typeface="Times New Roman" panose="02020603050405020304" pitchFamily="18" charset="0"/>
                <a:cs typeface="Times New Roman" panose="02020603050405020304" pitchFamily="18" charset="0"/>
              </a:rPr>
              <a:t>References</a:t>
            </a:r>
          </a:p>
        </p:txBody>
      </p:sp>
      <p:sp>
        <p:nvSpPr>
          <p:cNvPr id="5" name="Date Placeholder 4">
            <a:extLst>
              <a:ext uri="{FF2B5EF4-FFF2-40B4-BE49-F238E27FC236}">
                <a16:creationId xmlns:a16="http://schemas.microsoft.com/office/drawing/2014/main" id="{D2723FA2-E601-F748-9293-FD36B8724F08}"/>
              </a:ext>
            </a:extLst>
          </p:cNvPr>
          <p:cNvSpPr>
            <a:spLocks noGrp="1"/>
          </p:cNvSpPr>
          <p:nvPr>
            <p:ph type="dt" sz="half" idx="10"/>
          </p:nvPr>
        </p:nvSpPr>
        <p:spPr/>
        <p:txBody>
          <a:bodyPr/>
          <a:lstStyle/>
          <a:p>
            <a:fld id="{529F6B9A-C0F0-4286-8851-0B3E98B8848C}" type="datetime1">
              <a:rPr lang="en-IN" smtClean="0">
                <a:latin typeface="Times New Roman" panose="02020603050405020304" pitchFamily="18" charset="0"/>
                <a:cs typeface="Times New Roman" panose="02020603050405020304" pitchFamily="18" charset="0"/>
              </a:rPr>
              <a:t>08-05-2026</a:t>
            </a:fld>
            <a:endParaRPr lang="en-US" dirty="0">
              <a:latin typeface="Times New Roman" panose="02020603050405020304" pitchFamily="18" charset="0"/>
              <a:cs typeface="Times New Roman" panose="02020603050405020304" pitchFamily="18" charset="0"/>
            </a:endParaRPr>
          </a:p>
        </p:txBody>
      </p:sp>
      <p:sp>
        <p:nvSpPr>
          <p:cNvPr id="7" name="Footer Placeholder 6">
            <a:extLst>
              <a:ext uri="{FF2B5EF4-FFF2-40B4-BE49-F238E27FC236}">
                <a16:creationId xmlns:a16="http://schemas.microsoft.com/office/drawing/2014/main" id="{72A9D214-3732-9A88-957E-788F623DB739}"/>
              </a:ext>
            </a:extLst>
          </p:cNvPr>
          <p:cNvSpPr>
            <a:spLocks noGrp="1"/>
          </p:cNvSpPr>
          <p:nvPr>
            <p:ph type="ftr" sz="quarter" idx="11"/>
          </p:nvPr>
        </p:nvSpPr>
        <p:spPr/>
        <p:txBody>
          <a:bodyPr/>
          <a:lstStyle/>
          <a:p>
            <a:r>
              <a:rPr lang="en-US" b="1">
                <a:latin typeface="Times New Roman" panose="02020603050405020304" pitchFamily="18" charset="0"/>
                <a:cs typeface="Times New Roman" panose="02020603050405020304" pitchFamily="18" charset="0"/>
              </a:rPr>
              <a:t>B. Tech. Progress seminar </a:t>
            </a:r>
          </a:p>
        </p:txBody>
      </p:sp>
      <p:sp>
        <p:nvSpPr>
          <p:cNvPr id="6" name="Slide Number Placeholder 5">
            <a:extLst>
              <a:ext uri="{FF2B5EF4-FFF2-40B4-BE49-F238E27FC236}">
                <a16:creationId xmlns:a16="http://schemas.microsoft.com/office/drawing/2014/main" id="{3788CF0E-F178-757D-CDE0-D02AB4879F7E}"/>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3</a:t>
            </a:fld>
            <a:endParaRPr lang="en-US">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EC534E4-D650-62F1-48F1-E56853B14722}"/>
              </a:ext>
            </a:extLst>
          </p:cNvPr>
          <p:cNvSpPr txBox="1"/>
          <p:nvPr/>
        </p:nvSpPr>
        <p:spPr>
          <a:xfrm>
            <a:off x="0" y="6477000"/>
            <a:ext cx="914400" cy="381000"/>
          </a:xfrm>
          <a:prstGeom prst="rect">
            <a:avLst/>
          </a:prstGeom>
          <a:noFill/>
        </p:spPr>
        <p:txBody>
          <a:bodyPr wrap="square" rtlCol="0">
            <a:spAutoFit/>
          </a:bodyPr>
          <a:lstStyle/>
          <a:p>
            <a:r>
              <a:rPr lang="en-US" b="1">
                <a:solidFill>
                  <a:schemeClr val="bg1"/>
                </a:solidFill>
                <a:latin typeface="Times New Roman" panose="02020603050405020304" pitchFamily="18" charset="0"/>
                <a:cs typeface="Times New Roman" panose="02020603050405020304" pitchFamily="18" charset="0"/>
              </a:rPr>
              <a:t>2  / 10</a:t>
            </a:r>
          </a:p>
        </p:txBody>
      </p:sp>
      <p:sp>
        <p:nvSpPr>
          <p:cNvPr id="12" name="Title 4">
            <a:extLst>
              <a:ext uri="{FF2B5EF4-FFF2-40B4-BE49-F238E27FC236}">
                <a16:creationId xmlns:a16="http://schemas.microsoft.com/office/drawing/2014/main" id="{1EFA617D-AA28-A6CC-4DC8-4F4DF2804AEA}"/>
              </a:ext>
            </a:extLst>
          </p:cNvPr>
          <p:cNvSpPr txBox="1">
            <a:spLocks/>
          </p:cNvSpPr>
          <p:nvPr/>
        </p:nvSpPr>
        <p:spPr>
          <a:xfrm>
            <a:off x="438807" y="304800"/>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a:latin typeface="Times New Roman" panose="02020603050405020304" pitchFamily="18" charset="0"/>
                <a:cs typeface="Times New Roman" panose="02020603050405020304" pitchFamily="18" charset="0"/>
              </a:rPr>
              <a:t>Contents </a:t>
            </a:r>
            <a:endParaRPr kumimoji="0" lang="en-US" sz="3200" b="0" i="0" u="none" strike="noStrike" kern="1200" cap="none" spc="0" normalizeH="0" baseline="0" noProof="0">
              <a:ln>
                <a:noFill/>
              </a:ln>
              <a:solidFill>
                <a:schemeClr val="lt1"/>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0315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4</a:t>
            </a:fld>
            <a:endParaRPr lang="en-US">
              <a:latin typeface="Times New Roman" panose="02020603050405020304" pitchFamily="18" charset="0"/>
              <a:cs typeface="Times New Roman" panose="02020603050405020304" pitchFamily="18" charset="0"/>
            </a:endParaRPr>
          </a:p>
        </p:txBody>
      </p:sp>
      <p:sp>
        <p:nvSpPr>
          <p:cNvPr id="5" name="Title 4"/>
          <p:cNvSpPr txBox="1">
            <a:spLocks/>
          </p:cNvSpPr>
          <p:nvPr/>
        </p:nvSpPr>
        <p:spPr>
          <a:xfrm>
            <a:off x="438807" y="304800"/>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a:latin typeface="Times New Roman" panose="02020603050405020304" pitchFamily="18" charset="0"/>
                <a:cs typeface="Times New Roman" panose="02020603050405020304" pitchFamily="18" charset="0"/>
              </a:rPr>
              <a:t>Introduction </a:t>
            </a:r>
            <a:endParaRPr kumimoji="0" lang="en-US" sz="3200" b="0" i="0" u="none" strike="noStrike" kern="1200" cap="none" spc="0" normalizeH="0" baseline="0" noProof="0">
              <a:ln>
                <a:noFill/>
              </a:ln>
              <a:solidFill>
                <a:schemeClr val="lt1"/>
              </a:solidFill>
              <a:effectLst/>
              <a:uLnTx/>
              <a:uFillTx/>
              <a:latin typeface="Times New Roman" panose="02020603050405020304" pitchFamily="18" charset="0"/>
              <a:cs typeface="Times New Roman" panose="02020603050405020304" pitchFamily="18" charset="0"/>
            </a:endParaRPr>
          </a:p>
        </p:txBody>
      </p:sp>
      <p:pic>
        <p:nvPicPr>
          <p:cNvPr id="7" name="Picture 6" descr="Intertrochanteric vs. Neck of femur Fracture: Know the Difference! – Knya">
            <a:extLst>
              <a:ext uri="{FF2B5EF4-FFF2-40B4-BE49-F238E27FC236}">
                <a16:creationId xmlns:a16="http://schemas.microsoft.com/office/drawing/2014/main" id="{071ACC07-AA42-2201-661F-185F7FA053D6}"/>
              </a:ext>
            </a:extLst>
          </p:cNvPr>
          <p:cNvPicPr>
            <a:picLocks noChangeAspect="1"/>
          </p:cNvPicPr>
          <p:nvPr/>
        </p:nvPicPr>
        <p:blipFill>
          <a:blip r:embed="rId2"/>
          <a:srcRect l="13764" t="18913" r="53371" b="19280"/>
          <a:stretch>
            <a:fillRect/>
          </a:stretch>
        </p:blipFill>
        <p:spPr>
          <a:xfrm>
            <a:off x="5782849" y="3471879"/>
            <a:ext cx="2442807" cy="2951787"/>
          </a:xfrm>
          <a:prstGeom prst="rect">
            <a:avLst/>
          </a:prstGeom>
        </p:spPr>
      </p:pic>
      <p:pic>
        <p:nvPicPr>
          <p:cNvPr id="8" name="Picture 7" descr="Hip Fractures - OrthoInfo - AAOS">
            <a:extLst>
              <a:ext uri="{FF2B5EF4-FFF2-40B4-BE49-F238E27FC236}">
                <a16:creationId xmlns:a16="http://schemas.microsoft.com/office/drawing/2014/main" id="{F114954C-74CB-A0DF-3B3D-F9883C2367D4}"/>
              </a:ext>
            </a:extLst>
          </p:cNvPr>
          <p:cNvPicPr>
            <a:picLocks noChangeAspect="1"/>
          </p:cNvPicPr>
          <p:nvPr/>
        </p:nvPicPr>
        <p:blipFill>
          <a:blip r:embed="rId3"/>
          <a:srcRect l="1581" t="21829" r="395" b="9369"/>
          <a:stretch>
            <a:fillRect/>
          </a:stretch>
        </p:blipFill>
        <p:spPr>
          <a:xfrm>
            <a:off x="5780489" y="983091"/>
            <a:ext cx="2582418" cy="2439181"/>
          </a:xfrm>
          <a:prstGeom prst="rect">
            <a:avLst/>
          </a:prstGeom>
        </p:spPr>
      </p:pic>
      <p:sp>
        <p:nvSpPr>
          <p:cNvPr id="9" name="TextBox 8">
            <a:extLst>
              <a:ext uri="{FF2B5EF4-FFF2-40B4-BE49-F238E27FC236}">
                <a16:creationId xmlns:a16="http://schemas.microsoft.com/office/drawing/2014/main" id="{CFFBF594-59C0-06E6-8ABA-1D0E005F653A}"/>
              </a:ext>
            </a:extLst>
          </p:cNvPr>
          <p:cNvSpPr txBox="1"/>
          <p:nvPr/>
        </p:nvSpPr>
        <p:spPr>
          <a:xfrm>
            <a:off x="422873" y="1440924"/>
            <a:ext cx="4559473"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dirty="0">
                <a:latin typeface="Times New Roman" panose="02020603050405020304" pitchFamily="18" charset="0"/>
                <a:ea typeface="+mn-lt"/>
                <a:cs typeface="Times New Roman" panose="02020603050405020304" pitchFamily="18" charset="0"/>
              </a:rPr>
              <a:t>Intertrochanteric Fracture</a:t>
            </a:r>
            <a:endParaRPr lang="en-US" sz="2000" b="1" u="sng" dirty="0">
              <a:latin typeface="Times New Roman" panose="02020603050405020304" pitchFamily="18" charset="0"/>
              <a:ea typeface="Calibri"/>
              <a:cs typeface="Times New Roman" panose="02020603050405020304" pitchFamily="18" charset="0"/>
            </a:endParaRPr>
          </a:p>
          <a:p>
            <a:endParaRPr lang="en-US" sz="2000" dirty="0">
              <a:latin typeface="Times New Roman" panose="02020603050405020304" pitchFamily="18" charset="0"/>
              <a:ea typeface="+mn-lt"/>
              <a:cs typeface="Times New Roman" panose="02020603050405020304" pitchFamily="18" charset="0"/>
            </a:endParaRPr>
          </a:p>
          <a:p>
            <a:pPr marL="285750" indent="-285750">
              <a:buFont typeface="Arial"/>
              <a:buChar char="•"/>
            </a:pPr>
            <a:r>
              <a:rPr lang="en-US" sz="2000" dirty="0">
                <a:latin typeface="Times New Roman" panose="02020603050405020304" pitchFamily="18" charset="0"/>
                <a:ea typeface="+mn-lt"/>
                <a:cs typeface="Times New Roman" panose="02020603050405020304" pitchFamily="18" charset="0"/>
              </a:rPr>
              <a:t>Occurs between greater and lesser trochanter of femur.</a:t>
            </a:r>
            <a:endParaRPr lang="en-US" sz="2000" dirty="0">
              <a:latin typeface="Times New Roman" panose="02020603050405020304" pitchFamily="18" charset="0"/>
              <a:ea typeface="Calibri"/>
              <a:cs typeface="Times New Roman" panose="02020603050405020304" pitchFamily="18" charset="0"/>
            </a:endParaRPr>
          </a:p>
          <a:p>
            <a:pPr marL="285750" indent="-285750">
              <a:buFont typeface="Arial"/>
              <a:buChar char="•"/>
            </a:pPr>
            <a:r>
              <a:rPr lang="en-US" sz="2000" dirty="0">
                <a:latin typeface="Times New Roman" panose="02020603050405020304" pitchFamily="18" charset="0"/>
                <a:ea typeface="+mn-lt"/>
                <a:cs typeface="Times New Roman" panose="02020603050405020304" pitchFamily="18" charset="0"/>
              </a:rPr>
              <a:t>Common in elderly (osteoporosis, falls) but also in high-energy trauma in young adults.</a:t>
            </a:r>
            <a:endParaRPr lang="en-US" sz="2000" dirty="0">
              <a:latin typeface="Times New Roman" panose="02020603050405020304" pitchFamily="18" charset="0"/>
              <a:ea typeface="Calibri"/>
              <a:cs typeface="Times New Roman" panose="02020603050405020304" pitchFamily="18" charset="0"/>
            </a:endParaRPr>
          </a:p>
          <a:p>
            <a:pPr marL="285750" indent="-285750">
              <a:buFont typeface="Arial"/>
              <a:buChar char="•"/>
            </a:pPr>
            <a:r>
              <a:rPr lang="en-US" sz="2000" dirty="0">
                <a:latin typeface="Times New Roman" panose="02020603050405020304" pitchFamily="18" charset="0"/>
                <a:ea typeface="+mn-lt"/>
                <a:cs typeface="Times New Roman" panose="02020603050405020304" pitchFamily="18" charset="0"/>
              </a:rPr>
              <a:t>Challenges: poor bone quality, high shear forces, risk of fixation failure.</a:t>
            </a:r>
          </a:p>
          <a:p>
            <a:endParaRPr lang="en-US" sz="2000" dirty="0">
              <a:latin typeface="Times New Roman" panose="02020603050405020304" pitchFamily="18" charset="0"/>
              <a:ea typeface="Calibri"/>
              <a:cs typeface="Times New Roman" panose="02020603050405020304" pitchFamily="18" charset="0"/>
            </a:endParaRPr>
          </a:p>
          <a:p>
            <a:r>
              <a:rPr lang="en-US" sz="2000" b="1" u="sng" dirty="0">
                <a:latin typeface="Times New Roman" panose="02020603050405020304" pitchFamily="18" charset="0"/>
                <a:ea typeface="Calibri"/>
                <a:cs typeface="Times New Roman" panose="02020603050405020304" pitchFamily="18" charset="0"/>
              </a:rPr>
              <a:t>Types of Fixation Implants:</a:t>
            </a:r>
          </a:p>
          <a:p>
            <a:endParaRPr lang="en-US" sz="2000" b="1" u="sng" dirty="0">
              <a:latin typeface="Times New Roman" panose="02020603050405020304" pitchFamily="18" charset="0"/>
              <a:ea typeface="+mn-lt"/>
              <a:cs typeface="Times New Roman" panose="02020603050405020304" pitchFamily="18" charset="0"/>
            </a:endParaRPr>
          </a:p>
          <a:p>
            <a:pPr marL="285750" indent="-285750">
              <a:buFont typeface="Arial"/>
              <a:buChar char="•"/>
            </a:pPr>
            <a:r>
              <a:rPr lang="en-US" sz="2000" dirty="0" err="1">
                <a:latin typeface="Times New Roman" panose="02020603050405020304" pitchFamily="18" charset="0"/>
                <a:ea typeface="+mn-lt"/>
                <a:cs typeface="Times New Roman" panose="02020603050405020304" pitchFamily="18" charset="0"/>
              </a:rPr>
              <a:t>Extramedullary</a:t>
            </a:r>
            <a:r>
              <a:rPr lang="en-US" sz="2000" dirty="0">
                <a:latin typeface="Times New Roman" panose="02020603050405020304" pitchFamily="18" charset="0"/>
                <a:ea typeface="+mn-lt"/>
                <a:cs typeface="Times New Roman" panose="02020603050405020304" pitchFamily="18" charset="0"/>
              </a:rPr>
              <a:t> Implants</a:t>
            </a:r>
          </a:p>
          <a:p>
            <a:pPr marL="285750" indent="-285750">
              <a:buFont typeface="Arial"/>
              <a:buChar char="•"/>
            </a:pPr>
            <a:r>
              <a:rPr lang="en-US" sz="2000" dirty="0">
                <a:latin typeface="Times New Roman" panose="02020603050405020304" pitchFamily="18" charset="0"/>
                <a:ea typeface="+mn-lt"/>
                <a:cs typeface="Times New Roman" panose="02020603050405020304" pitchFamily="18" charset="0"/>
              </a:rPr>
              <a:t>Intramedullary Implants</a:t>
            </a:r>
            <a:endParaRPr lang="en-US" sz="2000"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3620861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FD379-9067-407C-EA33-27B0E26EC76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B0E8540-7502-C393-5E08-0CF030F23CB0}"/>
              </a:ext>
            </a:extLst>
          </p:cNvPr>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94D1EFD-1C2E-A26D-534E-54E9273C5824}"/>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a:extLst>
              <a:ext uri="{FF2B5EF4-FFF2-40B4-BE49-F238E27FC236}">
                <a16:creationId xmlns:a16="http://schemas.microsoft.com/office/drawing/2014/main" id="{118DA8BB-308F-03CA-45B1-DED479AE157D}"/>
              </a:ext>
            </a:extLst>
          </p:cNvPr>
          <p:cNvSpPr>
            <a:spLocks noGrp="1"/>
          </p:cNvSpPr>
          <p:nvPr>
            <p:ph type="sldNum" sz="quarter" idx="12"/>
          </p:nvPr>
        </p:nvSpPr>
        <p:spPr>
          <a:xfrm>
            <a:off x="6553200" y="6384342"/>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a:t>
            </a:fld>
            <a:endParaRPr lang="en-US">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C45282B-7BD4-EDF9-B30F-9CC7FBC3A6C5}"/>
              </a:ext>
            </a:extLst>
          </p:cNvPr>
          <p:cNvSpPr txBox="1"/>
          <p:nvPr/>
        </p:nvSpPr>
        <p:spPr>
          <a:xfrm>
            <a:off x="172352" y="334457"/>
            <a:ext cx="8785035"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dirty="0" err="1">
                <a:latin typeface="Times New Roman" panose="02020603050405020304" pitchFamily="18" charset="0"/>
                <a:ea typeface="+mn-lt"/>
                <a:cs typeface="Times New Roman" panose="02020603050405020304" pitchFamily="18" charset="0"/>
              </a:rPr>
              <a:t>Extramedullary</a:t>
            </a:r>
            <a:r>
              <a:rPr lang="en-US" sz="2000" b="1" u="sng" dirty="0">
                <a:latin typeface="Times New Roman" panose="02020603050405020304" pitchFamily="18" charset="0"/>
                <a:ea typeface="+mn-lt"/>
                <a:cs typeface="Times New Roman" panose="02020603050405020304" pitchFamily="18" charset="0"/>
              </a:rPr>
              <a:t> Implants</a:t>
            </a:r>
            <a:endParaRPr lang="en-US" sz="2000" b="1" u="sng"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ea typeface="Calibri"/>
              <a:cs typeface="Times New Roman" panose="02020603050405020304" pitchFamily="18" charset="0"/>
            </a:endParaRPr>
          </a:p>
          <a:p>
            <a:r>
              <a:rPr lang="en-IN" sz="2000" dirty="0" err="1">
                <a:latin typeface="Times New Roman" panose="02020603050405020304" pitchFamily="18" charset="0"/>
                <a:cs typeface="Times New Roman" panose="02020603050405020304" pitchFamily="18" charset="0"/>
              </a:rPr>
              <a:t>Extramedullary</a:t>
            </a:r>
            <a:r>
              <a:rPr lang="en-IN" sz="2000" dirty="0">
                <a:latin typeface="Times New Roman" panose="02020603050405020304" pitchFamily="18" charset="0"/>
                <a:cs typeface="Times New Roman" panose="02020603050405020304" pitchFamily="18" charset="0"/>
              </a:rPr>
              <a:t> fixation of hip fractures refers to the application of a plate and screws to the lateral side of the proximal femur</a:t>
            </a:r>
          </a:p>
          <a:p>
            <a:endParaRPr lang="en-US" sz="2000" dirty="0">
              <a:latin typeface="Times New Roman" panose="02020603050405020304" pitchFamily="18" charset="0"/>
              <a:ea typeface="+mn-lt"/>
              <a:cs typeface="Times New Roman" panose="02020603050405020304" pitchFamily="18" charset="0"/>
            </a:endParaRPr>
          </a:p>
          <a:p>
            <a:pPr marL="285750" indent="-285750">
              <a:buFont typeface="Arial"/>
              <a:buChar char="•"/>
            </a:pPr>
            <a:r>
              <a:rPr lang="en-US" sz="2000" dirty="0">
                <a:latin typeface="Times New Roman" panose="02020603050405020304" pitchFamily="18" charset="0"/>
                <a:ea typeface="+mn-lt"/>
                <a:cs typeface="Times New Roman" panose="02020603050405020304" pitchFamily="18" charset="0"/>
              </a:rPr>
              <a:t>Benefits: easy technique, cost-effective, effective for stable fractures.</a:t>
            </a:r>
          </a:p>
          <a:p>
            <a:pPr marL="285750" indent="-285750">
              <a:buFont typeface="Arial"/>
              <a:buChar char="•"/>
            </a:pPr>
            <a:r>
              <a:rPr lang="en-US" sz="2000" dirty="0">
                <a:latin typeface="Times New Roman" panose="02020603050405020304" pitchFamily="18" charset="0"/>
                <a:ea typeface="Calibri"/>
                <a:cs typeface="Times New Roman" panose="02020603050405020304" pitchFamily="18" charset="0"/>
              </a:rPr>
              <a:t>Examples:</a:t>
            </a:r>
          </a:p>
          <a:p>
            <a:pPr marL="285750" indent="-285750">
              <a:buFont typeface="Arial"/>
              <a:buChar char="•"/>
            </a:pPr>
            <a:endParaRPr lang="en-US" sz="2000" dirty="0">
              <a:latin typeface="Times New Roman" panose="02020603050405020304" pitchFamily="18" charset="0"/>
              <a:ea typeface="Calibri"/>
              <a:cs typeface="Times New Roman" panose="02020603050405020304" pitchFamily="18" charset="0"/>
            </a:endParaRPr>
          </a:p>
          <a:p>
            <a:endParaRPr lang="en-US" sz="2000" dirty="0">
              <a:latin typeface="Times New Roman" panose="02020603050405020304" pitchFamily="18" charset="0"/>
              <a:ea typeface="+mn-lt"/>
              <a:cs typeface="Times New Roman" panose="02020603050405020304" pitchFamily="18" charset="0"/>
            </a:endParaRPr>
          </a:p>
          <a:p>
            <a:endParaRPr lang="en-US" sz="2000" b="1" u="sng" dirty="0">
              <a:latin typeface="Times New Roman" panose="02020603050405020304" pitchFamily="18" charset="0"/>
              <a:ea typeface="Calibri"/>
              <a:cs typeface="Times New Roman" panose="02020603050405020304" pitchFamily="18" charset="0"/>
            </a:endParaRPr>
          </a:p>
          <a:p>
            <a:pPr marL="285750" indent="-285750">
              <a:buFont typeface="Arial"/>
              <a:buChar char="•"/>
            </a:pPr>
            <a:endParaRPr lang="en-US" sz="2000" dirty="0">
              <a:latin typeface="Times New Roman" panose="02020603050405020304" pitchFamily="18" charset="0"/>
              <a:ea typeface="Calibri"/>
              <a:cs typeface="Times New Roman" panose="02020603050405020304" pitchFamily="18" charset="0"/>
            </a:endParaRPr>
          </a:p>
        </p:txBody>
      </p:sp>
      <p:pic>
        <p:nvPicPr>
          <p:cNvPr id="16" name="Picture 2" descr="شکستگی فمور و جراحی به روش DHS"/>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1254" b="99904" l="13498" r="78286"/>
                    </a14:imgEffect>
                  </a14:imgLayer>
                </a14:imgProps>
              </a:ext>
              <a:ext uri="{28A0092B-C50C-407E-A947-70E740481C1C}">
                <a14:useLocalDpi xmlns:a14="http://schemas.microsoft.com/office/drawing/2010/main" val="0"/>
              </a:ext>
            </a:extLst>
          </a:blip>
          <a:srcRect l="17440" t="7563" r="20847"/>
          <a:stretch/>
        </p:blipFill>
        <p:spPr bwMode="auto">
          <a:xfrm>
            <a:off x="2720260" y="3060211"/>
            <a:ext cx="1844609" cy="264866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Angled blade plate for Intertrochanteric fractures"/>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0" b="100000" l="35968" r="87097"/>
                    </a14:imgEffect>
                  </a14:imgLayer>
                </a14:imgProps>
              </a:ext>
              <a:ext uri="{28A0092B-C50C-407E-A947-70E740481C1C}">
                <a14:useLocalDpi xmlns:a14="http://schemas.microsoft.com/office/drawing/2010/main" val="0"/>
              </a:ext>
            </a:extLst>
          </a:blip>
          <a:srcRect l="35869" r="15474"/>
          <a:stretch/>
        </p:blipFill>
        <p:spPr bwMode="auto">
          <a:xfrm>
            <a:off x="7178154" y="3181738"/>
            <a:ext cx="1707730" cy="259827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43854" y="2814885"/>
            <a:ext cx="2780522" cy="2554545"/>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DHS </a:t>
            </a:r>
            <a:r>
              <a:rPr lang="en-US" sz="2000"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Dynamic Hip Screw)</a:t>
            </a:r>
          </a:p>
          <a:p>
            <a:endParaRPr lang="en-US" sz="2000" b="1" dirty="0">
              <a:latin typeface="Times New Roman" panose="02020603050405020304" pitchFamily="18" charset="0"/>
              <a:cs typeface="Times New Roman" panose="02020603050405020304" pitchFamily="18" charset="0"/>
            </a:endParaRPr>
          </a:p>
          <a:p>
            <a:pPr algn="r"/>
            <a:endParaRPr lang="en-US"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Provides stable fixation for intertrochanteric fractures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4564869" y="2814885"/>
            <a:ext cx="2780522" cy="2554545"/>
          </a:xfrm>
          <a:prstGeom prst="rect">
            <a:avLst/>
          </a:prstGeom>
          <a:noFill/>
        </p:spPr>
        <p:txBody>
          <a:bodyPr wrap="square" rtlCol="0">
            <a:spAutoFit/>
          </a:bodyPr>
          <a:lstStyle/>
          <a:p>
            <a:pPr marL="548640" indent="-411480">
              <a:spcBef>
                <a:spcPct val="20000"/>
              </a:spcBef>
              <a:buClr>
                <a:schemeClr val="tx1">
                  <a:shade val="95000"/>
                </a:schemeClr>
              </a:buClr>
              <a:buSzPct val="65000"/>
              <a:defRPr/>
            </a:pPr>
            <a:r>
              <a:rPr lang="en-US" sz="2000" b="1" dirty="0">
                <a:latin typeface="Times New Roman" panose="02020603050405020304" pitchFamily="18" charset="0"/>
                <a:cs typeface="Times New Roman" panose="02020603050405020304" pitchFamily="18" charset="0"/>
              </a:rPr>
              <a:t>Angled Blade Plate</a:t>
            </a:r>
          </a:p>
          <a:p>
            <a:endParaRPr lang="en-US" sz="2000" b="1" dirty="0">
              <a:latin typeface="Times New Roman" panose="02020603050405020304" pitchFamily="18" charset="0"/>
              <a:cs typeface="Times New Roman" panose="02020603050405020304" pitchFamily="18" charset="0"/>
            </a:endParaRPr>
          </a:p>
          <a:p>
            <a:pPr algn="r"/>
            <a:endParaRPr lang="en-US"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Provides strong angular stability due to the fixed angle between plate and blade/screw</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8999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FD379-9067-407C-EA33-27B0E26EC761}"/>
            </a:ext>
          </a:extLst>
        </p:cNvPr>
        <p:cNvGrpSpPr/>
        <p:nvPr/>
      </p:nvGrpSpPr>
      <p:grpSpPr>
        <a:xfrm>
          <a:off x="0" y="0"/>
          <a:ext cx="0" cy="0"/>
          <a:chOff x="0" y="0"/>
          <a:chExt cx="0" cy="0"/>
        </a:xfrm>
      </p:grpSpPr>
      <p:pic>
        <p:nvPicPr>
          <p:cNvPr id="10" name="Picture 2">
            <a:extLst>
              <a:ext uri="{FF2B5EF4-FFF2-40B4-BE49-F238E27FC236}">
                <a16:creationId xmlns:a16="http://schemas.microsoft.com/office/drawing/2014/main" id="{C2D0653D-9F40-AFF6-CE25-FDDA5F922520}"/>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840" b="94958" l="9766" r="83984"/>
                    </a14:imgEffect>
                  </a14:imgLayer>
                </a14:imgProps>
              </a:ext>
              <a:ext uri="{28A0092B-C50C-407E-A947-70E740481C1C}">
                <a14:useLocalDpi xmlns:a14="http://schemas.microsoft.com/office/drawing/2010/main" val="0"/>
              </a:ext>
            </a:extLst>
          </a:blip>
          <a:srcRect l="10188" t="-7299" r="28274" b="7766"/>
          <a:stretch/>
        </p:blipFill>
        <p:spPr bwMode="auto">
          <a:xfrm flipH="1">
            <a:off x="2119296" y="3463864"/>
            <a:ext cx="951712" cy="231300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p:cNvPicPr>
          <p:nvPr/>
        </p:nvPicPr>
        <p:blipFill>
          <a:blip r:embed="rId4">
            <a:extLst>
              <a:ext uri="{BEBA8EAE-BF5A-486C-A8C5-ECC9F3942E4B}">
                <a14:imgProps xmlns:a14="http://schemas.microsoft.com/office/drawing/2010/main">
                  <a14:imgLayer r:embed="rId5">
                    <a14:imgEffect>
                      <a14:backgroundRemoval t="0" b="98516" l="9211" r="96930"/>
                    </a14:imgEffect>
                  </a14:imgLayer>
                </a14:imgProps>
              </a:ext>
              <a:ext uri="{28A0092B-C50C-407E-A947-70E740481C1C}">
                <a14:useLocalDpi xmlns:a14="http://schemas.microsoft.com/office/drawing/2010/main" val="0"/>
              </a:ext>
            </a:extLst>
          </a:blip>
          <a:stretch>
            <a:fillRect/>
          </a:stretch>
        </p:blipFill>
        <p:spPr>
          <a:xfrm>
            <a:off x="4859016" y="3666992"/>
            <a:ext cx="1150412" cy="2552698"/>
          </a:xfrm>
          <a:prstGeom prst="rect">
            <a:avLst/>
          </a:prstGeom>
        </p:spPr>
      </p:pic>
      <p:sp>
        <p:nvSpPr>
          <p:cNvPr id="2" name="Date Placeholder 1">
            <a:extLst>
              <a:ext uri="{FF2B5EF4-FFF2-40B4-BE49-F238E27FC236}">
                <a16:creationId xmlns:a16="http://schemas.microsoft.com/office/drawing/2014/main" id="{1B0E8540-7502-C393-5E08-0CF030F23CB0}"/>
              </a:ext>
            </a:extLst>
          </p:cNvPr>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A94D1EFD-1C2E-A26D-534E-54E9273C5824}"/>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a:extLst>
              <a:ext uri="{FF2B5EF4-FFF2-40B4-BE49-F238E27FC236}">
                <a16:creationId xmlns:a16="http://schemas.microsoft.com/office/drawing/2014/main" id="{118DA8BB-308F-03CA-45B1-DED479AE157D}"/>
              </a:ext>
            </a:extLst>
          </p:cNvPr>
          <p:cNvSpPr>
            <a:spLocks noGrp="1"/>
          </p:cNvSpPr>
          <p:nvPr>
            <p:ph type="sldNum" sz="quarter" idx="12"/>
          </p:nvPr>
        </p:nvSpPr>
        <p:spPr>
          <a:xfrm>
            <a:off x="6553200" y="6384342"/>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6</a:t>
            </a:fld>
            <a:endParaRPr lang="en-US">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C45282B-7BD4-EDF9-B30F-9CC7FBC3A6C5}"/>
              </a:ext>
            </a:extLst>
          </p:cNvPr>
          <p:cNvSpPr txBox="1"/>
          <p:nvPr/>
        </p:nvSpPr>
        <p:spPr>
          <a:xfrm>
            <a:off x="172352" y="334457"/>
            <a:ext cx="8785035"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dirty="0">
                <a:latin typeface="Times New Roman" panose="02020603050405020304" pitchFamily="18" charset="0"/>
                <a:ea typeface="+mn-lt"/>
                <a:cs typeface="Times New Roman" panose="02020603050405020304" pitchFamily="18" charset="0"/>
              </a:rPr>
              <a:t>Intramedullary Implants</a:t>
            </a:r>
          </a:p>
          <a:p>
            <a:endParaRPr lang="en-US" sz="2000" b="1" u="sng" dirty="0">
              <a:latin typeface="Times New Roman" panose="02020603050405020304" pitchFamily="18" charset="0"/>
              <a:ea typeface="+mn-lt"/>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Intramedullary (IM) implants are metal rods inserted into the central marrow cavity (medullary canal) of femur to stabilize fractures.</a:t>
            </a:r>
            <a:endParaRPr lang="en-US" sz="2000" u="sng" dirty="0">
              <a:latin typeface="Times New Roman" panose="02020603050405020304" pitchFamily="18" charset="0"/>
              <a:ea typeface="+mn-lt"/>
              <a:cs typeface="Times New Roman" panose="02020603050405020304" pitchFamily="18" charset="0"/>
            </a:endParaRPr>
          </a:p>
          <a:p>
            <a:endParaRPr lang="en-US" sz="2000" b="1" u="sng" dirty="0">
              <a:latin typeface="Times New Roman" panose="02020603050405020304" pitchFamily="18" charset="0"/>
              <a:ea typeface="+mn-lt"/>
              <a:cs typeface="Times New Roman" panose="02020603050405020304" pitchFamily="18" charset="0"/>
            </a:endParaRPr>
          </a:p>
          <a:p>
            <a:pPr marL="342900" indent="-342900">
              <a:buFont typeface="Arial"/>
              <a:buChar char="•"/>
            </a:pPr>
            <a:r>
              <a:rPr lang="en-US" sz="2000" dirty="0">
                <a:latin typeface="Times New Roman" panose="02020603050405020304" pitchFamily="18" charset="0"/>
                <a:ea typeface="+mn-lt"/>
                <a:cs typeface="Times New Roman" panose="02020603050405020304" pitchFamily="18" charset="0"/>
              </a:rPr>
              <a:t>Benefits: small incision, reduced blood loss, greater load sharing, better suited to unstable/multi-fragment fractures.</a:t>
            </a:r>
            <a:endParaRPr lang="en-US" sz="2000" dirty="0">
              <a:latin typeface="Times New Roman" panose="02020603050405020304" pitchFamily="18" charset="0"/>
              <a:ea typeface="Calibri"/>
              <a:cs typeface="Times New Roman" panose="02020603050405020304" pitchFamily="18" charset="0"/>
            </a:endParaRPr>
          </a:p>
          <a:p>
            <a:pPr marL="342900" indent="-342900">
              <a:buFont typeface="Arial"/>
              <a:buChar char="•"/>
            </a:pPr>
            <a:r>
              <a:rPr lang="en-US" sz="2000" dirty="0">
                <a:latin typeface="Times New Roman" panose="02020603050405020304" pitchFamily="18" charset="0"/>
                <a:ea typeface="Calibri"/>
                <a:cs typeface="Times New Roman" panose="02020603050405020304" pitchFamily="18" charset="0"/>
              </a:rPr>
              <a:t>Examples:</a:t>
            </a:r>
          </a:p>
          <a:p>
            <a:endParaRPr lang="en-US" sz="2000" dirty="0">
              <a:latin typeface="Times New Roman" panose="02020603050405020304" pitchFamily="18" charset="0"/>
              <a:ea typeface="+mn-lt"/>
              <a:cs typeface="Times New Roman" panose="02020603050405020304" pitchFamily="18" charset="0"/>
            </a:endParaRPr>
          </a:p>
          <a:p>
            <a:endParaRPr lang="en-US" sz="2000" b="1" u="sng" dirty="0">
              <a:latin typeface="Times New Roman" panose="02020603050405020304" pitchFamily="18" charset="0"/>
              <a:ea typeface="Calibri"/>
              <a:cs typeface="Times New Roman" panose="02020603050405020304" pitchFamily="18" charset="0"/>
            </a:endParaRPr>
          </a:p>
          <a:p>
            <a:pPr marL="285750" indent="-285750">
              <a:buFont typeface="Arial"/>
              <a:buChar char="•"/>
            </a:pPr>
            <a:endParaRPr lang="en-US" sz="2000" dirty="0">
              <a:latin typeface="Times New Roman" panose="02020603050405020304" pitchFamily="18" charset="0"/>
              <a:ea typeface="Calibri"/>
              <a:cs typeface="Times New Roman" panose="02020603050405020304" pitchFamily="18" charset="0"/>
            </a:endParaRPr>
          </a:p>
        </p:txBody>
      </p:sp>
      <p:sp>
        <p:nvSpPr>
          <p:cNvPr id="5" name="TextBox 4"/>
          <p:cNvSpPr txBox="1"/>
          <p:nvPr/>
        </p:nvSpPr>
        <p:spPr>
          <a:xfrm>
            <a:off x="226160" y="2896510"/>
            <a:ext cx="2191436" cy="317009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PFN</a:t>
            </a:r>
            <a:r>
              <a:rPr lang="en-US"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Proximal Femoral Nail)</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Intramedullary design gives stronger load-sharing and better biomechanical stability. </a:t>
            </a:r>
          </a:p>
        </p:txBody>
      </p:sp>
      <p:sp>
        <p:nvSpPr>
          <p:cNvPr id="18" name="TextBox 17"/>
          <p:cNvSpPr txBox="1"/>
          <p:nvPr/>
        </p:nvSpPr>
        <p:spPr>
          <a:xfrm>
            <a:off x="2962526" y="2918001"/>
            <a:ext cx="2373172" cy="347787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PFNA-II </a:t>
            </a:r>
            <a:r>
              <a:rPr lang="en-IN" sz="2000" dirty="0">
                <a:latin typeface="Times New Roman" panose="02020603050405020304" pitchFamily="18" charset="0"/>
                <a:cs typeface="Times New Roman" panose="02020603050405020304" pitchFamily="18" charset="0"/>
              </a:rPr>
              <a:t>(Proximal Femoral Nail </a:t>
            </a:r>
            <a:r>
              <a:rPr lang="en-IN" sz="2000" dirty="0" err="1">
                <a:latin typeface="Times New Roman" panose="02020603050405020304" pitchFamily="18" charset="0"/>
                <a:cs typeface="Times New Roman" panose="02020603050405020304" pitchFamily="18" charset="0"/>
              </a:rPr>
              <a:t>Antirotation</a:t>
            </a:r>
            <a:r>
              <a:rPr lang="en-IN" sz="2000" dirty="0">
                <a:latin typeface="Times New Roman" panose="02020603050405020304" pitchFamily="18" charset="0"/>
                <a:cs typeface="Times New Roman" panose="02020603050405020304" pitchFamily="18" charset="0"/>
              </a:rPr>
              <a:t> II)</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Helical blade provides excellent purchase in osteoporotic bone by compaction rather than excavation</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5880628" y="2918001"/>
            <a:ext cx="2385230" cy="3477875"/>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InterTAN </a:t>
            </a:r>
            <a:r>
              <a:rPr lang="en-IN" sz="2000" dirty="0">
                <a:latin typeface="Times New Roman" panose="02020603050405020304" pitchFamily="18" charset="0"/>
                <a:cs typeface="Times New Roman" panose="02020603050405020304" pitchFamily="18" charset="0"/>
              </a:rPr>
              <a:t>(Intertrochanteric </a:t>
            </a:r>
            <a:r>
              <a:rPr lang="en-IN" sz="2000" dirty="0" err="1">
                <a:latin typeface="Times New Roman" panose="02020603050405020304" pitchFamily="18" charset="0"/>
                <a:cs typeface="Times New Roman" panose="02020603050405020304" pitchFamily="18" charset="0"/>
              </a:rPr>
              <a:t>Antegrade</a:t>
            </a:r>
            <a:r>
              <a:rPr lang="en-IN" sz="2000" dirty="0">
                <a:latin typeface="Times New Roman" panose="02020603050405020304" pitchFamily="18" charset="0"/>
                <a:cs typeface="Times New Roman" panose="02020603050405020304" pitchFamily="18" charset="0"/>
              </a:rPr>
              <a:t> Nail)</a:t>
            </a: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a:t>
            </a:r>
            <a:r>
              <a:rPr lang="en-IN" sz="2000" dirty="0" smtClean="0">
                <a:latin typeface="Times New Roman" panose="02020603050405020304" pitchFamily="18" charset="0"/>
                <a:cs typeface="Times New Roman" panose="02020603050405020304" pitchFamily="18" charset="0"/>
              </a:rPr>
              <a:t>ntegrated </a:t>
            </a:r>
            <a:r>
              <a:rPr lang="en-IN" sz="2000" dirty="0">
                <a:latin typeface="Times New Roman" panose="02020603050405020304" pitchFamily="18" charset="0"/>
                <a:cs typeface="Times New Roman" panose="02020603050405020304" pitchFamily="18" charset="0"/>
              </a:rPr>
              <a:t>dual screw system that provides dual compression capability which </a:t>
            </a:r>
            <a:r>
              <a:rPr lang="en-IN" sz="2000" dirty="0" smtClean="0">
                <a:latin typeface="Times New Roman" panose="02020603050405020304" pitchFamily="18" charset="0"/>
                <a:cs typeface="Times New Roman" panose="02020603050405020304" pitchFamily="18" charset="0"/>
              </a:rPr>
              <a:t>reduces </a:t>
            </a:r>
            <a:r>
              <a:rPr lang="en-IN" sz="2000" dirty="0">
                <a:latin typeface="Times New Roman" panose="02020603050405020304" pitchFamily="18" charset="0"/>
                <a:cs typeface="Times New Roman" panose="02020603050405020304" pitchFamily="18" charset="0"/>
              </a:rPr>
              <a:t>risk of screw migration or “Z-effect”.</a:t>
            </a:r>
          </a:p>
        </p:txBody>
      </p:sp>
      <p:pic>
        <p:nvPicPr>
          <p:cNvPr id="14" name="Picture 13"/>
          <p:cNvPicPr>
            <a:picLocks noChangeAspect="1"/>
          </p:cNvPicPr>
          <p:nvPr/>
        </p:nvPicPr>
        <p:blipFill>
          <a:blip r:embed="rId6" cstate="print">
            <a:extLst>
              <a:ext uri="{BEBA8EAE-BF5A-486C-A8C5-ECC9F3942E4B}">
                <a14:imgProps xmlns:a14="http://schemas.microsoft.com/office/drawing/2010/main">
                  <a14:imgLayer r:embed="rId7">
                    <a14:imgEffect>
                      <a14:backgroundRemoval t="3152" b="100000" l="15820" r="91582"/>
                    </a14:imgEffect>
                  </a14:imgLayer>
                </a14:imgProps>
              </a:ext>
              <a:ext uri="{28A0092B-C50C-407E-A947-70E740481C1C}">
                <a14:useLocalDpi xmlns:a14="http://schemas.microsoft.com/office/drawing/2010/main" val="0"/>
              </a:ext>
            </a:extLst>
          </a:blip>
          <a:stretch>
            <a:fillRect/>
          </a:stretch>
        </p:blipFill>
        <p:spPr>
          <a:xfrm rot="19563079">
            <a:off x="7254700" y="3781158"/>
            <a:ext cx="2467346" cy="2044782"/>
          </a:xfrm>
          <a:prstGeom prst="rect">
            <a:avLst/>
          </a:prstGeom>
        </p:spPr>
      </p:pic>
    </p:spTree>
    <p:extLst>
      <p:ext uri="{BB962C8B-B14F-4D97-AF65-F5344CB8AC3E}">
        <p14:creationId xmlns:p14="http://schemas.microsoft.com/office/powerpoint/2010/main" val="2464636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7</a:t>
            </a:fld>
            <a:endParaRPr lang="en-US">
              <a:latin typeface="Times New Roman" panose="02020603050405020304" pitchFamily="18" charset="0"/>
              <a:cs typeface="Times New Roman" panose="02020603050405020304" pitchFamily="18" charset="0"/>
            </a:endParaRPr>
          </a:p>
        </p:txBody>
      </p:sp>
      <p:sp>
        <p:nvSpPr>
          <p:cNvPr id="5" name="Title 4"/>
          <p:cNvSpPr txBox="1">
            <a:spLocks/>
          </p:cNvSpPr>
          <p:nvPr/>
        </p:nvSpPr>
        <p:spPr>
          <a:xfrm>
            <a:off x="438807" y="304800"/>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kumimoji="0" lang="en-US" sz="32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O</a:t>
            </a:r>
            <a:r>
              <a:rPr lang="en-US" sz="3200" dirty="0" err="1">
                <a:solidFill>
                  <a:schemeClr val="tx1"/>
                </a:solidFill>
                <a:latin typeface="Times New Roman" panose="02020603050405020304" pitchFamily="18" charset="0"/>
                <a:cs typeface="Times New Roman" panose="02020603050405020304" pitchFamily="18" charset="0"/>
              </a:rPr>
              <a:t>bjectives</a:t>
            </a:r>
            <a:r>
              <a:rPr lang="en-US" sz="3200" dirty="0">
                <a:solidFill>
                  <a:schemeClr val="tx1"/>
                </a:solidFill>
                <a:latin typeface="Times New Roman" panose="02020603050405020304" pitchFamily="18" charset="0"/>
                <a:cs typeface="Times New Roman" panose="02020603050405020304" pitchFamily="18" charset="0"/>
              </a:rPr>
              <a:t> of Project</a:t>
            </a:r>
            <a:endParaRPr kumimoji="0" lang="en-US" sz="32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FFBF594-59C0-06E6-8ABA-1D0E005F653A}"/>
              </a:ext>
            </a:extLst>
          </p:cNvPr>
          <p:cNvSpPr txBox="1"/>
          <p:nvPr/>
        </p:nvSpPr>
        <p:spPr>
          <a:xfrm>
            <a:off x="422873" y="1319626"/>
            <a:ext cx="824553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000" b="1" dirty="0">
                <a:latin typeface="Times New Roman" panose="02020603050405020304" pitchFamily="18" charset="0"/>
                <a:ea typeface="+mn-lt"/>
                <a:cs typeface="Times New Roman" panose="02020603050405020304" pitchFamily="18" charset="0"/>
              </a:rPr>
              <a:t>AIM: To compare the stability and the performance of different implants for Intertrochanteric femur fractures through Finite Element Analysis.</a:t>
            </a:r>
          </a:p>
        </p:txBody>
      </p:sp>
      <p:pic>
        <p:nvPicPr>
          <p:cNvPr id="7" name="Picture 6" descr="Intertrochanteric vs. Neck of femur Fracture: Know the Difference! – Knya">
            <a:extLst>
              <a:ext uri="{FF2B5EF4-FFF2-40B4-BE49-F238E27FC236}">
                <a16:creationId xmlns:a16="http://schemas.microsoft.com/office/drawing/2014/main" id="{071ACC07-AA42-2201-661F-185F7FA053D6}"/>
              </a:ext>
            </a:extLst>
          </p:cNvPr>
          <p:cNvPicPr>
            <a:picLocks noChangeAspect="1"/>
          </p:cNvPicPr>
          <p:nvPr/>
        </p:nvPicPr>
        <p:blipFill>
          <a:blip r:embed="rId2"/>
          <a:srcRect l="13764" t="18913" r="53371" b="19280"/>
          <a:stretch>
            <a:fillRect/>
          </a:stretch>
        </p:blipFill>
        <p:spPr>
          <a:xfrm>
            <a:off x="5966153" y="2641023"/>
            <a:ext cx="2632727" cy="3181279"/>
          </a:xfrm>
          <a:prstGeom prst="rect">
            <a:avLst/>
          </a:prstGeom>
        </p:spPr>
      </p:pic>
      <p:sp>
        <p:nvSpPr>
          <p:cNvPr id="6" name="TextBox 5"/>
          <p:cNvSpPr txBox="1"/>
          <p:nvPr/>
        </p:nvSpPr>
        <p:spPr>
          <a:xfrm>
            <a:off x="357522" y="2137707"/>
            <a:ext cx="5531851" cy="4401205"/>
          </a:xfrm>
          <a:prstGeom prst="rect">
            <a:avLst/>
          </a:prstGeom>
          <a:noFill/>
        </p:spPr>
        <p:txBody>
          <a:bodyPr wrap="square" rtlCol="0">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create a CAD model of the healthy femur bone and various implants.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Assemble the femur </a:t>
            </a:r>
            <a:r>
              <a:rPr lang="en-IN" sz="2000" dirty="0">
                <a:solidFill>
                  <a:prstClr val="black"/>
                </a:solidFill>
                <a:latin typeface="Times New Roman" panose="02020603050405020304" pitchFamily="18" charset="0"/>
                <a:cs typeface="Times New Roman" panose="02020603050405020304" pitchFamily="18" charset="0"/>
              </a:rPr>
              <a:t>bone</a:t>
            </a:r>
            <a:r>
              <a:rPr lang="en-IN" sz="2000" dirty="0">
                <a:latin typeface="Times New Roman" panose="02020603050405020304" pitchFamily="18" charset="0"/>
                <a:cs typeface="Times New Roman" panose="02020603050405020304" pitchFamily="18" charset="0"/>
              </a:rPr>
              <a:t> with DHS, Angled Blade Plate, PFN, PFNA- II, and </a:t>
            </a:r>
            <a:r>
              <a:rPr lang="en-IN" sz="2000" dirty="0" err="1">
                <a:latin typeface="Times New Roman" panose="02020603050405020304" pitchFamily="18" charset="0"/>
                <a:cs typeface="Times New Roman" panose="02020603050405020304" pitchFamily="18" charset="0"/>
              </a:rPr>
              <a:t>InterTan</a:t>
            </a:r>
            <a:r>
              <a:rPr lang="en-IN" sz="2000" dirty="0">
                <a:latin typeface="Times New Roman" panose="02020603050405020304" pitchFamily="18" charset="0"/>
                <a:cs typeface="Times New Roman" panose="02020603050405020304" pitchFamily="18" charset="0"/>
              </a:rPr>
              <a:t> implants.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Find the properties of the femur bone and implants, and the loading conditions during different activities.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Perform stress analysis simulation on each assembly.</a:t>
            </a:r>
          </a:p>
          <a:p>
            <a:pPr marL="342900" indent="-342900">
              <a:buFont typeface="Arial" panose="020B0604020202020204" pitchFamily="34" charset="0"/>
              <a:buChar char="•"/>
            </a:pPr>
            <a:r>
              <a:rPr lang="en-IN" sz="2000" dirty="0">
                <a:latin typeface="Times New Roman" panose="02020603050405020304" pitchFamily="18" charset="0"/>
                <a:ea typeface="+mn-lt"/>
                <a:cs typeface="Times New Roman" panose="02020603050405020304" pitchFamily="18" charset="0"/>
              </a:rPr>
              <a:t>Compare mechanical </a:t>
            </a:r>
            <a:r>
              <a:rPr lang="en-IN" sz="2000" dirty="0" err="1">
                <a:latin typeface="Times New Roman" panose="02020603050405020304" pitchFamily="18" charset="0"/>
                <a:ea typeface="+mn-lt"/>
                <a:cs typeface="Times New Roman" panose="02020603050405020304" pitchFamily="18" charset="0"/>
              </a:rPr>
              <a:t>behavior</a:t>
            </a:r>
            <a:r>
              <a:rPr lang="en-IN" sz="2000" dirty="0">
                <a:latin typeface="Times New Roman" panose="02020603050405020304" pitchFamily="18" charset="0"/>
                <a:ea typeface="+mn-lt"/>
                <a:cs typeface="Times New Roman" panose="02020603050405020304" pitchFamily="18" charset="0"/>
              </a:rPr>
              <a:t> against a healthy femur model.</a:t>
            </a:r>
          </a:p>
          <a:p>
            <a:pPr marL="342900" indent="-342900">
              <a:buFont typeface="Arial" panose="020B0604020202020204" pitchFamily="34" charset="0"/>
              <a:buChar char="•"/>
            </a:pPr>
            <a:r>
              <a:rPr lang="en-IN" sz="2000" dirty="0">
                <a:latin typeface="Times New Roman" panose="02020603050405020304" pitchFamily="18" charset="0"/>
                <a:ea typeface="+mn-lt"/>
                <a:cs typeface="Times New Roman" panose="02020603050405020304" pitchFamily="18" charset="0"/>
              </a:rPr>
              <a:t>Determine the implant with maximum stability and performance for the fracture.</a:t>
            </a:r>
          </a:p>
        </p:txBody>
      </p:sp>
    </p:spTree>
    <p:extLst>
      <p:ext uri="{BB962C8B-B14F-4D97-AF65-F5344CB8AC3E}">
        <p14:creationId xmlns:p14="http://schemas.microsoft.com/office/powerpoint/2010/main" val="3843308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F6D95187-D267-E4AD-4E66-515F439B19EC}"/>
              </a:ext>
            </a:extLst>
          </p:cNvPr>
          <p:cNvGraphicFramePr>
            <a:graphicFrameLocks noGrp="1"/>
          </p:cNvGraphicFramePr>
          <p:nvPr>
            <p:ph idx="1"/>
            <p:extLst>
              <p:ext uri="{D42A27DB-BD31-4B8C-83A1-F6EECF244321}">
                <p14:modId xmlns:p14="http://schemas.microsoft.com/office/powerpoint/2010/main" val="2547250953"/>
              </p:ext>
            </p:extLst>
          </p:nvPr>
        </p:nvGraphicFramePr>
        <p:xfrm>
          <a:off x="207389" y="1034415"/>
          <a:ext cx="8729222" cy="5125720"/>
        </p:xfrm>
        <a:graphic>
          <a:graphicData uri="http://schemas.openxmlformats.org/drawingml/2006/table">
            <a:tbl>
              <a:tblPr firstRow="1" bandRow="1">
                <a:tableStyleId>{775DCB02-9BB8-47FD-8907-85C794F793BA}</a:tableStyleId>
              </a:tblPr>
              <a:tblGrid>
                <a:gridCol w="2498105">
                  <a:extLst>
                    <a:ext uri="{9D8B030D-6E8A-4147-A177-3AD203B41FA5}">
                      <a16:colId xmlns:a16="http://schemas.microsoft.com/office/drawing/2014/main" val="3805073203"/>
                    </a:ext>
                  </a:extLst>
                </a:gridCol>
                <a:gridCol w="3082565">
                  <a:extLst>
                    <a:ext uri="{9D8B030D-6E8A-4147-A177-3AD203B41FA5}">
                      <a16:colId xmlns:a16="http://schemas.microsoft.com/office/drawing/2014/main" val="1359874028"/>
                    </a:ext>
                  </a:extLst>
                </a:gridCol>
                <a:gridCol w="3148552">
                  <a:extLst>
                    <a:ext uri="{9D8B030D-6E8A-4147-A177-3AD203B41FA5}">
                      <a16:colId xmlns:a16="http://schemas.microsoft.com/office/drawing/2014/main" val="3357490393"/>
                    </a:ext>
                  </a:extLst>
                </a:gridCol>
              </a:tblGrid>
              <a:tr h="370840">
                <a:tc>
                  <a:txBody>
                    <a:bodyPr/>
                    <a:lstStyle/>
                    <a:p>
                      <a:pPr algn="ctr"/>
                      <a:r>
                        <a:rPr lang="en-US" sz="1400" dirty="0">
                          <a:latin typeface="Times New Roman" panose="02020603050405020304" pitchFamily="18" charset="0"/>
                          <a:cs typeface="Times New Roman" panose="02020603050405020304" pitchFamily="18" charset="0"/>
                        </a:rPr>
                        <a:t>Reference details</a:t>
                      </a:r>
                    </a:p>
                  </a:txBody>
                  <a:tcPr/>
                </a:tc>
                <a:tc>
                  <a:txBody>
                    <a:bodyPr/>
                    <a:lstStyle/>
                    <a:p>
                      <a:pPr algn="ctr"/>
                      <a:r>
                        <a:rPr lang="en-US" sz="1400" dirty="0">
                          <a:latin typeface="Times New Roman" panose="02020603050405020304" pitchFamily="18" charset="0"/>
                          <a:cs typeface="Times New Roman" panose="02020603050405020304" pitchFamily="18" charset="0"/>
                        </a:rPr>
                        <a:t>Description of work carried out</a:t>
                      </a:r>
                    </a:p>
                  </a:txBody>
                  <a:tcPr/>
                </a:tc>
                <a:tc>
                  <a:txBody>
                    <a:bodyPr/>
                    <a:lstStyle/>
                    <a:p>
                      <a:pPr algn="ctr"/>
                      <a:r>
                        <a:rPr lang="en-US" sz="1400" dirty="0">
                          <a:latin typeface="Times New Roman" panose="02020603050405020304" pitchFamily="18" charset="0"/>
                          <a:cs typeface="Times New Roman" panose="02020603050405020304" pitchFamily="18" charset="0"/>
                        </a:rPr>
                        <a:t>Outcome</a:t>
                      </a:r>
                    </a:p>
                  </a:txBody>
                  <a:tcPr/>
                </a:tc>
                <a:extLst>
                  <a:ext uri="{0D108BD9-81ED-4DB2-BD59-A6C34878D82A}">
                    <a16:rowId xmlns:a16="http://schemas.microsoft.com/office/drawing/2014/main" val="2674661652"/>
                  </a:ext>
                </a:extLst>
              </a:tr>
              <a:tr h="370840">
                <a:tc>
                  <a:txBody>
                    <a:bodyPr/>
                    <a:lstStyle/>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Tianhao Yang, Faez Noraddin, </a:t>
                      </a:r>
                      <a:r>
                        <a:rPr lang="en-US" sz="1400" b="0" i="0" u="none" strike="noStrike" kern="1200" baseline="0" dirty="0" err="1">
                          <a:solidFill>
                            <a:schemeClr val="dk1"/>
                          </a:solidFill>
                          <a:latin typeface="Times New Roman" panose="02020603050405020304" pitchFamily="18" charset="0"/>
                          <a:ea typeface="+mn-ea"/>
                          <a:cs typeface="Times New Roman" panose="02020603050405020304" pitchFamily="18" charset="0"/>
                        </a:rPr>
                        <a:t>Baozhe</a:t>
                      </a:r>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 Liu, Zegen Zhang, Hai-Lun Gu [1]</a:t>
                      </a:r>
                    </a:p>
                    <a:p>
                      <a:endPar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October 2025</a:t>
                      </a:r>
                    </a:p>
                  </a:txBody>
                  <a:tcPr/>
                </a:tc>
                <a:tc>
                  <a:txBody>
                    <a:bodyPr/>
                    <a:lstStyle/>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Performed finite element analysis for implant selection and screw positioning in proximal femoral </a:t>
                      </a:r>
                      <a:r>
                        <a:rPr lang="en-US" sz="1400" b="0" i="0" u="none" strike="noStrike" kern="1200" baseline="0" dirty="0" err="1">
                          <a:solidFill>
                            <a:schemeClr val="dk1"/>
                          </a:solidFill>
                          <a:latin typeface="Times New Roman" panose="02020603050405020304" pitchFamily="18" charset="0"/>
                          <a:ea typeface="+mn-ea"/>
                          <a:cs typeface="Times New Roman" panose="02020603050405020304" pitchFamily="18" charset="0"/>
                        </a:rPr>
                        <a:t>basicervical</a:t>
                      </a:r>
                      <a:endPar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Fractures.</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Their study concluded that implant geometry and screw placement play an important role in reducing stress concentration and micromotion at the fracture site. Proper screw positioning significantly improves fixation stability and decreases risk of cut-out failure.</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65481593"/>
                  </a:ext>
                </a:extLst>
              </a:tr>
              <a:tr h="370840">
                <a:tc>
                  <a:txBody>
                    <a:bodyPr/>
                    <a:lstStyle/>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Huang X, Yu B, Gu Y, Li Z [2]</a:t>
                      </a:r>
                    </a:p>
                    <a:p>
                      <a:endPar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2017</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Conducted a finite element study comparing the Dynamic Hip Screw and Gamma nail for the treatment of unstable trochanteric fractures.</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Their study demonstrated that</a:t>
                      </a:r>
                    </a:p>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the Gamma nail exhibited lower implant stress and better load-sharing properties compared to DHS, particularly in unstable fracture patterns. The results highlighted the biomechanical superiority of intramedullary devices.</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9183882"/>
                  </a:ext>
                </a:extLst>
              </a:tr>
              <a:tr h="370840">
                <a:tc>
                  <a:txBody>
                    <a:bodyPr/>
                    <a:lstStyle/>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Li C-T, Chang C-W, Chen Y-N [3]</a:t>
                      </a:r>
                    </a:p>
                    <a:p>
                      <a:endPar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March 2026</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A finite element model was developed to </a:t>
                      </a:r>
                      <a:r>
                        <a:rPr lang="en-US" sz="1400" dirty="0" err="1">
                          <a:latin typeface="Times New Roman" panose="02020603050405020304" pitchFamily="18" charset="0"/>
                          <a:cs typeface="Times New Roman" panose="02020603050405020304" pitchFamily="18" charset="0"/>
                        </a:rPr>
                        <a:t>analyse</a:t>
                      </a:r>
                      <a:r>
                        <a:rPr lang="en-US" sz="1400" dirty="0">
                          <a:latin typeface="Times New Roman" panose="02020603050405020304" pitchFamily="18" charset="0"/>
                          <a:cs typeface="Times New Roman" panose="02020603050405020304" pitchFamily="18" charset="0"/>
                        </a:rPr>
                        <a:t> femoral neck, intertrochanteric, and reverse intertrochanteric fractures using different implant configurations including BN, PFN-M, ITAN, PFN, and DHS under simulated walking loads.</a:t>
                      </a:r>
                    </a:p>
                  </a:txBody>
                  <a:tcPr/>
                </a:tc>
                <a:tc>
                  <a:txBody>
                    <a:bodyPr/>
                    <a:lstStyle/>
                    <a:p>
                      <a:r>
                        <a:rPr lang="en-US" sz="1400" dirty="0">
                          <a:latin typeface="Times New Roman" panose="02020603050405020304" pitchFamily="18" charset="0"/>
                          <a:cs typeface="Times New Roman" panose="02020603050405020304" pitchFamily="18" charset="0"/>
                        </a:rPr>
                        <a:t>The ITAN implant showed the highest stability for femoral neck fractures, whereas PFN-M showed better performance for reverse intertrochanteric fractures by minimizing medial and lateral fracture gap deformation.</a:t>
                      </a:r>
                    </a:p>
                  </a:txBody>
                  <a:tcPr/>
                </a:tc>
                <a:extLst>
                  <a:ext uri="{0D108BD9-81ED-4DB2-BD59-A6C34878D82A}">
                    <a16:rowId xmlns:a16="http://schemas.microsoft.com/office/drawing/2014/main" val="3022974407"/>
                  </a:ext>
                </a:extLst>
              </a:tr>
            </a:tbl>
          </a:graphicData>
        </a:graphic>
      </p:graphicFrame>
      <p:sp>
        <p:nvSpPr>
          <p:cNvPr id="4" name="Date Placeholder 3"/>
          <p:cNvSpPr>
            <a:spLocks noGrp="1"/>
          </p:cNvSpPr>
          <p:nvPr>
            <p:ph type="dt" sz="half" idx="10"/>
          </p:nvPr>
        </p:nvSpPr>
        <p:spPr/>
        <p:txBody>
          <a:bodyPr/>
          <a:lstStyle/>
          <a:p>
            <a:fld id="{A91438D0-4145-4F3E-B1D0-7259D3036986}"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5" name="Footer Placeholder 4"/>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8</a:t>
            </a:fld>
            <a:endParaRPr lang="en-US">
              <a:latin typeface="Times New Roman" panose="02020603050405020304" pitchFamily="18" charset="0"/>
              <a:cs typeface="Times New Roman" panose="02020603050405020304" pitchFamily="18" charset="0"/>
            </a:endParaRPr>
          </a:p>
        </p:txBody>
      </p:sp>
      <p:sp>
        <p:nvSpPr>
          <p:cNvPr id="7" name="Title 4"/>
          <p:cNvSpPr txBox="1">
            <a:spLocks/>
          </p:cNvSpPr>
          <p:nvPr/>
        </p:nvSpPr>
        <p:spPr>
          <a:xfrm>
            <a:off x="438807" y="304800"/>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Literature Survey </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6653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5EEB2-2257-5416-D81C-9345305D9C1C}"/>
            </a:ext>
          </a:extLst>
        </p:cNvPr>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7F25B6E2-560D-127D-A652-4AF0A74D7447}"/>
              </a:ext>
            </a:extLst>
          </p:cNvPr>
          <p:cNvGraphicFramePr>
            <a:graphicFrameLocks noGrp="1"/>
          </p:cNvGraphicFramePr>
          <p:nvPr>
            <p:ph idx="1"/>
            <p:extLst>
              <p:ext uri="{D42A27DB-BD31-4B8C-83A1-F6EECF244321}">
                <p14:modId xmlns:p14="http://schemas.microsoft.com/office/powerpoint/2010/main" val="2712356668"/>
              </p:ext>
            </p:extLst>
          </p:nvPr>
        </p:nvGraphicFramePr>
        <p:xfrm>
          <a:off x="207389" y="1034415"/>
          <a:ext cx="8729222" cy="5125720"/>
        </p:xfrm>
        <a:graphic>
          <a:graphicData uri="http://schemas.openxmlformats.org/drawingml/2006/table">
            <a:tbl>
              <a:tblPr firstRow="1" bandRow="1">
                <a:tableStyleId>{775DCB02-9BB8-47FD-8907-85C794F793BA}</a:tableStyleId>
              </a:tblPr>
              <a:tblGrid>
                <a:gridCol w="2498105">
                  <a:extLst>
                    <a:ext uri="{9D8B030D-6E8A-4147-A177-3AD203B41FA5}">
                      <a16:colId xmlns:a16="http://schemas.microsoft.com/office/drawing/2014/main" val="3805073203"/>
                    </a:ext>
                  </a:extLst>
                </a:gridCol>
                <a:gridCol w="3082565">
                  <a:extLst>
                    <a:ext uri="{9D8B030D-6E8A-4147-A177-3AD203B41FA5}">
                      <a16:colId xmlns:a16="http://schemas.microsoft.com/office/drawing/2014/main" val="1359874028"/>
                    </a:ext>
                  </a:extLst>
                </a:gridCol>
                <a:gridCol w="3148552">
                  <a:extLst>
                    <a:ext uri="{9D8B030D-6E8A-4147-A177-3AD203B41FA5}">
                      <a16:colId xmlns:a16="http://schemas.microsoft.com/office/drawing/2014/main" val="3357490393"/>
                    </a:ext>
                  </a:extLst>
                </a:gridCol>
              </a:tblGrid>
              <a:tr h="370840">
                <a:tc>
                  <a:txBody>
                    <a:bodyPr/>
                    <a:lstStyle/>
                    <a:p>
                      <a:pPr algn="ctr"/>
                      <a:r>
                        <a:rPr lang="en-US" sz="1400" dirty="0">
                          <a:latin typeface="Times New Roman" panose="02020603050405020304" pitchFamily="18" charset="0"/>
                          <a:cs typeface="Times New Roman" panose="02020603050405020304" pitchFamily="18" charset="0"/>
                        </a:rPr>
                        <a:t>Reference details</a:t>
                      </a:r>
                    </a:p>
                  </a:txBody>
                  <a:tcPr/>
                </a:tc>
                <a:tc>
                  <a:txBody>
                    <a:bodyPr/>
                    <a:lstStyle/>
                    <a:p>
                      <a:pPr algn="ctr"/>
                      <a:r>
                        <a:rPr lang="en-US" sz="1400" dirty="0">
                          <a:latin typeface="Times New Roman" panose="02020603050405020304" pitchFamily="18" charset="0"/>
                          <a:cs typeface="Times New Roman" panose="02020603050405020304" pitchFamily="18" charset="0"/>
                        </a:rPr>
                        <a:t>Description of work carried out</a:t>
                      </a:r>
                    </a:p>
                  </a:txBody>
                  <a:tcPr/>
                </a:tc>
                <a:tc>
                  <a:txBody>
                    <a:bodyPr/>
                    <a:lstStyle/>
                    <a:p>
                      <a:pPr algn="ctr"/>
                      <a:r>
                        <a:rPr lang="en-US" sz="1400" dirty="0">
                          <a:latin typeface="Times New Roman" panose="02020603050405020304" pitchFamily="18" charset="0"/>
                          <a:cs typeface="Times New Roman" panose="02020603050405020304" pitchFamily="18" charset="0"/>
                        </a:rPr>
                        <a:t>Outcome</a:t>
                      </a:r>
                    </a:p>
                  </a:txBody>
                  <a:tcPr/>
                </a:tc>
                <a:extLst>
                  <a:ext uri="{0D108BD9-81ED-4DB2-BD59-A6C34878D82A}">
                    <a16:rowId xmlns:a16="http://schemas.microsoft.com/office/drawing/2014/main" val="2674661652"/>
                  </a:ext>
                </a:extLst>
              </a:tr>
              <a:tr h="370840">
                <a:tc>
                  <a:txBody>
                    <a:bodyPr/>
                    <a:lstStyle/>
                    <a:p>
                      <a:r>
                        <a:rPr lang="pt-BR"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Mustamsir E, Aji AP, Fernando A [4]</a:t>
                      </a:r>
                    </a:p>
                    <a:p>
                      <a:endPar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June 2024</a:t>
                      </a:r>
                    </a:p>
                  </a:txBody>
                  <a:tcPr/>
                </a:tc>
                <a:tc>
                  <a:txBody>
                    <a:bodyPr/>
                    <a:lstStyle/>
                    <a:p>
                      <a:pPr lvl="0" algn="l">
                        <a:lnSpc>
                          <a:spcPct val="100000"/>
                        </a:lnSpc>
                        <a:spcBef>
                          <a:spcPts val="0"/>
                        </a:spcBef>
                        <a:spcAft>
                          <a:spcPts val="0"/>
                        </a:spcAft>
                        <a:buNone/>
                      </a:pPr>
                      <a:r>
                        <a:rPr lang="en-US" sz="1400" u="none" strike="noStrike" kern="1200" noProof="0" dirty="0">
                          <a:solidFill>
                            <a:srgbClr val="000000"/>
                          </a:solidFill>
                          <a:latin typeface="Times New Roman" panose="02020603050405020304" pitchFamily="18" charset="0"/>
                          <a:cs typeface="Times New Roman" panose="02020603050405020304" pitchFamily="18" charset="0"/>
                        </a:rPr>
                        <a:t>The researchers performed a registered systematic review and meta-analysis and included 10 papers with 1,149 patients (PFNA and DHS). They included Harris Hip Scores, major complication and perioperative measures with Risk of Bias assessment and sensitivity analysis.</a:t>
                      </a:r>
                      <a:endParaRPr lang="en-US" sz="1400" dirty="0">
                        <a:solidFill>
                          <a:srgbClr val="000000"/>
                        </a:solidFill>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400" u="none" strike="noStrike" kern="1200" noProof="0" dirty="0">
                          <a:solidFill>
                            <a:srgbClr val="000000"/>
                          </a:solidFill>
                          <a:latin typeface="Times New Roman" panose="02020603050405020304" pitchFamily="18" charset="0"/>
                          <a:cs typeface="Times New Roman" panose="02020603050405020304" pitchFamily="18" charset="0"/>
                        </a:rPr>
                        <a:t>The PFN patients experienced shorter surgery (19 min shorter), and less blood loss (89 ml less) compared with DHS. Implant failure occurred in 1.6% of PFNA cases and 3.5% of DHS cases (not a significant difference). The functional outcomes were similar.</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65481593"/>
                  </a:ext>
                </a:extLst>
              </a:tr>
              <a:tr h="370840">
                <a:tc>
                  <a:txBody>
                    <a:bodyPr/>
                    <a:lstStyle/>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Rogalski, Martelli, Pandy, and Kersh </a:t>
                      </a:r>
                      <a:r>
                        <a:rPr lang="de-DE"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[5]</a:t>
                      </a:r>
                      <a:endPar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endPar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2025</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Studied the influence of muscle forces on strain distribution in the proximal femur using subject-specific finite element models.</a:t>
                      </a:r>
                      <a:endParaRPr lang="en-US" sz="1400" dirty="0">
                        <a:latin typeface="Times New Roman" panose="02020603050405020304" pitchFamily="18" charset="0"/>
                        <a:cs typeface="Times New Roman" panose="02020603050405020304" pitchFamily="18" charset="0"/>
                      </a:endParaRPr>
                    </a:p>
                  </a:txBody>
                  <a:tcPr/>
                </a:tc>
                <a:tc>
                  <a:txBody>
                    <a:bodyPr/>
                    <a:lstStyle/>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Their results showed that inclusion of hip-spanning muscle forces significantly reduced abnormal strain concentrations and changed the loading mode of the femoral neck from bending to compressive loading.</a:t>
                      </a: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9183882"/>
                  </a:ext>
                </a:extLst>
              </a:tr>
              <a:tr h="0">
                <a:tc>
                  <a:txBody>
                    <a:bodyPr/>
                    <a:lstStyle/>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Gao-Xiang Yuan, Yu-Hui Shen, Bo Chen, Wei-Bin Zhang [6]</a:t>
                      </a:r>
                    </a:p>
                    <a:p>
                      <a:endPar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p>
                      <a:r>
                        <a:rPr lang="en-US" sz="1400" b="0" i="0" u="none" strike="noStrike" kern="1200" baseline="0" dirty="0">
                          <a:solidFill>
                            <a:schemeClr val="dk1"/>
                          </a:solidFill>
                          <a:latin typeface="Times New Roman" panose="02020603050405020304" pitchFamily="18" charset="0"/>
                          <a:ea typeface="+mn-ea"/>
                          <a:cs typeface="Times New Roman" panose="02020603050405020304" pitchFamily="18" charset="0"/>
                        </a:rPr>
                        <a:t>2012</a:t>
                      </a:r>
                      <a:endParaRPr lang="en-US"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u="none" strike="noStrike" kern="1200" noProof="0" dirty="0">
                          <a:solidFill>
                            <a:srgbClr val="000000"/>
                          </a:solidFill>
                          <a:latin typeface="Times New Roman" panose="02020603050405020304" pitchFamily="18" charset="0"/>
                          <a:cs typeface="Times New Roman" panose="02020603050405020304" pitchFamily="18" charset="0"/>
                        </a:rPr>
                        <a:t>The patients with intertrochanteric femoral fractures treated with the fixation of dynamic hip screw (DHS) were retrospectively studied. Functional outcomes, union rates, and complications were compared to evaluate the success of DHS fixation.</a:t>
                      </a:r>
                      <a:endParaRPr lang="en-US" sz="1400" dirty="0">
                        <a:solidFill>
                          <a:srgbClr val="000000"/>
                        </a:solidFill>
                        <a:latin typeface="Times New Roman" panose="02020603050405020304" pitchFamily="18" charset="0"/>
                        <a:cs typeface="Times New Roman" panose="02020603050405020304" pitchFamily="18" charset="0"/>
                      </a:endParaRPr>
                    </a:p>
                  </a:txBody>
                  <a:tcPr/>
                </a:tc>
                <a:tc>
                  <a:txBody>
                    <a:bodyPr/>
                    <a:lstStyle/>
                    <a:p>
                      <a:pPr lvl="0" algn="l">
                        <a:lnSpc>
                          <a:spcPct val="100000"/>
                        </a:lnSpc>
                        <a:spcBef>
                          <a:spcPts val="0"/>
                        </a:spcBef>
                        <a:spcAft>
                          <a:spcPts val="0"/>
                        </a:spcAft>
                        <a:buNone/>
                      </a:pPr>
                      <a:r>
                        <a:rPr lang="en-US" sz="1400" u="none" strike="noStrike" kern="1200" noProof="0" dirty="0">
                          <a:solidFill>
                            <a:srgbClr val="000000"/>
                          </a:solidFill>
                          <a:latin typeface="Times New Roman" panose="02020603050405020304" pitchFamily="18" charset="0"/>
                          <a:cs typeface="Times New Roman" panose="02020603050405020304" pitchFamily="18" charset="0"/>
                        </a:rPr>
                        <a:t>Most fractures healed uneventfully with high union rates. Complications were implant failure, varus deformity, and shortening of the limb, but overall DHS fixation yielded satisfactory functional and radiological results in elderly patients with intertrochanteric fractures.</a:t>
                      </a:r>
                      <a:endParaRPr lang="en-US" sz="1400" dirty="0">
                        <a:solidFill>
                          <a:srgbClr val="0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22974407"/>
                  </a:ext>
                </a:extLst>
              </a:tr>
            </a:tbl>
          </a:graphicData>
        </a:graphic>
      </p:graphicFrame>
      <p:sp>
        <p:nvSpPr>
          <p:cNvPr id="4" name="Date Placeholder 3">
            <a:extLst>
              <a:ext uri="{FF2B5EF4-FFF2-40B4-BE49-F238E27FC236}">
                <a16:creationId xmlns:a16="http://schemas.microsoft.com/office/drawing/2014/main" id="{39D47D0B-3718-B495-DD33-A340994F5A6B}"/>
              </a:ext>
            </a:extLst>
          </p:cNvPr>
          <p:cNvSpPr>
            <a:spLocks noGrp="1"/>
          </p:cNvSpPr>
          <p:nvPr>
            <p:ph type="dt" sz="half" idx="10"/>
          </p:nvPr>
        </p:nvSpPr>
        <p:spPr/>
        <p:txBody>
          <a:bodyPr/>
          <a:lstStyle/>
          <a:p>
            <a:fld id="{A91438D0-4145-4F3E-B1D0-7259D3036986}"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2C4BDE2D-8339-5218-A5E5-9B484465CD22}"/>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6" name="Slide Number Placeholder 5">
            <a:extLst>
              <a:ext uri="{FF2B5EF4-FFF2-40B4-BE49-F238E27FC236}">
                <a16:creationId xmlns:a16="http://schemas.microsoft.com/office/drawing/2014/main" id="{C015AD1C-443A-47A9-8153-48900054B467}"/>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9</a:t>
            </a:fld>
            <a:endParaRPr lang="en-US">
              <a:latin typeface="Times New Roman" panose="02020603050405020304" pitchFamily="18" charset="0"/>
              <a:cs typeface="Times New Roman" panose="02020603050405020304" pitchFamily="18" charset="0"/>
            </a:endParaRPr>
          </a:p>
        </p:txBody>
      </p:sp>
      <p:sp>
        <p:nvSpPr>
          <p:cNvPr id="7" name="Title 4">
            <a:extLst>
              <a:ext uri="{FF2B5EF4-FFF2-40B4-BE49-F238E27FC236}">
                <a16:creationId xmlns:a16="http://schemas.microsoft.com/office/drawing/2014/main" id="{915C303F-64FB-6468-890A-69EE684955C0}"/>
              </a:ext>
            </a:extLst>
          </p:cNvPr>
          <p:cNvSpPr txBox="1">
            <a:spLocks/>
          </p:cNvSpPr>
          <p:nvPr/>
        </p:nvSpPr>
        <p:spPr>
          <a:xfrm>
            <a:off x="438807" y="304800"/>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Literature Survey </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1018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6DB1-19CD-B6D9-27E9-42762BD87B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AA54B7-BAFA-F12E-88D1-82F33491EC48}"/>
              </a:ext>
            </a:extLst>
          </p:cNvPr>
          <p:cNvSpPr>
            <a:spLocks noGrp="1"/>
          </p:cNvSpPr>
          <p:nvPr>
            <p:ph idx="1"/>
          </p:nvPr>
        </p:nvSpPr>
        <p:spPr>
          <a:xfrm>
            <a:off x="438807" y="1143000"/>
            <a:ext cx="8239943" cy="4877655"/>
          </a:xfrm>
        </p:spPr>
        <p:txBody>
          <a:bodyPr vert="horz" lIns="91440" tIns="45720" rIns="91440" bIns="45720" rtlCol="0" anchor="t">
            <a:normAutofit lnSpcReduction="10000"/>
          </a:bodyPr>
          <a:lstStyle/>
          <a:p>
            <a:r>
              <a:rPr lang="en-IN" sz="2000" dirty="0">
                <a:latin typeface="Times New Roman" panose="02020603050405020304" pitchFamily="18" charset="0"/>
                <a:ea typeface="Calibri"/>
                <a:cs typeface="Times New Roman" panose="02020603050405020304" pitchFamily="18" charset="0"/>
              </a:rPr>
              <a:t>Nature of most of the studies and research papers is </a:t>
            </a:r>
            <a:r>
              <a:rPr lang="en-IN" sz="2000" b="1" dirty="0">
                <a:latin typeface="Times New Roman" panose="02020603050405020304" pitchFamily="18" charset="0"/>
                <a:ea typeface="Calibri"/>
                <a:cs typeface="Times New Roman" panose="02020603050405020304" pitchFamily="18" charset="0"/>
              </a:rPr>
              <a:t>retrospective.</a:t>
            </a:r>
          </a:p>
          <a:p>
            <a:r>
              <a:rPr lang="en-IN" sz="2000" b="1" dirty="0">
                <a:latin typeface="Times New Roman" panose="02020603050405020304" pitchFamily="18" charset="0"/>
                <a:ea typeface="Calibri"/>
                <a:cs typeface="Times New Roman" panose="02020603050405020304" pitchFamily="18" charset="0"/>
              </a:rPr>
              <a:t>Patient Specificity &amp; Generalizability </a:t>
            </a:r>
            <a:endParaRPr lang="en-US" sz="2000" dirty="0">
              <a:latin typeface="Times New Roman" panose="02020603050405020304" pitchFamily="18" charset="0"/>
              <a:ea typeface="Calibri"/>
              <a:cs typeface="Times New Roman" panose="02020603050405020304" pitchFamily="18" charset="0"/>
            </a:endParaRPr>
          </a:p>
          <a:p>
            <a:r>
              <a:rPr lang="en-IN" sz="2000" b="1" dirty="0" smtClean="0">
                <a:latin typeface="Times New Roman" panose="02020603050405020304" pitchFamily="18" charset="0"/>
                <a:ea typeface="Calibri"/>
                <a:cs typeface="Times New Roman" panose="02020603050405020304" pitchFamily="18" charset="0"/>
              </a:rPr>
              <a:t>Loading </a:t>
            </a:r>
            <a:r>
              <a:rPr lang="en-IN" sz="2000" b="1" dirty="0">
                <a:latin typeface="Times New Roman" panose="02020603050405020304" pitchFamily="18" charset="0"/>
                <a:ea typeface="Calibri"/>
                <a:cs typeface="Times New Roman" panose="02020603050405020304" pitchFamily="18" charset="0"/>
              </a:rPr>
              <a:t>conditions</a:t>
            </a:r>
          </a:p>
          <a:p>
            <a:r>
              <a:rPr lang="en-IN" sz="2000" b="1" dirty="0" smtClean="0">
                <a:latin typeface="Times New Roman" panose="02020603050405020304" pitchFamily="18" charset="0"/>
                <a:ea typeface="Calibri"/>
                <a:cs typeface="Times New Roman" panose="02020603050405020304" pitchFamily="18" charset="0"/>
              </a:rPr>
              <a:t>Model simplification</a:t>
            </a:r>
          </a:p>
          <a:p>
            <a:endParaRPr lang="en-US" sz="2000" dirty="0">
              <a:latin typeface="Times New Roman" panose="02020603050405020304" pitchFamily="18" charset="0"/>
              <a:ea typeface="Calibri"/>
              <a:cs typeface="Times New Roman" panose="02020603050405020304" pitchFamily="18" charset="0"/>
            </a:endParaRPr>
          </a:p>
          <a:p>
            <a:pPr marL="0" indent="0">
              <a:buNone/>
            </a:pPr>
            <a:r>
              <a:rPr lang="en-US" sz="2000" b="1" dirty="0">
                <a:latin typeface="Times New Roman" panose="02020603050405020304" pitchFamily="18" charset="0"/>
                <a:ea typeface="Calibri"/>
                <a:cs typeface="Times New Roman" panose="02020603050405020304" pitchFamily="18" charset="0"/>
              </a:rPr>
              <a:t>Scope:</a:t>
            </a:r>
          </a:p>
          <a:p>
            <a:pPr algn="l"/>
            <a:r>
              <a:rPr lang="en-US" sz="2000" dirty="0">
                <a:latin typeface="Times New Roman" panose="02020603050405020304" pitchFamily="18" charset="0"/>
                <a:cs typeface="Times New Roman" panose="02020603050405020304" pitchFamily="18" charset="0"/>
              </a:rPr>
              <a:t>Biomechanical comparison of intertrochanteric implants using FEA under </a:t>
            </a:r>
            <a:r>
              <a:rPr lang="en-US" sz="2000" b="0" i="0" u="none" strike="noStrike" baseline="0" dirty="0">
                <a:latin typeface="Times New Roman" panose="02020603050405020304" pitchFamily="18" charset="0"/>
                <a:cs typeface="Times New Roman" panose="02020603050405020304" pitchFamily="18" charset="0"/>
              </a:rPr>
              <a:t>identical loading, geometry, and material assumptions.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Evaluation of stress distribution, deformation, and load-sharing behavior under fractured and healed conditions.</a:t>
            </a:r>
          </a:p>
          <a:p>
            <a:pPr algn="l"/>
            <a:r>
              <a:rPr lang="en-US" sz="2000" dirty="0">
                <a:latin typeface="Times New Roman" panose="02020603050405020304" pitchFamily="18" charset="0"/>
                <a:cs typeface="Times New Roman" panose="02020603050405020304" pitchFamily="18" charset="0"/>
              </a:rPr>
              <a:t>Comparative analysis of </a:t>
            </a:r>
            <a:r>
              <a:rPr lang="en-US" sz="2000" b="0" i="0" u="none" strike="noStrike" baseline="0" dirty="0">
                <a:latin typeface="Times New Roman" panose="02020603050405020304" pitchFamily="18" charset="0"/>
                <a:cs typeface="Times New Roman" panose="02020603050405020304" pitchFamily="18" charset="0"/>
              </a:rPr>
              <a:t>DHS, Angled Blade Plate, PFN, PFNA-II, and InterTAN.</a:t>
            </a:r>
          </a:p>
          <a:p>
            <a:r>
              <a:rPr lang="en-US" sz="2000" dirty="0">
                <a:latin typeface="Times New Roman" panose="02020603050405020304" pitchFamily="18" charset="0"/>
                <a:cs typeface="Times New Roman" panose="02020603050405020304" pitchFamily="18" charset="0"/>
              </a:rPr>
              <a:t>Loading conditions represents one-legged stance.</a:t>
            </a:r>
            <a:endParaRPr lang="en-IN" sz="2000" dirty="0">
              <a:latin typeface="Times New Roman" panose="02020603050405020304" pitchFamily="18" charset="0"/>
              <a:ea typeface="Calibri"/>
              <a:cs typeface="Times New Roman" panose="02020603050405020304" pitchFamily="18" charset="0"/>
            </a:endParaRPr>
          </a:p>
        </p:txBody>
      </p:sp>
      <p:sp>
        <p:nvSpPr>
          <p:cNvPr id="4" name="Date Placeholder 3">
            <a:extLst>
              <a:ext uri="{FF2B5EF4-FFF2-40B4-BE49-F238E27FC236}">
                <a16:creationId xmlns:a16="http://schemas.microsoft.com/office/drawing/2014/main" id="{B29A275F-DF81-0BD4-E578-15EB367E6A8D}"/>
              </a:ext>
            </a:extLst>
          </p:cNvPr>
          <p:cNvSpPr>
            <a:spLocks noGrp="1"/>
          </p:cNvSpPr>
          <p:nvPr>
            <p:ph type="dt" sz="half" idx="10"/>
          </p:nvPr>
        </p:nvSpPr>
        <p:spPr/>
        <p:txBody>
          <a:bodyPr/>
          <a:lstStyle/>
          <a:p>
            <a:fld id="{A91438D0-4145-4F3E-B1D0-7259D3036986}"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44F719B9-90AB-C8B6-921C-3329096F1730}"/>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6" name="Slide Number Placeholder 5">
            <a:extLst>
              <a:ext uri="{FF2B5EF4-FFF2-40B4-BE49-F238E27FC236}">
                <a16:creationId xmlns:a16="http://schemas.microsoft.com/office/drawing/2014/main" id="{6951FFC6-A33A-6090-D811-FE95DE5144CD}"/>
              </a:ext>
            </a:extLst>
          </p:cNvPr>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10</a:t>
            </a:fld>
            <a:endParaRPr lang="en-US">
              <a:latin typeface="Times New Roman" panose="02020603050405020304" pitchFamily="18" charset="0"/>
              <a:cs typeface="Times New Roman" panose="02020603050405020304" pitchFamily="18" charset="0"/>
            </a:endParaRPr>
          </a:p>
        </p:txBody>
      </p:sp>
      <p:sp>
        <p:nvSpPr>
          <p:cNvPr id="7" name="Title 4">
            <a:extLst>
              <a:ext uri="{FF2B5EF4-FFF2-40B4-BE49-F238E27FC236}">
                <a16:creationId xmlns:a16="http://schemas.microsoft.com/office/drawing/2014/main" id="{D2D3E85E-8DE5-EDD5-EDBE-3621A26DF0BF}"/>
              </a:ext>
            </a:extLst>
          </p:cNvPr>
          <p:cNvSpPr txBox="1">
            <a:spLocks/>
          </p:cNvSpPr>
          <p:nvPr/>
        </p:nvSpPr>
        <p:spPr>
          <a:xfrm>
            <a:off x="438807" y="304800"/>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Literature Survey </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1106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307438"/>
            <a:ext cx="8219257" cy="4818725"/>
          </a:xfrm>
        </p:spPr>
        <p:txBody>
          <a:bodyPr vert="horz" lIns="91440" tIns="45720" rIns="91440" bIns="45720" rtlCol="0" anchor="t">
            <a:noAutofit/>
          </a:bodyPr>
          <a:lstStyle/>
          <a:p>
            <a:pPr marL="0" indent="0">
              <a:buNone/>
            </a:pPr>
            <a:r>
              <a:rPr lang="en-IN" sz="2000" b="1" dirty="0">
                <a:latin typeface="Times New Roman" panose="02020603050405020304" pitchFamily="18" charset="0"/>
                <a:ea typeface="+mn-lt"/>
                <a:cs typeface="Times New Roman" panose="02020603050405020304" pitchFamily="18" charset="0"/>
              </a:rPr>
              <a:t>Clinical Consultation:</a:t>
            </a:r>
            <a:r>
              <a:rPr lang="en-IN" sz="2000" dirty="0">
                <a:latin typeface="Times New Roman" panose="02020603050405020304" pitchFamily="18" charset="0"/>
                <a:ea typeface="+mn-lt"/>
                <a:cs typeface="Times New Roman" panose="02020603050405020304" pitchFamily="18" charset="0"/>
              </a:rPr>
              <a:t> </a:t>
            </a:r>
            <a:endParaRPr lang="en-US" sz="2000" dirty="0">
              <a:latin typeface="Times New Roman" panose="02020603050405020304" pitchFamily="18" charset="0"/>
              <a:ea typeface="Calibri"/>
              <a:cs typeface="Times New Roman" panose="02020603050405020304" pitchFamily="18" charset="0"/>
            </a:endParaRPr>
          </a:p>
          <a:p>
            <a:r>
              <a:rPr lang="en-IN" sz="2000" dirty="0">
                <a:latin typeface="Times New Roman" panose="02020603050405020304" pitchFamily="18" charset="0"/>
                <a:ea typeface="Calibri"/>
                <a:cs typeface="Times New Roman" panose="02020603050405020304" pitchFamily="18" charset="0"/>
              </a:rPr>
              <a:t>Following the clinical consultation, detailed dimensional measurements of all implant components were carried out to develop accurate three-dimensional CAD models.</a:t>
            </a:r>
            <a:endParaRPr lang="en-IN" sz="2000" dirty="0">
              <a:latin typeface="Times New Roman" panose="02020603050405020304" pitchFamily="18" charset="0"/>
              <a:ea typeface="+mn-lt"/>
              <a:cs typeface="Times New Roman" panose="02020603050405020304" pitchFamily="18" charset="0"/>
            </a:endParaRPr>
          </a:p>
          <a:p>
            <a:endParaRPr lang="en-IN" sz="2000" dirty="0">
              <a:latin typeface="Times New Roman" panose="02020603050405020304" pitchFamily="18" charset="0"/>
              <a:ea typeface="+mn-lt"/>
              <a:cs typeface="Times New Roman" panose="02020603050405020304" pitchFamily="18" charset="0"/>
            </a:endParaRPr>
          </a:p>
        </p:txBody>
      </p:sp>
      <p:sp>
        <p:nvSpPr>
          <p:cNvPr id="3" name="Date Placeholder 2"/>
          <p:cNvSpPr>
            <a:spLocks noGrp="1"/>
          </p:cNvSpPr>
          <p:nvPr>
            <p:ph type="dt" sz="half" idx="10"/>
          </p:nvPr>
        </p:nvSpPr>
        <p:spPr/>
        <p:txBody>
          <a:bodyPr/>
          <a:lstStyle/>
          <a:p>
            <a:fld id="{6CAA8016-FD93-45CE-8B82-89E48C5ECE4B}"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5" name="Slide Number Placeholder 4"/>
          <p:cNvSpPr>
            <a:spLocks noGrp="1"/>
          </p:cNvSpPr>
          <p:nvPr>
            <p:ph type="sldNum" sz="quarter" idx="12"/>
          </p:nvPr>
        </p:nvSpPr>
        <p:spPr/>
        <p:txBody>
          <a:bodyPr/>
          <a:lstStyle/>
          <a:p>
            <a:fld id="{E3F582E7-5946-46E8-90FE-86F4A45DA68F}" type="slidenum">
              <a:rPr lang="en-US" smtClean="0">
                <a:latin typeface="Times New Roman" panose="02020603050405020304" pitchFamily="18" charset="0"/>
                <a:cs typeface="Times New Roman" panose="02020603050405020304" pitchFamily="18" charset="0"/>
              </a:rPr>
              <a:pPr/>
              <a:t>11</a:t>
            </a:fld>
            <a:endParaRPr lang="en-US">
              <a:latin typeface="Times New Roman" panose="02020603050405020304" pitchFamily="18" charset="0"/>
              <a:cs typeface="Times New Roman" panose="02020603050405020304" pitchFamily="18" charset="0"/>
            </a:endParaRPr>
          </a:p>
        </p:txBody>
      </p:sp>
      <p:sp>
        <p:nvSpPr>
          <p:cNvPr id="10" name="Title 4">
            <a:extLst>
              <a:ext uri="{FF2B5EF4-FFF2-40B4-BE49-F238E27FC236}">
                <a16:creationId xmlns:a16="http://schemas.microsoft.com/office/drawing/2014/main" id="{FE1AEE53-FA89-8B74-044F-9DE851560005}"/>
              </a:ext>
            </a:extLst>
          </p:cNvPr>
          <p:cNvSpPr txBox="1">
            <a:spLocks/>
          </p:cNvSpPr>
          <p:nvPr/>
        </p:nvSpPr>
        <p:spPr>
          <a:xfrm>
            <a:off x="450781" y="301269"/>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lIns="91440" tIns="45720" rIns="91440" bIns="45720" rtlCol="0" anchor="ctr">
            <a:normAutofit fontScale="92500" lnSpcReduction="20000"/>
          </a:bodyPr>
          <a:lstStyle/>
          <a:p>
            <a:pPr marL="548640" indent="-411480" algn="ctr">
              <a:spcBef>
                <a:spcPct val="20000"/>
              </a:spcBef>
              <a:defRPr/>
            </a:pPr>
            <a:r>
              <a:rPr lang="en-US" sz="3200" dirty="0">
                <a:latin typeface="Times New Roman" panose="02020603050405020304" pitchFamily="18" charset="0"/>
                <a:cs typeface="Times New Roman" panose="02020603050405020304" pitchFamily="18" charset="0"/>
              </a:rPr>
              <a:t>Modelling</a:t>
            </a:r>
            <a:endParaRPr lang="en-US" dirty="0">
              <a:latin typeface="Times New Roman" panose="02020603050405020304" pitchFamily="18" charset="0"/>
              <a:cs typeface="Times New Roman" panose="02020603050405020304" pitchFamily="18" charset="0"/>
            </a:endParaRPr>
          </a:p>
        </p:txBody>
      </p:sp>
      <p:pic>
        <p:nvPicPr>
          <p:cNvPr id="13" name="Picture 12" descr="A black and white machine with a yellow light&#10;&#10;AI-generated content may be incorrect.">
            <a:extLst>
              <a:ext uri="{FF2B5EF4-FFF2-40B4-BE49-F238E27FC236}">
                <a16:creationId xmlns:a16="http://schemas.microsoft.com/office/drawing/2014/main" id="{BDD0E1DA-14CE-F698-36C9-E705C075EF06}"/>
              </a:ext>
            </a:extLst>
          </p:cNvPr>
          <p:cNvPicPr>
            <a:picLocks noChangeAspect="1"/>
          </p:cNvPicPr>
          <p:nvPr/>
        </p:nvPicPr>
        <p:blipFill rotWithShape="1">
          <a:blip r:embed="rId2"/>
          <a:srcRect t="12848" r="-567" b="1672"/>
          <a:stretch/>
        </p:blipFill>
        <p:spPr>
          <a:xfrm>
            <a:off x="4970467" y="2897730"/>
            <a:ext cx="3885890" cy="2831751"/>
          </a:xfrm>
          <a:prstGeom prst="rect">
            <a:avLst/>
          </a:prstGeom>
        </p:spPr>
      </p:pic>
      <p:sp>
        <p:nvSpPr>
          <p:cNvPr id="14" name="TextBox 13"/>
          <p:cNvSpPr txBox="1"/>
          <p:nvPr/>
        </p:nvSpPr>
        <p:spPr>
          <a:xfrm flipH="1">
            <a:off x="5021639" y="5759613"/>
            <a:ext cx="3783546" cy="707886"/>
          </a:xfrm>
          <a:prstGeom prst="rect">
            <a:avLst/>
          </a:prstGeom>
          <a:noFill/>
        </p:spPr>
        <p:txBody>
          <a:bodyPr wrap="square" rtlCol="0">
            <a:spAutoFit/>
          </a:bodyPr>
          <a:lstStyle/>
          <a:p>
            <a:pPr algn="ctr"/>
            <a:r>
              <a:rPr lang="en-US" sz="2000" dirty="0">
                <a:latin typeface="Times New Roman" panose="02020603050405020304" pitchFamily="18" charset="0"/>
                <a:ea typeface="Calibri"/>
                <a:cs typeface="Times New Roman" panose="02020603050405020304" pitchFamily="18" charset="0"/>
              </a:rPr>
              <a:t>Helical screw's dimensions taken with the help of profile projector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300" y="2897730"/>
            <a:ext cx="4288195" cy="2845131"/>
          </a:xfrm>
          <a:prstGeom prst="rect">
            <a:avLst/>
          </a:prstGeom>
        </p:spPr>
      </p:pic>
      <p:sp>
        <p:nvSpPr>
          <p:cNvPr id="15" name="TextBox 14"/>
          <p:cNvSpPr txBox="1"/>
          <p:nvPr/>
        </p:nvSpPr>
        <p:spPr>
          <a:xfrm flipH="1">
            <a:off x="186611" y="5759613"/>
            <a:ext cx="4618653" cy="400110"/>
          </a:xfrm>
          <a:prstGeom prst="rect">
            <a:avLst/>
          </a:prstGeom>
          <a:noFill/>
        </p:spPr>
        <p:txBody>
          <a:bodyPr wrap="square" rtlCol="0">
            <a:spAutoFit/>
          </a:bodyPr>
          <a:lstStyle/>
          <a:p>
            <a:pPr algn="ctr"/>
            <a:r>
              <a:rPr lang="en-US" sz="2000" dirty="0">
                <a:latin typeface="Times New Roman" panose="02020603050405020304" pitchFamily="18" charset="0"/>
                <a:ea typeface="Calibri"/>
                <a:cs typeface="Times New Roman" panose="02020603050405020304" pitchFamily="18" charset="0"/>
              </a:rPr>
              <a:t>Clinical Consultation with Dr. </a:t>
            </a:r>
            <a:r>
              <a:rPr lang="en-US" sz="2000" dirty="0" err="1">
                <a:latin typeface="Times New Roman" panose="02020603050405020304" pitchFamily="18" charset="0"/>
                <a:ea typeface="Calibri"/>
                <a:cs typeface="Times New Roman" panose="02020603050405020304" pitchFamily="18" charset="0"/>
              </a:rPr>
              <a:t>Chandak</a:t>
            </a:r>
            <a:endParaRPr lang="en-US" sz="2000"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2354615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B745BC-B3F5-E024-EDA2-1E74A9C32AE8}"/>
              </a:ext>
            </a:extLst>
          </p:cNvPr>
          <p:cNvSpPr>
            <a:spLocks noGrp="1"/>
          </p:cNvSpPr>
          <p:nvPr>
            <p:ph/>
          </p:nvPr>
        </p:nvSpPr>
        <p:spPr/>
        <p:txBody>
          <a:bodyPr vert="horz" lIns="91440" tIns="45720" rIns="91440" bIns="45720" rtlCol="0" anchor="t">
            <a:normAutofit/>
          </a:bodyPr>
          <a:lstStyle/>
          <a:p>
            <a:endParaRPr lang="en-US" sz="2000" dirty="0">
              <a:latin typeface="Times New Roman" panose="02020603050405020304" pitchFamily="18" charset="0"/>
              <a:ea typeface="Calibri"/>
              <a:cs typeface="Times New Roman" panose="02020603050405020304" pitchFamily="18" charset="0"/>
            </a:endParaRPr>
          </a:p>
          <a:p>
            <a:pPr marL="0" indent="0">
              <a:buNone/>
            </a:pPr>
            <a:r>
              <a:rPr lang="en-IN" sz="2000" b="1" dirty="0">
                <a:latin typeface="Times New Roman" panose="02020603050405020304" pitchFamily="18" charset="0"/>
                <a:ea typeface="Calibri"/>
                <a:cs typeface="Times New Roman" panose="02020603050405020304" pitchFamily="18" charset="0"/>
              </a:rPr>
              <a:t>Femur Fracture Modelling</a:t>
            </a:r>
            <a:r>
              <a:rPr lang="en-IN" sz="2000" b="1" dirty="0" smtClean="0">
                <a:latin typeface="Times New Roman" panose="02020603050405020304" pitchFamily="18" charset="0"/>
                <a:ea typeface="Calibri"/>
                <a:cs typeface="Times New Roman" panose="02020603050405020304" pitchFamily="18" charset="0"/>
              </a:rPr>
              <a:t>:</a:t>
            </a:r>
            <a:endParaRPr lang="en-IN" sz="2000" dirty="0">
              <a:latin typeface="Times New Roman" panose="02020603050405020304" pitchFamily="18" charset="0"/>
              <a:ea typeface="Calibri"/>
              <a:cs typeface="Times New Roman" panose="02020603050405020304" pitchFamily="18" charset="0"/>
            </a:endParaRPr>
          </a:p>
          <a:p>
            <a:pPr marL="0" indent="0">
              <a:buNone/>
            </a:pPr>
            <a:r>
              <a:rPr lang="en-IN" sz="2000" dirty="0">
                <a:latin typeface="Times New Roman" panose="02020603050405020304" pitchFamily="18" charset="0"/>
                <a:ea typeface="Calibri"/>
                <a:cs typeface="Times New Roman" panose="02020603050405020304" pitchFamily="18" charset="0"/>
              </a:rPr>
              <a:t>An anatomically realistic intertrochanteric fracture was created based on orthopaedic consultation and X-ray references. A fracture plane was generated and applied to the femur model, which was then used to split the bone into two distinct fragments. </a:t>
            </a:r>
            <a:endParaRPr lang="en-US" sz="2000"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B87859B1-8A4C-6AEE-38D2-4AD9AEC38EFA}"/>
              </a:ext>
            </a:extLst>
          </p:cNvPr>
          <p:cNvSpPr>
            <a:spLocks noGrp="1"/>
          </p:cNvSpPr>
          <p:nvPr>
            <p:ph type="dt" sz="half" idx="10"/>
          </p:nvPr>
        </p:nvSpPr>
        <p:spPr/>
        <p:txBody>
          <a:bodyPr/>
          <a:lstStyle/>
          <a:p>
            <a:fld id="{6CAA8016-FD93-45CE-8B82-89E48C5ECE4B}"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9DFA627-BD8F-FED9-BA79-E7F9B3B2DF0E}"/>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5" name="Slide Number Placeholder 4">
            <a:extLst>
              <a:ext uri="{FF2B5EF4-FFF2-40B4-BE49-F238E27FC236}">
                <a16:creationId xmlns:a16="http://schemas.microsoft.com/office/drawing/2014/main" id="{BB013CF1-39C1-22A8-E96B-EA7BE1794A8C}"/>
              </a:ext>
            </a:extLst>
          </p:cNvPr>
          <p:cNvSpPr>
            <a:spLocks noGrp="1"/>
          </p:cNvSpPr>
          <p:nvPr>
            <p:ph type="sldNum" sz="quarter" idx="12"/>
          </p:nvPr>
        </p:nvSpPr>
        <p:spPr/>
        <p:txBody>
          <a:bodyPr/>
          <a:lstStyle/>
          <a:p>
            <a:fld id="{E3F582E7-5946-46E8-90FE-86F4A45DA68F}" type="slidenum">
              <a:rPr lang="en-US">
                <a:latin typeface="Times New Roman" panose="02020603050405020304" pitchFamily="18" charset="0"/>
                <a:cs typeface="Times New Roman" panose="02020603050405020304" pitchFamily="18" charset="0"/>
              </a:rPr>
              <a:pPr/>
              <a:t>12</a:t>
            </a:fld>
            <a:endParaRPr lang="en-US">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rotWithShape="1">
          <a:blip r:embed="rId2">
            <a:extLst>
              <a:ext uri="{28A0092B-C50C-407E-A947-70E740481C1C}">
                <a14:useLocalDpi xmlns:a14="http://schemas.microsoft.com/office/drawing/2010/main" val="0"/>
              </a:ext>
            </a:extLst>
          </a:blip>
          <a:srcRect l="18808" t="3143" r="24130" b="31258"/>
          <a:stretch/>
        </p:blipFill>
        <p:spPr>
          <a:xfrm>
            <a:off x="3177420" y="3267569"/>
            <a:ext cx="2223701" cy="2111193"/>
          </a:xfrm>
          <a:prstGeom prst="rect">
            <a:avLst/>
          </a:prstGeom>
        </p:spPr>
      </p:pic>
      <p:pic>
        <p:nvPicPr>
          <p:cNvPr id="9" name="Picture 8"/>
          <p:cNvPicPr>
            <a:picLocks noChangeAspect="1"/>
          </p:cNvPicPr>
          <p:nvPr/>
        </p:nvPicPr>
        <p:blipFill rotWithShape="1">
          <a:blip r:embed="rId3" cstate="print">
            <a:extLst>
              <a:ext uri="{28A0092B-C50C-407E-A947-70E740481C1C}">
                <a14:useLocalDpi xmlns:a14="http://schemas.microsoft.com/office/drawing/2010/main" val="0"/>
              </a:ext>
            </a:extLst>
          </a:blip>
          <a:srcRect l="3673" r="12756"/>
          <a:stretch/>
        </p:blipFill>
        <p:spPr>
          <a:xfrm>
            <a:off x="5815661" y="3267569"/>
            <a:ext cx="2937105" cy="2111193"/>
          </a:xfrm>
          <a:prstGeom prst="rect">
            <a:avLst/>
          </a:prstGeom>
        </p:spPr>
      </p:pic>
      <p:pic>
        <p:nvPicPr>
          <p:cNvPr id="13" name="Picture 12"/>
          <p:cNvPicPr>
            <a:picLocks noChangeAspect="1"/>
          </p:cNvPicPr>
          <p:nvPr/>
        </p:nvPicPr>
        <p:blipFill>
          <a:blip r:embed="rId4">
            <a:extLst>
              <a:ext uri="{BEBA8EAE-BF5A-486C-A8C5-ECC9F3942E4B}">
                <a14:imgProps xmlns:a14="http://schemas.microsoft.com/office/drawing/2010/main">
                  <a14:imgLayer r:embed="rId5">
                    <a14:imgEffect>
                      <a14:backgroundRemoval t="0" b="94118" l="8108" r="100000"/>
                    </a14:imgEffect>
                  </a14:imgLayer>
                </a14:imgProps>
              </a:ext>
              <a:ext uri="{28A0092B-C50C-407E-A947-70E740481C1C}">
                <a14:useLocalDpi xmlns:a14="http://schemas.microsoft.com/office/drawing/2010/main" val="0"/>
              </a:ext>
            </a:extLst>
          </a:blip>
          <a:stretch>
            <a:fillRect/>
          </a:stretch>
        </p:blipFill>
        <p:spPr>
          <a:xfrm>
            <a:off x="-7028" y="2394360"/>
            <a:ext cx="1782717" cy="4095430"/>
          </a:xfrm>
          <a:prstGeom prst="rect">
            <a:avLst/>
          </a:prstGeom>
        </p:spPr>
      </p:pic>
      <p:pic>
        <p:nvPicPr>
          <p:cNvPr id="15" name="Picture 14"/>
          <p:cNvPicPr>
            <a:picLocks noChangeAspect="1"/>
          </p:cNvPicPr>
          <p:nvPr/>
        </p:nvPicPr>
        <p:blipFill>
          <a:blip r:embed="rId6" cstate="print">
            <a:extLst>
              <a:ext uri="{BEBA8EAE-BF5A-486C-A8C5-ECC9F3942E4B}">
                <a14:imgProps xmlns:a14="http://schemas.microsoft.com/office/drawing/2010/main">
                  <a14:imgLayer r:embed="rId7">
                    <a14:imgEffect>
                      <a14:backgroundRemoval t="0" b="89944" l="9963" r="93911"/>
                    </a14:imgEffect>
                  </a14:imgLayer>
                </a14:imgProps>
              </a:ext>
              <a:ext uri="{28A0092B-C50C-407E-A947-70E740481C1C}">
                <a14:useLocalDpi xmlns:a14="http://schemas.microsoft.com/office/drawing/2010/main" val="0"/>
              </a:ext>
            </a:extLst>
          </a:blip>
          <a:stretch>
            <a:fillRect/>
          </a:stretch>
        </p:blipFill>
        <p:spPr>
          <a:xfrm rot="18141241">
            <a:off x="213075" y="3703180"/>
            <a:ext cx="3910894" cy="2583211"/>
          </a:xfrm>
          <a:prstGeom prst="rect">
            <a:avLst/>
          </a:prstGeom>
        </p:spPr>
      </p:pic>
      <p:pic>
        <p:nvPicPr>
          <p:cNvPr id="14" name="Picture 13"/>
          <p:cNvPicPr>
            <a:picLocks noChangeAspect="1"/>
          </p:cNvPicPr>
          <p:nvPr/>
        </p:nvPicPr>
        <p:blipFill>
          <a:blip r:embed="rId8" cstate="print">
            <a:extLst>
              <a:ext uri="{BEBA8EAE-BF5A-486C-A8C5-ECC9F3942E4B}">
                <a14:imgProps xmlns:a14="http://schemas.microsoft.com/office/drawing/2010/main">
                  <a14:imgLayer r:embed="rId9">
                    <a14:imgEffect>
                      <a14:backgroundRemoval t="3933" b="89888" l="6437" r="100000"/>
                    </a14:imgEffect>
                  </a14:imgLayer>
                </a14:imgProps>
              </a:ext>
              <a:ext uri="{28A0092B-C50C-407E-A947-70E740481C1C}">
                <a14:useLocalDpi xmlns:a14="http://schemas.microsoft.com/office/drawing/2010/main" val="0"/>
              </a:ext>
            </a:extLst>
          </a:blip>
          <a:stretch>
            <a:fillRect/>
          </a:stretch>
        </p:blipFill>
        <p:spPr>
          <a:xfrm rot="18528530">
            <a:off x="1799860" y="2576091"/>
            <a:ext cx="977390" cy="781327"/>
          </a:xfrm>
          <a:prstGeom prst="rect">
            <a:avLst/>
          </a:prstGeom>
        </p:spPr>
      </p:pic>
      <p:sp>
        <p:nvSpPr>
          <p:cNvPr id="19" name="Rectangle 18"/>
          <p:cNvSpPr/>
          <p:nvPr/>
        </p:nvSpPr>
        <p:spPr>
          <a:xfrm>
            <a:off x="5684845" y="5441419"/>
            <a:ext cx="3615092" cy="400110"/>
          </a:xfrm>
          <a:prstGeom prst="rect">
            <a:avLst/>
          </a:prstGeom>
        </p:spPr>
        <p:txBody>
          <a:bodyPr wrap="none">
            <a:spAutoFit/>
          </a:bodyPr>
          <a:lstStyle/>
          <a:p>
            <a:r>
              <a:rPr lang="en-US" sz="2000" dirty="0">
                <a:latin typeface="Times New Roman" panose="02020603050405020304" pitchFamily="18" charset="0"/>
                <a:cs typeface="Times New Roman" panose="02020603050405020304" pitchFamily="18" charset="0"/>
              </a:rPr>
              <a:t>Pre-op X-ray          Post-op X-ray</a:t>
            </a:r>
            <a:endParaRPr lang="en-IN" sz="2000" dirty="0">
              <a:latin typeface="Times New Roman" panose="02020603050405020304" pitchFamily="18" charset="0"/>
              <a:cs typeface="Times New Roman" panose="02020603050405020304" pitchFamily="18" charset="0"/>
            </a:endParaRPr>
          </a:p>
        </p:txBody>
      </p:sp>
      <p:sp>
        <p:nvSpPr>
          <p:cNvPr id="17" name="Rectangle 16"/>
          <p:cNvSpPr/>
          <p:nvPr/>
        </p:nvSpPr>
        <p:spPr>
          <a:xfrm>
            <a:off x="3111863" y="5528861"/>
            <a:ext cx="2464417" cy="707886"/>
          </a:xfrm>
          <a:prstGeom prst="rect">
            <a:avLst/>
          </a:prstGeom>
        </p:spPr>
        <p:txBody>
          <a:bodyPr wrap="square">
            <a:spAutoFit/>
          </a:bodyPr>
          <a:lstStyle/>
          <a:p>
            <a:pPr algn="ctr"/>
            <a:r>
              <a:rPr lang="en-US" sz="2000" dirty="0" smtClean="0">
                <a:latin typeface="Times New Roman" panose="02020603050405020304" pitchFamily="18" charset="0"/>
                <a:cs typeface="Times New Roman" panose="02020603050405020304" pitchFamily="18" charset="0"/>
              </a:rPr>
              <a:t>Freeform Plane modelled for Fracture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8831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lowchart: Process 22"/>
          <p:cNvSpPr/>
          <p:nvPr/>
        </p:nvSpPr>
        <p:spPr>
          <a:xfrm>
            <a:off x="4766175" y="1539552"/>
            <a:ext cx="3868768" cy="4935894"/>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7" name="Flowchart: Process 6"/>
          <p:cNvSpPr/>
          <p:nvPr/>
        </p:nvSpPr>
        <p:spPr>
          <a:xfrm>
            <a:off x="1670619" y="1539552"/>
            <a:ext cx="3095556" cy="4935894"/>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13</a:t>
            </a:fld>
            <a:endParaRPr lang="en-US">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FFBF594-59C0-06E6-8ABA-1D0E005F653A}"/>
              </a:ext>
            </a:extLst>
          </p:cNvPr>
          <p:cNvSpPr txBox="1"/>
          <p:nvPr/>
        </p:nvSpPr>
        <p:spPr>
          <a:xfrm>
            <a:off x="457200" y="583454"/>
            <a:ext cx="824553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000" b="1" dirty="0">
                <a:latin typeface="Times New Roman" panose="02020603050405020304" pitchFamily="18" charset="0"/>
                <a:cs typeface="Times New Roman" panose="02020603050405020304" pitchFamily="18" charset="0"/>
              </a:rPr>
              <a:t>Implant Modelling and Assembling</a:t>
            </a:r>
            <a:r>
              <a:rPr lang="en-IN" sz="2000" b="1"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extLst>
              <a:ext uri="{BEBA8EAE-BF5A-486C-A8C5-ECC9F3942E4B}">
                <a14:imgProps xmlns:a14="http://schemas.microsoft.com/office/drawing/2010/main">
                  <a14:imgLayer r:embed="rId3">
                    <a14:imgEffect>
                      <a14:backgroundRemoval t="600" b="95052" l="37967" r="89627"/>
                    </a14:imgEffect>
                  </a14:imgLayer>
                </a14:imgProps>
              </a:ext>
              <a:ext uri="{28A0092B-C50C-407E-A947-70E740481C1C}">
                <a14:useLocalDpi xmlns:a14="http://schemas.microsoft.com/office/drawing/2010/main" val="0"/>
              </a:ext>
            </a:extLst>
          </a:blip>
          <a:stretch>
            <a:fillRect/>
          </a:stretch>
        </p:blipFill>
        <p:spPr>
          <a:xfrm>
            <a:off x="3221246" y="2049076"/>
            <a:ext cx="1291118" cy="1786671"/>
          </a:xfrm>
          <a:prstGeom prst="rect">
            <a:avLst/>
          </a:prstGeom>
        </p:spPr>
      </p:pic>
      <p:pic>
        <p:nvPicPr>
          <p:cNvPr id="12" name="Picture 11"/>
          <p:cNvPicPr>
            <a:picLocks noChangeAspect="1"/>
          </p:cNvPicPr>
          <p:nvPr/>
        </p:nvPicPr>
        <p:blipFill rotWithShape="1">
          <a:blip r:embed="rId4">
            <a:extLst>
              <a:ext uri="{BEBA8EAE-BF5A-486C-A8C5-ECC9F3942E4B}">
                <a14:imgProps xmlns:a14="http://schemas.microsoft.com/office/drawing/2010/main">
                  <a14:imgLayer r:embed="rId5">
                    <a14:imgEffect>
                      <a14:backgroundRemoval t="1786" b="98661" l="9804" r="86275"/>
                    </a14:imgEffect>
                  </a14:imgLayer>
                </a14:imgProps>
              </a:ext>
              <a:ext uri="{28A0092B-C50C-407E-A947-70E740481C1C}">
                <a14:useLocalDpi xmlns:a14="http://schemas.microsoft.com/office/drawing/2010/main" val="0"/>
              </a:ext>
            </a:extLst>
          </a:blip>
          <a:srcRect l="27231" t="359" r="19087"/>
          <a:stretch/>
        </p:blipFill>
        <p:spPr>
          <a:xfrm>
            <a:off x="3553930" y="3961378"/>
            <a:ext cx="839755" cy="2595382"/>
          </a:xfrm>
          <a:prstGeom prst="rect">
            <a:avLst/>
          </a:prstGeom>
        </p:spPr>
      </p:pic>
      <p:pic>
        <p:nvPicPr>
          <p:cNvPr id="13" name="Picture 12"/>
          <p:cNvPicPr>
            <a:picLocks noChangeAspect="1"/>
          </p:cNvPicPr>
          <p:nvPr/>
        </p:nvPicPr>
        <p:blipFill rotWithShape="1">
          <a:blip r:embed="rId6">
            <a:extLst>
              <a:ext uri="{BEBA8EAE-BF5A-486C-A8C5-ECC9F3942E4B}">
                <a14:imgProps xmlns:a14="http://schemas.microsoft.com/office/drawing/2010/main">
                  <a14:imgLayer r:embed="rId7">
                    <a14:imgEffect>
                      <a14:backgroundRemoval t="4455" b="96467" l="13492" r="89881"/>
                    </a14:imgEffect>
                  </a14:imgLayer>
                </a14:imgProps>
              </a:ext>
              <a:ext uri="{28A0092B-C50C-407E-A947-70E740481C1C}">
                <a14:useLocalDpi xmlns:a14="http://schemas.microsoft.com/office/drawing/2010/main" val="0"/>
              </a:ext>
            </a:extLst>
          </a:blip>
          <a:srcRect l="25213" t="4692" r="20843"/>
          <a:stretch/>
        </p:blipFill>
        <p:spPr>
          <a:xfrm>
            <a:off x="2118158" y="2098991"/>
            <a:ext cx="635417" cy="1786671"/>
          </a:xfrm>
          <a:prstGeom prst="rect">
            <a:avLst/>
          </a:prstGeom>
        </p:spPr>
      </p:pic>
      <p:pic>
        <p:nvPicPr>
          <p:cNvPr id="14" name="Picture 13" descr="SOLIDWORKS Premium 2022 SP1.0 - [assembly dhs *]"/>
          <p:cNvPicPr>
            <a:picLocks noChangeAspect="1"/>
          </p:cNvPicPr>
          <p:nvPr/>
        </p:nvPicPr>
        <p:blipFill rotWithShape="1">
          <a:blip r:embed="rId8">
            <a:extLst>
              <a:ext uri="{BEBA8EAE-BF5A-486C-A8C5-ECC9F3942E4B}">
                <a14:imgProps xmlns:a14="http://schemas.microsoft.com/office/drawing/2010/main">
                  <a14:imgLayer r:embed="rId9">
                    <a14:imgEffect>
                      <a14:backgroundRemoval t="20784" b="81373" l="47760" r="56250"/>
                    </a14:imgEffect>
                  </a14:imgLayer>
                </a14:imgProps>
              </a:ext>
              <a:ext uri="{28A0092B-C50C-407E-A947-70E740481C1C}">
                <a14:useLocalDpi xmlns:a14="http://schemas.microsoft.com/office/drawing/2010/main" val="0"/>
              </a:ext>
            </a:extLst>
          </a:blip>
          <a:srcRect l="47952" t="23518" r="44118" b="16099"/>
          <a:stretch/>
        </p:blipFill>
        <p:spPr>
          <a:xfrm>
            <a:off x="1994571" y="3980920"/>
            <a:ext cx="794249" cy="2595383"/>
          </a:xfrm>
          <a:prstGeom prst="rect">
            <a:avLst/>
          </a:prstGeom>
        </p:spPr>
      </p:pic>
      <p:pic>
        <p:nvPicPr>
          <p:cNvPr id="15" name="Picture 14"/>
          <p:cNvPicPr>
            <a:picLocks noChangeAspect="1"/>
          </p:cNvPicPr>
          <p:nvPr/>
        </p:nvPicPr>
        <p:blipFill rotWithShape="1">
          <a:blip r:embed="rId10">
            <a:extLst>
              <a:ext uri="{BEBA8EAE-BF5A-486C-A8C5-ECC9F3942E4B}">
                <a14:imgProps xmlns:a14="http://schemas.microsoft.com/office/drawing/2010/main">
                  <a14:imgLayer r:embed="rId11">
                    <a14:imgEffect>
                      <a14:backgroundRemoval t="1849" b="97535" l="7483" r="71769"/>
                    </a14:imgEffect>
                  </a14:imgLayer>
                </a14:imgProps>
              </a:ext>
              <a:ext uri="{28A0092B-C50C-407E-A947-70E740481C1C}">
                <a14:useLocalDpi xmlns:a14="http://schemas.microsoft.com/office/drawing/2010/main" val="0"/>
              </a:ext>
            </a:extLst>
          </a:blip>
          <a:srcRect r="19368"/>
          <a:stretch/>
        </p:blipFill>
        <p:spPr>
          <a:xfrm>
            <a:off x="4512364" y="2098992"/>
            <a:ext cx="1545628" cy="1786671"/>
          </a:xfrm>
          <a:prstGeom prst="rect">
            <a:avLst/>
          </a:prstGeom>
        </p:spPr>
      </p:pic>
      <p:pic>
        <p:nvPicPr>
          <p:cNvPr id="16" name="Picture 15">
            <a:extLst>
              <a:ext uri="{FF2B5EF4-FFF2-40B4-BE49-F238E27FC236}">
                <a16:creationId xmlns:a16="http://schemas.microsoft.com/office/drawing/2014/main" id="{6555AB1F-8D49-EF22-8448-84029F05709F}"/>
              </a:ext>
            </a:extLst>
          </p:cNvPr>
          <p:cNvPicPr>
            <a:picLocks noChangeAspect="1"/>
          </p:cNvPicPr>
          <p:nvPr/>
        </p:nvPicPr>
        <p:blipFill>
          <a:blip r:embed="rId12">
            <a:extLst>
              <a:ext uri="{BEBA8EAE-BF5A-486C-A8C5-ECC9F3942E4B}">
                <a14:imgProps xmlns:a14="http://schemas.microsoft.com/office/drawing/2010/main">
                  <a14:imgLayer r:embed="rId13">
                    <a14:imgEffect>
                      <a14:backgroundRemoval t="429" b="100000" l="13305" r="89700"/>
                    </a14:imgEffect>
                  </a14:imgLayer>
                </a14:imgProps>
              </a:ext>
            </a:extLst>
          </a:blip>
          <a:stretch>
            <a:fillRect/>
          </a:stretch>
        </p:blipFill>
        <p:spPr>
          <a:xfrm>
            <a:off x="4766175" y="3885663"/>
            <a:ext cx="1136584" cy="2625525"/>
          </a:xfrm>
          <a:prstGeom prst="rect">
            <a:avLst/>
          </a:prstGeom>
        </p:spPr>
      </p:pic>
      <p:pic>
        <p:nvPicPr>
          <p:cNvPr id="17" name="Picture 16"/>
          <p:cNvPicPr>
            <a:picLocks noChangeAspect="1"/>
          </p:cNvPicPr>
          <p:nvPr/>
        </p:nvPicPr>
        <p:blipFill rotWithShape="1">
          <a:blip r:embed="rId14">
            <a:extLst>
              <a:ext uri="{BEBA8EAE-BF5A-486C-A8C5-ECC9F3942E4B}">
                <a14:imgProps xmlns:a14="http://schemas.microsoft.com/office/drawing/2010/main">
                  <a14:imgLayer r:embed="rId15">
                    <a14:imgEffect>
                      <a14:backgroundRemoval t="1187" b="96588" l="33742" r="78528"/>
                    </a14:imgEffect>
                  </a14:imgLayer>
                </a14:imgProps>
              </a:ext>
              <a:ext uri="{28A0092B-C50C-407E-A947-70E740481C1C}">
                <a14:useLocalDpi xmlns:a14="http://schemas.microsoft.com/office/drawing/2010/main" val="0"/>
              </a:ext>
            </a:extLst>
          </a:blip>
          <a:srcRect l="36410" t="1164" r="31029" b="3930"/>
          <a:stretch/>
        </p:blipFill>
        <p:spPr>
          <a:xfrm>
            <a:off x="6453784" y="2041810"/>
            <a:ext cx="423214" cy="1843853"/>
          </a:xfrm>
          <a:prstGeom prst="rect">
            <a:avLst/>
          </a:prstGeom>
        </p:spPr>
      </p:pic>
      <p:pic>
        <p:nvPicPr>
          <p:cNvPr id="18" name="Picture 17"/>
          <p:cNvPicPr>
            <a:picLocks noChangeAspect="1"/>
          </p:cNvPicPr>
          <p:nvPr/>
        </p:nvPicPr>
        <p:blipFill>
          <a:blip r:embed="rId16">
            <a:extLst>
              <a:ext uri="{BEBA8EAE-BF5A-486C-A8C5-ECC9F3942E4B}">
                <a14:imgProps xmlns:a14="http://schemas.microsoft.com/office/drawing/2010/main">
                  <a14:imgLayer r:embed="rId17">
                    <a14:imgEffect>
                      <a14:backgroundRemoval t="1491" b="96149" l="32808" r="86877"/>
                    </a14:imgEffect>
                  </a14:imgLayer>
                </a14:imgProps>
              </a:ext>
              <a:ext uri="{28A0092B-C50C-407E-A947-70E740481C1C}">
                <a14:useLocalDpi xmlns:a14="http://schemas.microsoft.com/office/drawing/2010/main" val="0"/>
              </a:ext>
            </a:extLst>
          </a:blip>
          <a:stretch>
            <a:fillRect/>
          </a:stretch>
        </p:blipFill>
        <p:spPr>
          <a:xfrm>
            <a:off x="5920308" y="3885663"/>
            <a:ext cx="1342167" cy="2835812"/>
          </a:xfrm>
          <a:prstGeom prst="rect">
            <a:avLst/>
          </a:prstGeom>
        </p:spPr>
      </p:pic>
      <p:pic>
        <p:nvPicPr>
          <p:cNvPr id="19" name="Picture 18"/>
          <p:cNvPicPr>
            <a:picLocks noChangeAspect="1"/>
          </p:cNvPicPr>
          <p:nvPr/>
        </p:nvPicPr>
        <p:blipFill>
          <a:blip r:embed="rId18">
            <a:extLst>
              <a:ext uri="{BEBA8EAE-BF5A-486C-A8C5-ECC9F3942E4B}">
                <a14:imgProps xmlns:a14="http://schemas.microsoft.com/office/drawing/2010/main">
                  <a14:imgLayer r:embed="rId19">
                    <a14:imgEffect>
                      <a14:backgroundRemoval t="1768" b="100000" l="12500" r="90000"/>
                    </a14:imgEffect>
                  </a14:imgLayer>
                </a14:imgProps>
              </a:ext>
              <a:ext uri="{28A0092B-C50C-407E-A947-70E740481C1C}">
                <a14:useLocalDpi xmlns:a14="http://schemas.microsoft.com/office/drawing/2010/main" val="0"/>
              </a:ext>
            </a:extLst>
          </a:blip>
          <a:stretch>
            <a:fillRect/>
          </a:stretch>
        </p:blipFill>
        <p:spPr>
          <a:xfrm>
            <a:off x="7505581" y="2045241"/>
            <a:ext cx="1129362" cy="1836990"/>
          </a:xfrm>
          <a:prstGeom prst="rect">
            <a:avLst/>
          </a:prstGeom>
        </p:spPr>
      </p:pic>
      <p:pic>
        <p:nvPicPr>
          <p:cNvPr id="20" name="Picture 19"/>
          <p:cNvPicPr>
            <a:picLocks noChangeAspect="1"/>
          </p:cNvPicPr>
          <p:nvPr/>
        </p:nvPicPr>
        <p:blipFill rotWithShape="1">
          <a:blip r:embed="rId20">
            <a:extLst>
              <a:ext uri="{BEBA8EAE-BF5A-486C-A8C5-ECC9F3942E4B}">
                <a14:imgProps xmlns:a14="http://schemas.microsoft.com/office/drawing/2010/main">
                  <a14:imgLayer r:embed="rId21">
                    <a14:imgEffect>
                      <a14:backgroundRemoval t="4668" b="94625" l="30184" r="74016"/>
                    </a14:imgEffect>
                  </a14:imgLayer>
                </a14:imgProps>
              </a:ext>
              <a:ext uri="{28A0092B-C50C-407E-A947-70E740481C1C}">
                <a14:useLocalDpi xmlns:a14="http://schemas.microsoft.com/office/drawing/2010/main" val="0"/>
              </a:ext>
            </a:extLst>
          </a:blip>
          <a:srcRect l="16630" r="24357" b="5325"/>
          <a:stretch/>
        </p:blipFill>
        <p:spPr>
          <a:xfrm>
            <a:off x="7453723" y="3830621"/>
            <a:ext cx="1233077" cy="2721013"/>
          </a:xfrm>
          <a:prstGeom prst="rect">
            <a:avLst/>
          </a:prstGeom>
        </p:spPr>
      </p:pic>
      <p:sp>
        <p:nvSpPr>
          <p:cNvPr id="21" name="TextBox 20"/>
          <p:cNvSpPr txBox="1"/>
          <p:nvPr/>
        </p:nvSpPr>
        <p:spPr>
          <a:xfrm>
            <a:off x="305924" y="2425265"/>
            <a:ext cx="1364695" cy="286232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Implants</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Assemblies</a:t>
            </a:r>
            <a:endParaRPr lang="en-IN" sz="2000" dirty="0">
              <a:latin typeface="Times New Roman" panose="02020603050405020304" pitchFamily="18" charset="0"/>
              <a:cs typeface="Times New Roman" panose="02020603050405020304" pitchFamily="18" charset="0"/>
            </a:endParaRPr>
          </a:p>
        </p:txBody>
      </p:sp>
      <p:sp>
        <p:nvSpPr>
          <p:cNvPr id="22" name="TextBox 21"/>
          <p:cNvSpPr txBox="1"/>
          <p:nvPr/>
        </p:nvSpPr>
        <p:spPr>
          <a:xfrm>
            <a:off x="1994571" y="1691298"/>
            <a:ext cx="6692228"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DHS   </a:t>
            </a:r>
            <a:r>
              <a:rPr lang="en-US" sz="2000" dirty="0">
                <a:latin typeface="Times New Roman" panose="02020603050405020304" pitchFamily="18" charset="0"/>
                <a:cs typeface="Times New Roman" panose="02020603050405020304" pitchFamily="18" charset="0"/>
              </a:rPr>
              <a:t>Angled Blade Plate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PFN      </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PFNA-II          InterTAN</a:t>
            </a:r>
            <a:endParaRPr lang="en-IN" sz="2000" dirty="0">
              <a:latin typeface="Times New Roman" panose="02020603050405020304" pitchFamily="18" charset="0"/>
              <a:cs typeface="Times New Roman" panose="02020603050405020304" pitchFamily="18" charset="0"/>
            </a:endParaRPr>
          </a:p>
        </p:txBody>
      </p:sp>
      <p:cxnSp>
        <p:nvCxnSpPr>
          <p:cNvPr id="10" name="Straight Connector 9"/>
          <p:cNvCxnSpPr/>
          <p:nvPr/>
        </p:nvCxnSpPr>
        <p:spPr>
          <a:xfrm>
            <a:off x="1670619" y="3830621"/>
            <a:ext cx="6964324" cy="51610"/>
          </a:xfrm>
          <a:prstGeom prst="line">
            <a:avLst/>
          </a:prstGeom>
        </p:spPr>
        <p:style>
          <a:lnRef idx="2">
            <a:schemeClr val="dk1"/>
          </a:lnRef>
          <a:fillRef idx="0">
            <a:schemeClr val="dk1"/>
          </a:fillRef>
          <a:effectRef idx="1">
            <a:schemeClr val="dk1"/>
          </a:effectRef>
          <a:fontRef idx="minor">
            <a:schemeClr val="tx1"/>
          </a:fontRef>
        </p:style>
      </p:cxnSp>
      <p:sp>
        <p:nvSpPr>
          <p:cNvPr id="24" name="Flowchart: Process 23"/>
          <p:cNvSpPr/>
          <p:nvPr/>
        </p:nvSpPr>
        <p:spPr>
          <a:xfrm>
            <a:off x="1670619" y="1091682"/>
            <a:ext cx="3095556" cy="447870"/>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5" name="Flowchart: Process 24"/>
          <p:cNvSpPr/>
          <p:nvPr/>
        </p:nvSpPr>
        <p:spPr>
          <a:xfrm>
            <a:off x="4766175" y="1091682"/>
            <a:ext cx="3862283" cy="447870"/>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6" name="TextBox 25"/>
          <p:cNvSpPr txBox="1"/>
          <p:nvPr/>
        </p:nvSpPr>
        <p:spPr>
          <a:xfrm>
            <a:off x="1670618" y="1119143"/>
            <a:ext cx="3095556" cy="400110"/>
          </a:xfrm>
          <a:prstGeom prst="rect">
            <a:avLst/>
          </a:prstGeom>
          <a:noFill/>
        </p:spPr>
        <p:txBody>
          <a:bodyPr wrap="square" rtlCol="0">
            <a:spAutoFit/>
          </a:bodyPr>
          <a:lstStyle/>
          <a:p>
            <a:pPr algn="ctr"/>
            <a:r>
              <a:rPr lang="en-US" sz="2000" dirty="0" smtClean="0">
                <a:latin typeface="Times New Roman" panose="02020603050405020304" pitchFamily="18" charset="0"/>
                <a:cs typeface="Times New Roman" panose="02020603050405020304" pitchFamily="18" charset="0"/>
              </a:rPr>
              <a:t>Intramedullary</a:t>
            </a:r>
            <a:endParaRPr lang="en-IN" sz="2000" dirty="0">
              <a:latin typeface="Times New Roman" panose="02020603050405020304" pitchFamily="18" charset="0"/>
              <a:cs typeface="Times New Roman" panose="02020603050405020304" pitchFamily="18" charset="0"/>
            </a:endParaRPr>
          </a:p>
        </p:txBody>
      </p:sp>
      <p:sp>
        <p:nvSpPr>
          <p:cNvPr id="27" name="TextBox 26"/>
          <p:cNvSpPr txBox="1"/>
          <p:nvPr/>
        </p:nvSpPr>
        <p:spPr>
          <a:xfrm>
            <a:off x="4766176" y="1130951"/>
            <a:ext cx="3862282" cy="400110"/>
          </a:xfrm>
          <a:prstGeom prst="rect">
            <a:avLst/>
          </a:prstGeom>
          <a:noFill/>
        </p:spPr>
        <p:txBody>
          <a:bodyPr wrap="square" rtlCol="0">
            <a:spAutoFit/>
          </a:bodyPr>
          <a:lstStyle/>
          <a:p>
            <a:pPr algn="ctr"/>
            <a:r>
              <a:rPr lang="en-US" sz="2000" dirty="0" err="1" smtClean="0">
                <a:latin typeface="Times New Roman" panose="02020603050405020304" pitchFamily="18" charset="0"/>
                <a:cs typeface="Times New Roman" panose="02020603050405020304" pitchFamily="18" charset="0"/>
              </a:rPr>
              <a:t>Extramedullary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406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234768" y="6384005"/>
            <a:ext cx="2057400" cy="274320"/>
          </a:xfrm>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a:xfrm>
            <a:off x="2596896" y="6384005"/>
            <a:ext cx="3950208" cy="274320"/>
          </a:xfrm>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a:xfrm>
            <a:off x="7823382" y="6384005"/>
            <a:ext cx="1097280" cy="274320"/>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14</a:t>
            </a:fld>
            <a:endParaRPr lang="en-US">
              <a:latin typeface="Times New Roman" panose="02020603050405020304" pitchFamily="18" charset="0"/>
              <a:cs typeface="Times New Roman" panose="02020603050405020304" pitchFamily="18" charset="0"/>
            </a:endParaRPr>
          </a:p>
        </p:txBody>
      </p:sp>
      <p:sp>
        <p:nvSpPr>
          <p:cNvPr id="5" name="Title 4"/>
          <p:cNvSpPr txBox="1">
            <a:spLocks/>
          </p:cNvSpPr>
          <p:nvPr/>
        </p:nvSpPr>
        <p:spPr>
          <a:xfrm>
            <a:off x="438807" y="351454"/>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Analysis</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FFBF594-59C0-06E6-8ABA-1D0E005F653A}"/>
                  </a:ext>
                </a:extLst>
              </p:cNvPr>
              <p:cNvSpPr txBox="1"/>
              <p:nvPr/>
            </p:nvSpPr>
            <p:spPr>
              <a:xfrm>
                <a:off x="422873" y="1082903"/>
                <a:ext cx="4505360" cy="7210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000" b="1" dirty="0">
                    <a:latin typeface="Times New Roman" panose="02020603050405020304" pitchFamily="18" charset="0"/>
                    <a:cs typeface="Times New Roman" panose="02020603050405020304" pitchFamily="18" charset="0"/>
                  </a:rPr>
                  <a:t>Material Properties</a:t>
                </a:r>
                <a:r>
                  <a:rPr lang="en-IN" sz="2000"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sSup>
                        <m:sSupPr>
                          <m:ctrlPr>
                            <a:rPr lang="en-US" sz="2000" i="1" smtClean="0">
                              <a:latin typeface="Cambria Math" panose="02040503050406030204" pitchFamily="18" charset="0"/>
                            </a:rPr>
                          </m:ctrlPr>
                        </m:sSupPr>
                        <m:e>
                          <m:r>
                            <m:rPr>
                              <m:nor/>
                            </m:rPr>
                            <a:rPr lang="en-US" sz="2000" dirty="0">
                              <a:latin typeface="Times New Roman" panose="02020603050405020304" pitchFamily="18" charset="0"/>
                              <a:cs typeface="Times New Roman" panose="02020603050405020304" pitchFamily="18" charset="0"/>
                            </a:rPr>
                            <m:t>Cortical</m:t>
                          </m:r>
                          <m:r>
                            <m:rPr>
                              <m:nor/>
                            </m:rPr>
                            <a:rPr lang="en-US" sz="2000" dirty="0">
                              <a:latin typeface="Times New Roman" panose="02020603050405020304" pitchFamily="18" charset="0"/>
                              <a:cs typeface="Times New Roman" panose="02020603050405020304" pitchFamily="18" charset="0"/>
                            </a:rPr>
                            <m:t> </m:t>
                          </m:r>
                          <m:r>
                            <m:rPr>
                              <m:nor/>
                            </m:rPr>
                            <a:rPr lang="en-US" sz="2000" dirty="0">
                              <a:latin typeface="Times New Roman" panose="02020603050405020304" pitchFamily="18" charset="0"/>
                              <a:cs typeface="Times New Roman" panose="02020603050405020304" pitchFamily="18" charset="0"/>
                            </a:rPr>
                            <m:t>Bone</m:t>
                          </m:r>
                          <m:r>
                            <m:rPr>
                              <m:nor/>
                            </m:rPr>
                            <a:rPr lang="en-US" sz="2000" dirty="0">
                              <a:latin typeface="Times New Roman" panose="02020603050405020304" pitchFamily="18" charset="0"/>
                              <a:cs typeface="Times New Roman" panose="02020603050405020304" pitchFamily="18" charset="0"/>
                            </a:rPr>
                            <m:t>:</m:t>
                          </m:r>
                        </m:e>
                        <m:sup>
                          <m:r>
                            <a:rPr lang="en-US" sz="2000" b="0" i="1" smtClean="0">
                              <a:solidFill>
                                <a:schemeClr val="tx2">
                                  <a:lumMod val="60000"/>
                                  <a:lumOff val="40000"/>
                                </a:schemeClr>
                              </a:solidFill>
                              <a:latin typeface="Cambria Math" panose="02040503050406030204" pitchFamily="18" charset="0"/>
                            </a:rPr>
                            <m:t>[8]</m:t>
                          </m:r>
                        </m:sup>
                      </m:sSup>
                    </m:oMath>
                  </m:oMathPara>
                </a14:m>
                <a:endParaRPr lang="en-IN" sz="2000" dirty="0">
                  <a:latin typeface="Times New Roman" panose="02020603050405020304" pitchFamily="18" charset="0"/>
                  <a:cs typeface="Times New Roman" panose="02020603050405020304" pitchFamily="18" charset="0"/>
                </a:endParaRPr>
              </a:p>
            </p:txBody>
          </p:sp>
        </mc:Choice>
        <mc:Fallback>
          <p:sp>
            <p:nvSpPr>
              <p:cNvPr id="9" name="TextBox 8">
                <a:extLst>
                  <a:ext uri="{FF2B5EF4-FFF2-40B4-BE49-F238E27FC236}">
                    <a16:creationId xmlns:a16="http://schemas.microsoft.com/office/drawing/2014/main" id="{CFFBF594-59C0-06E6-8ABA-1D0E005F653A}"/>
                  </a:ext>
                </a:extLst>
              </p:cNvPr>
              <p:cNvSpPr txBox="1">
                <a:spLocks noRot="1" noChangeAspect="1" noMove="1" noResize="1" noEditPoints="1" noAdjustHandles="1" noChangeArrowheads="1" noChangeShapeType="1" noTextEdit="1"/>
              </p:cNvSpPr>
              <p:nvPr/>
            </p:nvSpPr>
            <p:spPr>
              <a:xfrm>
                <a:off x="422873" y="1082903"/>
                <a:ext cx="4505360" cy="721095"/>
              </a:xfrm>
              <a:prstGeom prst="rect">
                <a:avLst/>
              </a:prstGeom>
              <a:blipFill>
                <a:blip r:embed="rId2"/>
                <a:stretch>
                  <a:fillRect l="-1353" t="-5085"/>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graphicFrame>
            <p:nvGraphicFramePr>
              <p:cNvPr id="6" name="Table 5"/>
              <p:cNvGraphicFramePr>
                <a:graphicFrameLocks noGrp="1"/>
              </p:cNvGraphicFramePr>
              <p:nvPr>
                <p:extLst>
                  <p:ext uri="{D42A27DB-BD31-4B8C-83A1-F6EECF244321}">
                    <p14:modId xmlns:p14="http://schemas.microsoft.com/office/powerpoint/2010/main" val="3961039307"/>
                  </p:ext>
                </p:extLst>
              </p:nvPr>
            </p:nvGraphicFramePr>
            <p:xfrm>
              <a:off x="284941" y="1803998"/>
              <a:ext cx="3533308" cy="4389120"/>
            </p:xfrm>
            <a:graphic>
              <a:graphicData uri="http://schemas.openxmlformats.org/drawingml/2006/table">
                <a:tbl>
                  <a:tblPr firstRow="1" bandRow="1">
                    <a:tableStyleId>{5C22544A-7EE6-4342-B048-85BDC9FD1C3A}</a:tableStyleId>
                  </a:tblPr>
                  <a:tblGrid>
                    <a:gridCol w="2009075">
                      <a:extLst>
                        <a:ext uri="{9D8B030D-6E8A-4147-A177-3AD203B41FA5}">
                          <a16:colId xmlns:a16="http://schemas.microsoft.com/office/drawing/2014/main" val="332978620"/>
                        </a:ext>
                      </a:extLst>
                    </a:gridCol>
                    <a:gridCol w="1524233">
                      <a:extLst>
                        <a:ext uri="{9D8B030D-6E8A-4147-A177-3AD203B41FA5}">
                          <a16:colId xmlns:a16="http://schemas.microsoft.com/office/drawing/2014/main" val="1640628217"/>
                        </a:ext>
                      </a:extLst>
                    </a:gridCol>
                  </a:tblGrid>
                  <a:tr h="337944">
                    <a:tc>
                      <a:txBody>
                        <a:bodyPr/>
                        <a:lstStyle/>
                        <a:p>
                          <a:r>
                            <a:rPr lang="en-US" sz="2000" dirty="0">
                              <a:latin typeface="Times New Roman" panose="02020603050405020304" pitchFamily="18" charset="0"/>
                              <a:cs typeface="Times New Roman" panose="02020603050405020304" pitchFamily="18" charset="0"/>
                            </a:rPr>
                            <a:t>Property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Value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14265080"/>
                      </a:ext>
                    </a:extLst>
                  </a:tr>
                  <a:tr h="310734">
                    <a:tc>
                      <a:txBody>
                        <a:bodyPr/>
                        <a:lstStyle/>
                        <a:p>
                          <a:r>
                            <a:rPr lang="en-US" sz="2000" dirty="0">
                              <a:latin typeface="Times New Roman" panose="02020603050405020304" pitchFamily="18" charset="0"/>
                              <a:cs typeface="Times New Roman" panose="02020603050405020304" pitchFamily="18" charset="0"/>
                            </a:rPr>
                            <a:t>Density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1800 kg/</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𝑚</m:t>
                                  </m:r>
                                </m:e>
                                <m:sup>
                                  <m:r>
                                    <a:rPr lang="en-US" sz="2000" b="0" i="1" smtClean="0">
                                      <a:latin typeface="Cambria Math" panose="02040503050406030204" pitchFamily="18" charset="0"/>
                                    </a:rPr>
                                    <m:t>3</m:t>
                                  </m:r>
                                </m:sup>
                              </m:sSup>
                            </m:oMath>
                          </a14:m>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79770637"/>
                      </a:ext>
                    </a:extLst>
                  </a:tr>
                  <a:tr h="310734">
                    <a:tc>
                      <a:txBody>
                        <a:bodyPr/>
                        <a:lstStyle/>
                        <a:p>
                          <a:r>
                            <a:rPr lang="en-US" sz="2000" dirty="0">
                              <a:latin typeface="Times New Roman" panose="02020603050405020304" pitchFamily="18" charset="0"/>
                              <a:cs typeface="Times New Roman" panose="02020603050405020304" pitchFamily="18" charset="0"/>
                            </a:rPr>
                            <a:t>Young’s Modulus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18 </a:t>
                          </a:r>
                          <a:r>
                            <a:rPr lang="en-US" sz="2000" dirty="0" err="1">
                              <a:latin typeface="Times New Roman" panose="02020603050405020304" pitchFamily="18" charset="0"/>
                              <a:cs typeface="Times New Roman" panose="02020603050405020304" pitchFamily="18" charset="0"/>
                            </a:rPr>
                            <a:t>GPa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6421683"/>
                      </a:ext>
                    </a:extLst>
                  </a:tr>
                  <a:tr h="310734">
                    <a:tc>
                      <a:txBody>
                        <a:bodyPr/>
                        <a:lstStyle/>
                        <a:p>
                          <a:r>
                            <a:rPr lang="en-US" sz="2000" dirty="0">
                              <a:latin typeface="Times New Roman" panose="02020603050405020304" pitchFamily="18" charset="0"/>
                              <a:cs typeface="Times New Roman" panose="02020603050405020304" pitchFamily="18" charset="0"/>
                            </a:rPr>
                            <a:t>Poisson’s Ratio</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0.16-0.30</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8981459"/>
                      </a:ext>
                    </a:extLst>
                  </a:tr>
                  <a:tr h="310734">
                    <a:tc>
                      <a:txBody>
                        <a:bodyPr/>
                        <a:lstStyle/>
                        <a:p>
                          <a:r>
                            <a:rPr lang="en-US" sz="2000" dirty="0">
                              <a:latin typeface="Times New Roman" panose="02020603050405020304" pitchFamily="18" charset="0"/>
                              <a:cs typeface="Times New Roman" panose="02020603050405020304" pitchFamily="18" charset="0"/>
                            </a:rPr>
                            <a:t>Tensile Yield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135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3989873"/>
                      </a:ext>
                    </a:extLst>
                  </a:tr>
                  <a:tr h="310734">
                    <a:tc>
                      <a:txBody>
                        <a:bodyPr/>
                        <a:lstStyle/>
                        <a:p>
                          <a:r>
                            <a:rPr lang="en-US" sz="2000" dirty="0">
                              <a:latin typeface="Times New Roman" panose="02020603050405020304" pitchFamily="18" charset="0"/>
                              <a:cs typeface="Times New Roman" panose="02020603050405020304" pitchFamily="18" charset="0"/>
                            </a:rPr>
                            <a:t>Tensile Ultimate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167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0140270"/>
                      </a:ext>
                    </a:extLst>
                  </a:tr>
                  <a:tr h="310734">
                    <a:tc>
                      <a:txBody>
                        <a:bodyPr/>
                        <a:lstStyle/>
                        <a:p>
                          <a:r>
                            <a:rPr lang="en-US" sz="2000" dirty="0">
                              <a:latin typeface="Times New Roman" panose="02020603050405020304" pitchFamily="18" charset="0"/>
                              <a:cs typeface="Times New Roman" panose="02020603050405020304" pitchFamily="18" charset="0"/>
                            </a:rPr>
                            <a:t>Compressive Yield</a:t>
                          </a:r>
                          <a:r>
                            <a:rPr lang="en-US" sz="2000" baseline="0" dirty="0">
                              <a:latin typeface="Times New Roman" panose="02020603050405020304" pitchFamily="18" charset="0"/>
                              <a:cs typeface="Times New Roman" panose="02020603050405020304" pitchFamily="18" charset="0"/>
                            </a:rPr>
                            <a:t>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130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40059848"/>
                      </a:ext>
                    </a:extLst>
                  </a:tr>
                  <a:tr h="310734">
                    <a:tc>
                      <a:txBody>
                        <a:bodyPr/>
                        <a:lstStyle/>
                        <a:p>
                          <a:r>
                            <a:rPr lang="en-US" sz="2000" dirty="0">
                              <a:latin typeface="Times New Roman" panose="02020603050405020304" pitchFamily="18" charset="0"/>
                              <a:cs typeface="Times New Roman" panose="02020603050405020304" pitchFamily="18" charset="0"/>
                            </a:rPr>
                            <a:t>Compressive Ultimate</a:t>
                          </a:r>
                          <a:r>
                            <a:rPr lang="en-US" sz="2000" baseline="0" dirty="0">
                              <a:latin typeface="Times New Roman" panose="02020603050405020304" pitchFamily="18" charset="0"/>
                              <a:cs typeface="Times New Roman" panose="02020603050405020304" pitchFamily="18" charset="0"/>
                            </a:rPr>
                            <a:t>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250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0181582"/>
                      </a:ext>
                    </a:extLst>
                  </a:tr>
                </a:tbl>
              </a:graphicData>
            </a:graphic>
          </p:graphicFrame>
        </mc:Choice>
        <mc:Fallback>
          <p:graphicFrame>
            <p:nvGraphicFramePr>
              <p:cNvPr id="6" name="Table 5"/>
              <p:cNvGraphicFramePr>
                <a:graphicFrameLocks noGrp="1"/>
              </p:cNvGraphicFramePr>
              <p:nvPr>
                <p:extLst>
                  <p:ext uri="{D42A27DB-BD31-4B8C-83A1-F6EECF244321}">
                    <p14:modId xmlns:p14="http://schemas.microsoft.com/office/powerpoint/2010/main" val="3961039307"/>
                  </p:ext>
                </p:extLst>
              </p:nvPr>
            </p:nvGraphicFramePr>
            <p:xfrm>
              <a:off x="284941" y="1803998"/>
              <a:ext cx="3533308" cy="4389120"/>
            </p:xfrm>
            <a:graphic>
              <a:graphicData uri="http://schemas.openxmlformats.org/drawingml/2006/table">
                <a:tbl>
                  <a:tblPr firstRow="1" bandRow="1">
                    <a:tableStyleId>{5C22544A-7EE6-4342-B048-85BDC9FD1C3A}</a:tableStyleId>
                  </a:tblPr>
                  <a:tblGrid>
                    <a:gridCol w="2009075">
                      <a:extLst>
                        <a:ext uri="{9D8B030D-6E8A-4147-A177-3AD203B41FA5}">
                          <a16:colId xmlns:a16="http://schemas.microsoft.com/office/drawing/2014/main" val="332978620"/>
                        </a:ext>
                      </a:extLst>
                    </a:gridCol>
                    <a:gridCol w="1524233">
                      <a:extLst>
                        <a:ext uri="{9D8B030D-6E8A-4147-A177-3AD203B41FA5}">
                          <a16:colId xmlns:a16="http://schemas.microsoft.com/office/drawing/2014/main" val="1640628217"/>
                        </a:ext>
                      </a:extLst>
                    </a:gridCol>
                  </a:tblGrid>
                  <a:tr h="396240">
                    <a:tc>
                      <a:txBody>
                        <a:bodyPr/>
                        <a:lstStyle/>
                        <a:p>
                          <a:r>
                            <a:rPr lang="en-US" sz="2000" dirty="0">
                              <a:latin typeface="Times New Roman" panose="02020603050405020304" pitchFamily="18" charset="0"/>
                              <a:cs typeface="Times New Roman" panose="02020603050405020304" pitchFamily="18" charset="0"/>
                            </a:rPr>
                            <a:t>Property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Value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14265080"/>
                      </a:ext>
                    </a:extLst>
                  </a:tr>
                  <a:tr h="396240">
                    <a:tc>
                      <a:txBody>
                        <a:bodyPr/>
                        <a:lstStyle/>
                        <a:p>
                          <a:r>
                            <a:rPr lang="en-US" sz="2000" dirty="0">
                              <a:latin typeface="Times New Roman" panose="02020603050405020304" pitchFamily="18" charset="0"/>
                              <a:cs typeface="Times New Roman" panose="02020603050405020304" pitchFamily="18" charset="0"/>
                            </a:rPr>
                            <a:t>Density</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US"/>
                        </a:p>
                      </a:txBody>
                      <a:tcPr>
                        <a:blipFill>
                          <a:blip r:embed="rId3"/>
                          <a:stretch>
                            <a:fillRect l="-131873" t="-107692" r="-1594" b="-936923"/>
                          </a:stretch>
                        </a:blipFill>
                      </a:tcPr>
                    </a:tc>
                    <a:extLst>
                      <a:ext uri="{0D108BD9-81ED-4DB2-BD59-A6C34878D82A}">
                        <a16:rowId xmlns:a16="http://schemas.microsoft.com/office/drawing/2014/main" val="879770637"/>
                      </a:ext>
                    </a:extLst>
                  </a:tr>
                  <a:tr h="396240">
                    <a:tc>
                      <a:txBody>
                        <a:bodyPr/>
                        <a:lstStyle/>
                        <a:p>
                          <a:r>
                            <a:rPr lang="en-US" sz="2000" dirty="0">
                              <a:latin typeface="Times New Roman" panose="02020603050405020304" pitchFamily="18" charset="0"/>
                              <a:cs typeface="Times New Roman" panose="02020603050405020304" pitchFamily="18" charset="0"/>
                            </a:rPr>
                            <a:t>Young’s Modulus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18 </a:t>
                          </a:r>
                          <a:r>
                            <a:rPr lang="en-US" sz="2000" dirty="0" err="1">
                              <a:latin typeface="Times New Roman" panose="02020603050405020304" pitchFamily="18" charset="0"/>
                              <a:cs typeface="Times New Roman" panose="02020603050405020304" pitchFamily="18" charset="0"/>
                            </a:rPr>
                            <a:t>GPa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6421683"/>
                      </a:ext>
                    </a:extLst>
                  </a:tr>
                  <a:tr h="396240">
                    <a:tc>
                      <a:txBody>
                        <a:bodyPr/>
                        <a:lstStyle/>
                        <a:p>
                          <a:r>
                            <a:rPr lang="en-US" sz="2000" dirty="0">
                              <a:latin typeface="Times New Roman" panose="02020603050405020304" pitchFamily="18" charset="0"/>
                              <a:cs typeface="Times New Roman" panose="02020603050405020304" pitchFamily="18" charset="0"/>
                            </a:rPr>
                            <a:t>Poisson’s Ratio</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0.16-0.30</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8981459"/>
                      </a:ext>
                    </a:extLst>
                  </a:tr>
                  <a:tr h="701040">
                    <a:tc>
                      <a:txBody>
                        <a:bodyPr/>
                        <a:lstStyle/>
                        <a:p>
                          <a:r>
                            <a:rPr lang="en-US" sz="2000" dirty="0">
                              <a:latin typeface="Times New Roman" panose="02020603050405020304" pitchFamily="18" charset="0"/>
                              <a:cs typeface="Times New Roman" panose="02020603050405020304" pitchFamily="18" charset="0"/>
                            </a:rPr>
                            <a:t>Tensile Yield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135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3989873"/>
                      </a:ext>
                    </a:extLst>
                  </a:tr>
                  <a:tr h="701040">
                    <a:tc>
                      <a:txBody>
                        <a:bodyPr/>
                        <a:lstStyle/>
                        <a:p>
                          <a:r>
                            <a:rPr lang="en-US" sz="2000" dirty="0">
                              <a:latin typeface="Times New Roman" panose="02020603050405020304" pitchFamily="18" charset="0"/>
                              <a:cs typeface="Times New Roman" panose="02020603050405020304" pitchFamily="18" charset="0"/>
                            </a:rPr>
                            <a:t>Tensile Ultimate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167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0140270"/>
                      </a:ext>
                    </a:extLst>
                  </a:tr>
                  <a:tr h="701040">
                    <a:tc>
                      <a:txBody>
                        <a:bodyPr/>
                        <a:lstStyle/>
                        <a:p>
                          <a:r>
                            <a:rPr lang="en-US" sz="2000" dirty="0">
                              <a:latin typeface="Times New Roman" panose="02020603050405020304" pitchFamily="18" charset="0"/>
                              <a:cs typeface="Times New Roman" panose="02020603050405020304" pitchFamily="18" charset="0"/>
                            </a:rPr>
                            <a:t>Compressive Yield</a:t>
                          </a:r>
                          <a:r>
                            <a:rPr lang="en-US" sz="2000" baseline="0" dirty="0">
                              <a:latin typeface="Times New Roman" panose="02020603050405020304" pitchFamily="18" charset="0"/>
                              <a:cs typeface="Times New Roman" panose="02020603050405020304" pitchFamily="18" charset="0"/>
                            </a:rPr>
                            <a:t>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130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40059848"/>
                      </a:ext>
                    </a:extLst>
                  </a:tr>
                  <a:tr h="701040">
                    <a:tc>
                      <a:txBody>
                        <a:bodyPr/>
                        <a:lstStyle/>
                        <a:p>
                          <a:r>
                            <a:rPr lang="en-US" sz="2000" dirty="0">
                              <a:latin typeface="Times New Roman" panose="02020603050405020304" pitchFamily="18" charset="0"/>
                              <a:cs typeface="Times New Roman" panose="02020603050405020304" pitchFamily="18" charset="0"/>
                            </a:rPr>
                            <a:t>Compressive Ultimate</a:t>
                          </a:r>
                          <a:r>
                            <a:rPr lang="en-US" sz="2000" baseline="0" dirty="0">
                              <a:latin typeface="Times New Roman" panose="02020603050405020304" pitchFamily="18" charset="0"/>
                              <a:cs typeface="Times New Roman" panose="02020603050405020304" pitchFamily="18" charset="0"/>
                            </a:rPr>
                            <a:t>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250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0181582"/>
                      </a:ext>
                    </a:extLst>
                  </a:tr>
                </a:tbl>
              </a:graphicData>
            </a:graphic>
          </p:graphicFrame>
        </mc:Fallback>
      </mc:AlternateContent>
      <p:sp>
        <p:nvSpPr>
          <p:cNvPr id="8" name="TextBox 7">
            <a:extLst>
              <a:ext uri="{FF2B5EF4-FFF2-40B4-BE49-F238E27FC236}">
                <a16:creationId xmlns:a16="http://schemas.microsoft.com/office/drawing/2014/main" id="{CFFBF594-59C0-06E6-8ABA-1D0E005F653A}"/>
              </a:ext>
            </a:extLst>
          </p:cNvPr>
          <p:cNvSpPr txBox="1"/>
          <p:nvPr/>
        </p:nvSpPr>
        <p:spPr>
          <a:xfrm>
            <a:off x="4268379" y="929507"/>
            <a:ext cx="281355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panose="02020603050405020304" pitchFamily="18" charset="0"/>
                <a:cs typeface="Times New Roman" panose="02020603050405020304" pitchFamily="18" charset="0"/>
              </a:rPr>
              <a:t>Cancellous Bone:</a:t>
            </a:r>
            <a:endParaRPr lang="en-IN" sz="2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10" name="Table 9"/>
              <p:cNvGraphicFramePr>
                <a:graphicFrameLocks noGrp="1"/>
              </p:cNvGraphicFramePr>
              <p:nvPr>
                <p:extLst>
                  <p:ext uri="{D42A27DB-BD31-4B8C-83A1-F6EECF244321}">
                    <p14:modId xmlns:p14="http://schemas.microsoft.com/office/powerpoint/2010/main" val="2422026051"/>
                  </p:ext>
                </p:extLst>
              </p:nvPr>
            </p:nvGraphicFramePr>
            <p:xfrm>
              <a:off x="4058817" y="1284745"/>
              <a:ext cx="4861845" cy="2377440"/>
            </p:xfrm>
            <a:graphic>
              <a:graphicData uri="http://schemas.openxmlformats.org/drawingml/2006/table">
                <a:tbl>
                  <a:tblPr firstRow="1" bandRow="1">
                    <a:tableStyleId>{5C22544A-7EE6-4342-B048-85BDC9FD1C3A}</a:tableStyleId>
                  </a:tblPr>
                  <a:tblGrid>
                    <a:gridCol w="2764494">
                      <a:extLst>
                        <a:ext uri="{9D8B030D-6E8A-4147-A177-3AD203B41FA5}">
                          <a16:colId xmlns:a16="http://schemas.microsoft.com/office/drawing/2014/main" val="332978620"/>
                        </a:ext>
                      </a:extLst>
                    </a:gridCol>
                    <a:gridCol w="2097351">
                      <a:extLst>
                        <a:ext uri="{9D8B030D-6E8A-4147-A177-3AD203B41FA5}">
                          <a16:colId xmlns:a16="http://schemas.microsoft.com/office/drawing/2014/main" val="1640628217"/>
                        </a:ext>
                      </a:extLst>
                    </a:gridCol>
                  </a:tblGrid>
                  <a:tr h="369305">
                    <a:tc>
                      <a:txBody>
                        <a:bodyPr/>
                        <a:lstStyle/>
                        <a:p>
                          <a:r>
                            <a:rPr lang="en-US" sz="2000" dirty="0">
                              <a:latin typeface="Times New Roman" panose="02020603050405020304" pitchFamily="18" charset="0"/>
                              <a:cs typeface="Times New Roman" panose="02020603050405020304" pitchFamily="18" charset="0"/>
                            </a:rPr>
                            <a:t>Property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Value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14265080"/>
                      </a:ext>
                    </a:extLst>
                  </a:tr>
                  <a:tr h="370840">
                    <a:tc>
                      <a:txBody>
                        <a:bodyPr/>
                        <a:lstStyle/>
                        <a:p>
                          <a:r>
                            <a:rPr lang="en-US" sz="2000" dirty="0">
                              <a:latin typeface="Times New Roman" panose="02020603050405020304" pitchFamily="18" charset="0"/>
                              <a:cs typeface="Times New Roman" panose="02020603050405020304" pitchFamily="18" charset="0"/>
                            </a:rPr>
                            <a:t>Density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350 kg/</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𝑚</m:t>
                                  </m:r>
                                </m:e>
                                <m:sup>
                                  <m:r>
                                    <a:rPr lang="en-US" sz="2000" b="0" i="1" smtClean="0">
                                      <a:latin typeface="Cambria Math" panose="02040503050406030204" pitchFamily="18" charset="0"/>
                                    </a:rPr>
                                    <m:t>3</m:t>
                                  </m:r>
                                </m:sup>
                              </m:sSup>
                            </m:oMath>
                          </a14:m>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79770637"/>
                      </a:ext>
                    </a:extLst>
                  </a:tr>
                  <a:tr h="370840">
                    <a:tc>
                      <a:txBody>
                        <a:bodyPr/>
                        <a:lstStyle/>
                        <a:p>
                          <a:r>
                            <a:rPr lang="en-US" sz="2000" dirty="0">
                              <a:latin typeface="Times New Roman" panose="02020603050405020304" pitchFamily="18" charset="0"/>
                              <a:cs typeface="Times New Roman" panose="02020603050405020304" pitchFamily="18" charset="0"/>
                            </a:rPr>
                            <a:t>Young’s Modulus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3 </a:t>
                          </a:r>
                          <a:r>
                            <a:rPr lang="en-US" sz="2000" dirty="0" err="1">
                              <a:latin typeface="Times New Roman" panose="02020603050405020304" pitchFamily="18" charset="0"/>
                              <a:cs typeface="Times New Roman" panose="02020603050405020304" pitchFamily="18" charset="0"/>
                            </a:rPr>
                            <a:t>GPa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6421683"/>
                      </a:ext>
                    </a:extLst>
                  </a:tr>
                  <a:tr h="370840">
                    <a:tc>
                      <a:txBody>
                        <a:bodyPr/>
                        <a:lstStyle/>
                        <a:p>
                          <a:r>
                            <a:rPr lang="en-US" sz="2000" dirty="0">
                              <a:latin typeface="Times New Roman" panose="02020603050405020304" pitchFamily="18" charset="0"/>
                              <a:cs typeface="Times New Roman" panose="02020603050405020304" pitchFamily="18" charset="0"/>
                            </a:rPr>
                            <a:t>Poisson’s Ratio</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0.30-0.35</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8981459"/>
                      </a:ext>
                    </a:extLst>
                  </a:tr>
                  <a:tr h="370840">
                    <a:tc>
                      <a:txBody>
                        <a:bodyPr/>
                        <a:lstStyle/>
                        <a:p>
                          <a:r>
                            <a:rPr lang="en-US" sz="2000" dirty="0">
                              <a:latin typeface="Times New Roman" panose="02020603050405020304" pitchFamily="18" charset="0"/>
                              <a:cs typeface="Times New Roman" panose="02020603050405020304" pitchFamily="18" charset="0"/>
                            </a:rPr>
                            <a:t>Tensile Yield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30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3989873"/>
                      </a:ext>
                    </a:extLst>
                  </a:tr>
                  <a:tr h="0">
                    <a:tc>
                      <a:txBody>
                        <a:bodyPr/>
                        <a:lstStyle/>
                        <a:p>
                          <a:r>
                            <a:rPr lang="en-US" sz="2000" dirty="0" smtClean="0">
                              <a:latin typeface="Times New Roman" panose="02020603050405020304" pitchFamily="18" charset="0"/>
                              <a:cs typeface="Times New Roman" panose="02020603050405020304" pitchFamily="18" charset="0"/>
                            </a:rPr>
                            <a:t>Comp. </a:t>
                          </a:r>
                          <a:r>
                            <a:rPr lang="en-US" sz="2000" dirty="0">
                              <a:latin typeface="Times New Roman" panose="02020603050405020304" pitchFamily="18" charset="0"/>
                              <a:cs typeface="Times New Roman" panose="02020603050405020304" pitchFamily="18" charset="0"/>
                            </a:rPr>
                            <a:t>Ultimate</a:t>
                          </a:r>
                          <a:r>
                            <a:rPr lang="en-US" sz="2000" baseline="0" dirty="0">
                              <a:latin typeface="Times New Roman" panose="02020603050405020304" pitchFamily="18" charset="0"/>
                              <a:cs typeface="Times New Roman" panose="02020603050405020304" pitchFamily="18" charset="0"/>
                            </a:rPr>
                            <a:t>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12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0181582"/>
                      </a:ext>
                    </a:extLst>
                  </a:tr>
                </a:tbl>
              </a:graphicData>
            </a:graphic>
          </p:graphicFrame>
        </mc:Choice>
        <mc:Fallback>
          <p:graphicFrame>
            <p:nvGraphicFramePr>
              <p:cNvPr id="10" name="Table 9"/>
              <p:cNvGraphicFramePr>
                <a:graphicFrameLocks noGrp="1"/>
              </p:cNvGraphicFramePr>
              <p:nvPr>
                <p:extLst>
                  <p:ext uri="{D42A27DB-BD31-4B8C-83A1-F6EECF244321}">
                    <p14:modId xmlns:p14="http://schemas.microsoft.com/office/powerpoint/2010/main" val="2422026051"/>
                  </p:ext>
                </p:extLst>
              </p:nvPr>
            </p:nvGraphicFramePr>
            <p:xfrm>
              <a:off x="4058817" y="1284745"/>
              <a:ext cx="4861845" cy="2377440"/>
            </p:xfrm>
            <a:graphic>
              <a:graphicData uri="http://schemas.openxmlformats.org/drawingml/2006/table">
                <a:tbl>
                  <a:tblPr firstRow="1" bandRow="1">
                    <a:tableStyleId>{5C22544A-7EE6-4342-B048-85BDC9FD1C3A}</a:tableStyleId>
                  </a:tblPr>
                  <a:tblGrid>
                    <a:gridCol w="2764494">
                      <a:extLst>
                        <a:ext uri="{9D8B030D-6E8A-4147-A177-3AD203B41FA5}">
                          <a16:colId xmlns:a16="http://schemas.microsoft.com/office/drawing/2014/main" val="332978620"/>
                        </a:ext>
                      </a:extLst>
                    </a:gridCol>
                    <a:gridCol w="2097351">
                      <a:extLst>
                        <a:ext uri="{9D8B030D-6E8A-4147-A177-3AD203B41FA5}">
                          <a16:colId xmlns:a16="http://schemas.microsoft.com/office/drawing/2014/main" val="1640628217"/>
                        </a:ext>
                      </a:extLst>
                    </a:gridCol>
                  </a:tblGrid>
                  <a:tr h="396240">
                    <a:tc>
                      <a:txBody>
                        <a:bodyPr/>
                        <a:lstStyle/>
                        <a:p>
                          <a:r>
                            <a:rPr lang="en-US" sz="2000" dirty="0">
                              <a:latin typeface="Times New Roman" panose="02020603050405020304" pitchFamily="18" charset="0"/>
                              <a:cs typeface="Times New Roman" panose="02020603050405020304" pitchFamily="18" charset="0"/>
                            </a:rPr>
                            <a:t>Property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Value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14265080"/>
                      </a:ext>
                    </a:extLst>
                  </a:tr>
                  <a:tr h="396240">
                    <a:tc>
                      <a:txBody>
                        <a:bodyPr/>
                        <a:lstStyle/>
                        <a:p>
                          <a:r>
                            <a:rPr lang="en-US" sz="2000" dirty="0">
                              <a:latin typeface="Times New Roman" panose="02020603050405020304" pitchFamily="18" charset="0"/>
                              <a:cs typeface="Times New Roman" panose="02020603050405020304" pitchFamily="18" charset="0"/>
                            </a:rPr>
                            <a:t>Density</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US"/>
                        </a:p>
                      </a:txBody>
                      <a:tcPr>
                        <a:blipFill>
                          <a:blip r:embed="rId4"/>
                          <a:stretch>
                            <a:fillRect l="-131884" t="-107692" r="-1159" b="-429231"/>
                          </a:stretch>
                        </a:blipFill>
                      </a:tcPr>
                    </a:tc>
                    <a:extLst>
                      <a:ext uri="{0D108BD9-81ED-4DB2-BD59-A6C34878D82A}">
                        <a16:rowId xmlns:a16="http://schemas.microsoft.com/office/drawing/2014/main" val="879770637"/>
                      </a:ext>
                    </a:extLst>
                  </a:tr>
                  <a:tr h="396240">
                    <a:tc>
                      <a:txBody>
                        <a:bodyPr/>
                        <a:lstStyle/>
                        <a:p>
                          <a:r>
                            <a:rPr lang="en-US" sz="2000" dirty="0">
                              <a:latin typeface="Times New Roman" panose="02020603050405020304" pitchFamily="18" charset="0"/>
                              <a:cs typeface="Times New Roman" panose="02020603050405020304" pitchFamily="18" charset="0"/>
                            </a:rPr>
                            <a:t>Young’s Modulus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3 </a:t>
                          </a:r>
                          <a:r>
                            <a:rPr lang="en-US" sz="2000" dirty="0" err="1">
                              <a:latin typeface="Times New Roman" panose="02020603050405020304" pitchFamily="18" charset="0"/>
                              <a:cs typeface="Times New Roman" panose="02020603050405020304" pitchFamily="18" charset="0"/>
                            </a:rPr>
                            <a:t>GPa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6421683"/>
                      </a:ext>
                    </a:extLst>
                  </a:tr>
                  <a:tr h="396240">
                    <a:tc>
                      <a:txBody>
                        <a:bodyPr/>
                        <a:lstStyle/>
                        <a:p>
                          <a:r>
                            <a:rPr lang="en-US" sz="2000" dirty="0">
                              <a:latin typeface="Times New Roman" panose="02020603050405020304" pitchFamily="18" charset="0"/>
                              <a:cs typeface="Times New Roman" panose="02020603050405020304" pitchFamily="18" charset="0"/>
                            </a:rPr>
                            <a:t>Poisson’s Ratio</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0.30-0.35</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8981459"/>
                      </a:ext>
                    </a:extLst>
                  </a:tr>
                  <a:tr h="396240">
                    <a:tc>
                      <a:txBody>
                        <a:bodyPr/>
                        <a:lstStyle/>
                        <a:p>
                          <a:r>
                            <a:rPr lang="en-US" sz="2000" dirty="0">
                              <a:latin typeface="Times New Roman" panose="02020603050405020304" pitchFamily="18" charset="0"/>
                              <a:cs typeface="Times New Roman" panose="02020603050405020304" pitchFamily="18" charset="0"/>
                            </a:rPr>
                            <a:t>Tensile Yield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30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3989873"/>
                      </a:ext>
                    </a:extLst>
                  </a:tr>
                  <a:tr h="396240">
                    <a:tc>
                      <a:txBody>
                        <a:bodyPr/>
                        <a:lstStyle/>
                        <a:p>
                          <a:r>
                            <a:rPr lang="en-US" sz="2000" dirty="0" smtClean="0">
                              <a:latin typeface="Times New Roman" panose="02020603050405020304" pitchFamily="18" charset="0"/>
                              <a:cs typeface="Times New Roman" panose="02020603050405020304" pitchFamily="18" charset="0"/>
                            </a:rPr>
                            <a:t>Comp. </a:t>
                          </a:r>
                          <a:r>
                            <a:rPr lang="en-US" sz="2000" dirty="0">
                              <a:latin typeface="Times New Roman" panose="02020603050405020304" pitchFamily="18" charset="0"/>
                              <a:cs typeface="Times New Roman" panose="02020603050405020304" pitchFamily="18" charset="0"/>
                            </a:rPr>
                            <a:t>Ultimate</a:t>
                          </a:r>
                          <a:r>
                            <a:rPr lang="en-US" sz="2000" baseline="0" dirty="0">
                              <a:latin typeface="Times New Roman" panose="02020603050405020304" pitchFamily="18" charset="0"/>
                              <a:cs typeface="Times New Roman" panose="02020603050405020304" pitchFamily="18" charset="0"/>
                            </a:rPr>
                            <a:t>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12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0181582"/>
                      </a:ext>
                    </a:extLst>
                  </a:tr>
                </a:tbl>
              </a:graphicData>
            </a:graphic>
          </p:graphicFrame>
        </mc:Fallback>
      </mc:AlternateContent>
      <p:sp>
        <p:nvSpPr>
          <p:cNvPr id="11" name="TextBox 10">
            <a:extLst>
              <a:ext uri="{FF2B5EF4-FFF2-40B4-BE49-F238E27FC236}">
                <a16:creationId xmlns:a16="http://schemas.microsoft.com/office/drawing/2014/main" id="{CFFBF594-59C0-06E6-8ABA-1D0E005F653A}"/>
              </a:ext>
            </a:extLst>
          </p:cNvPr>
          <p:cNvSpPr txBox="1"/>
          <p:nvPr/>
        </p:nvSpPr>
        <p:spPr>
          <a:xfrm>
            <a:off x="4268379" y="3717038"/>
            <a:ext cx="379327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panose="02020603050405020304" pitchFamily="18" charset="0"/>
                <a:cs typeface="Times New Roman" panose="02020603050405020304" pitchFamily="18" charset="0"/>
              </a:rPr>
              <a:t>Titanium Alloy (Ti-6Al-4V):</a:t>
            </a:r>
            <a:endParaRPr lang="en-IN" sz="2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12" name="Table 11"/>
              <p:cNvGraphicFramePr>
                <a:graphicFrameLocks noGrp="1"/>
              </p:cNvGraphicFramePr>
              <p:nvPr>
                <p:extLst>
                  <p:ext uri="{D42A27DB-BD31-4B8C-83A1-F6EECF244321}">
                    <p14:modId xmlns:p14="http://schemas.microsoft.com/office/powerpoint/2010/main" val="2982491110"/>
                  </p:ext>
                </p:extLst>
              </p:nvPr>
            </p:nvGraphicFramePr>
            <p:xfrm>
              <a:off x="4058817" y="4120478"/>
              <a:ext cx="4861845" cy="2377440"/>
            </p:xfrm>
            <a:graphic>
              <a:graphicData uri="http://schemas.openxmlformats.org/drawingml/2006/table">
                <a:tbl>
                  <a:tblPr firstRow="1" bandRow="1">
                    <a:tableStyleId>{5C22544A-7EE6-4342-B048-85BDC9FD1C3A}</a:tableStyleId>
                  </a:tblPr>
                  <a:tblGrid>
                    <a:gridCol w="2987726">
                      <a:extLst>
                        <a:ext uri="{9D8B030D-6E8A-4147-A177-3AD203B41FA5}">
                          <a16:colId xmlns:a16="http://schemas.microsoft.com/office/drawing/2014/main" val="332978620"/>
                        </a:ext>
                      </a:extLst>
                    </a:gridCol>
                    <a:gridCol w="1874119">
                      <a:extLst>
                        <a:ext uri="{9D8B030D-6E8A-4147-A177-3AD203B41FA5}">
                          <a16:colId xmlns:a16="http://schemas.microsoft.com/office/drawing/2014/main" val="1640628217"/>
                        </a:ext>
                      </a:extLst>
                    </a:gridCol>
                  </a:tblGrid>
                  <a:tr h="370840">
                    <a:tc>
                      <a:txBody>
                        <a:bodyPr/>
                        <a:lstStyle/>
                        <a:p>
                          <a:r>
                            <a:rPr lang="en-US" sz="2000" dirty="0">
                              <a:latin typeface="Times New Roman" panose="02020603050405020304" pitchFamily="18" charset="0"/>
                              <a:cs typeface="Times New Roman" panose="02020603050405020304" pitchFamily="18" charset="0"/>
                            </a:rPr>
                            <a:t>Property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Value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14265080"/>
                      </a:ext>
                    </a:extLst>
                  </a:tr>
                  <a:tr h="370840">
                    <a:tc>
                      <a:txBody>
                        <a:bodyPr/>
                        <a:lstStyle/>
                        <a:p>
                          <a:r>
                            <a:rPr lang="en-US" sz="2000" dirty="0">
                              <a:latin typeface="Times New Roman" panose="02020603050405020304" pitchFamily="18" charset="0"/>
                              <a:cs typeface="Times New Roman" panose="02020603050405020304" pitchFamily="18" charset="0"/>
                            </a:rPr>
                            <a:t>Density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4429 kg/</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𝑚</m:t>
                                  </m:r>
                                </m:e>
                                <m:sup>
                                  <m:r>
                                    <a:rPr lang="en-US" sz="2000" b="0" i="1" smtClean="0">
                                      <a:latin typeface="Cambria Math" panose="02040503050406030204" pitchFamily="18" charset="0"/>
                                    </a:rPr>
                                    <m:t>3</m:t>
                                  </m:r>
                                </m:sup>
                              </m:sSup>
                            </m:oMath>
                          </a14:m>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79770637"/>
                      </a:ext>
                    </a:extLst>
                  </a:tr>
                  <a:tr h="370840">
                    <a:tc>
                      <a:txBody>
                        <a:bodyPr/>
                        <a:lstStyle/>
                        <a:p>
                          <a:r>
                            <a:rPr lang="en-US" sz="2000" dirty="0">
                              <a:latin typeface="Times New Roman" panose="02020603050405020304" pitchFamily="18" charset="0"/>
                              <a:cs typeface="Times New Roman" panose="02020603050405020304" pitchFamily="18" charset="0"/>
                            </a:rPr>
                            <a:t>Young’s Modulus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111.2 </a:t>
                          </a:r>
                          <a:r>
                            <a:rPr lang="en-US" sz="2000" dirty="0" err="1">
                              <a:latin typeface="Times New Roman" panose="02020603050405020304" pitchFamily="18" charset="0"/>
                              <a:cs typeface="Times New Roman" panose="02020603050405020304" pitchFamily="18" charset="0"/>
                            </a:rPr>
                            <a:t>GPa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6421683"/>
                      </a:ext>
                    </a:extLst>
                  </a:tr>
                  <a:tr h="370840">
                    <a:tc>
                      <a:txBody>
                        <a:bodyPr/>
                        <a:lstStyle/>
                        <a:p>
                          <a:r>
                            <a:rPr lang="en-US" sz="2000" dirty="0">
                              <a:latin typeface="Times New Roman" panose="02020603050405020304" pitchFamily="18" charset="0"/>
                              <a:cs typeface="Times New Roman" panose="02020603050405020304" pitchFamily="18" charset="0"/>
                            </a:rPr>
                            <a:t>Poisson’s Ratio</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0.3387</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8981459"/>
                      </a:ext>
                    </a:extLst>
                  </a:tr>
                  <a:tr h="370840">
                    <a:tc>
                      <a:txBody>
                        <a:bodyPr/>
                        <a:lstStyle/>
                        <a:p>
                          <a:r>
                            <a:rPr lang="en-US" sz="2000" dirty="0">
                              <a:latin typeface="Times New Roman" panose="02020603050405020304" pitchFamily="18" charset="0"/>
                              <a:cs typeface="Times New Roman" panose="02020603050405020304" pitchFamily="18" charset="0"/>
                            </a:rPr>
                            <a:t>Tensile Yield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860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3989873"/>
                      </a:ext>
                    </a:extLst>
                  </a:tr>
                  <a:tr h="160505">
                    <a:tc>
                      <a:txBody>
                        <a:bodyPr/>
                        <a:lstStyle/>
                        <a:p>
                          <a:r>
                            <a:rPr lang="en-US" sz="2000" dirty="0">
                              <a:latin typeface="Times New Roman" panose="02020603050405020304" pitchFamily="18" charset="0"/>
                              <a:cs typeface="Times New Roman" panose="02020603050405020304" pitchFamily="18" charset="0"/>
                            </a:rPr>
                            <a:t>Tensile Ultimate</a:t>
                          </a:r>
                          <a:r>
                            <a:rPr lang="en-US" sz="2000" baseline="0" dirty="0">
                              <a:latin typeface="Times New Roman" panose="02020603050405020304" pitchFamily="18" charset="0"/>
                              <a:cs typeface="Times New Roman" panose="02020603050405020304" pitchFamily="18" charset="0"/>
                            </a:rPr>
                            <a:t>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950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0181582"/>
                      </a:ext>
                    </a:extLst>
                  </a:tr>
                </a:tbl>
              </a:graphicData>
            </a:graphic>
          </p:graphicFrame>
        </mc:Choice>
        <mc:Fallback>
          <p:graphicFrame>
            <p:nvGraphicFramePr>
              <p:cNvPr id="12" name="Table 11"/>
              <p:cNvGraphicFramePr>
                <a:graphicFrameLocks noGrp="1"/>
              </p:cNvGraphicFramePr>
              <p:nvPr>
                <p:extLst>
                  <p:ext uri="{D42A27DB-BD31-4B8C-83A1-F6EECF244321}">
                    <p14:modId xmlns:p14="http://schemas.microsoft.com/office/powerpoint/2010/main" val="2982491110"/>
                  </p:ext>
                </p:extLst>
              </p:nvPr>
            </p:nvGraphicFramePr>
            <p:xfrm>
              <a:off x="4058817" y="4120478"/>
              <a:ext cx="4861845" cy="2377440"/>
            </p:xfrm>
            <a:graphic>
              <a:graphicData uri="http://schemas.openxmlformats.org/drawingml/2006/table">
                <a:tbl>
                  <a:tblPr firstRow="1" bandRow="1">
                    <a:tableStyleId>{5C22544A-7EE6-4342-B048-85BDC9FD1C3A}</a:tableStyleId>
                  </a:tblPr>
                  <a:tblGrid>
                    <a:gridCol w="2987726">
                      <a:extLst>
                        <a:ext uri="{9D8B030D-6E8A-4147-A177-3AD203B41FA5}">
                          <a16:colId xmlns:a16="http://schemas.microsoft.com/office/drawing/2014/main" val="332978620"/>
                        </a:ext>
                      </a:extLst>
                    </a:gridCol>
                    <a:gridCol w="1874119">
                      <a:extLst>
                        <a:ext uri="{9D8B030D-6E8A-4147-A177-3AD203B41FA5}">
                          <a16:colId xmlns:a16="http://schemas.microsoft.com/office/drawing/2014/main" val="1640628217"/>
                        </a:ext>
                      </a:extLst>
                    </a:gridCol>
                  </a:tblGrid>
                  <a:tr h="396240">
                    <a:tc>
                      <a:txBody>
                        <a:bodyPr/>
                        <a:lstStyle/>
                        <a:p>
                          <a:r>
                            <a:rPr lang="en-US" sz="2000" dirty="0">
                              <a:latin typeface="Times New Roman" panose="02020603050405020304" pitchFamily="18" charset="0"/>
                              <a:cs typeface="Times New Roman" panose="02020603050405020304" pitchFamily="18" charset="0"/>
                            </a:rPr>
                            <a:t>Property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Value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14265080"/>
                      </a:ext>
                    </a:extLst>
                  </a:tr>
                  <a:tr h="396240">
                    <a:tc>
                      <a:txBody>
                        <a:bodyPr/>
                        <a:lstStyle/>
                        <a:p>
                          <a:r>
                            <a:rPr lang="en-US" sz="2000" dirty="0">
                              <a:latin typeface="Times New Roman" panose="02020603050405020304" pitchFamily="18" charset="0"/>
                              <a:cs typeface="Times New Roman" panose="02020603050405020304" pitchFamily="18" charset="0"/>
                            </a:rPr>
                            <a:t>Density</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US"/>
                        </a:p>
                      </a:txBody>
                      <a:tcPr>
                        <a:blipFill>
                          <a:blip r:embed="rId5"/>
                          <a:stretch>
                            <a:fillRect l="-159740" t="-107692" r="-1299" b="-429231"/>
                          </a:stretch>
                        </a:blipFill>
                      </a:tcPr>
                    </a:tc>
                    <a:extLst>
                      <a:ext uri="{0D108BD9-81ED-4DB2-BD59-A6C34878D82A}">
                        <a16:rowId xmlns:a16="http://schemas.microsoft.com/office/drawing/2014/main" val="879770637"/>
                      </a:ext>
                    </a:extLst>
                  </a:tr>
                  <a:tr h="396240">
                    <a:tc>
                      <a:txBody>
                        <a:bodyPr/>
                        <a:lstStyle/>
                        <a:p>
                          <a:r>
                            <a:rPr lang="en-US" sz="2000" dirty="0">
                              <a:latin typeface="Times New Roman" panose="02020603050405020304" pitchFamily="18" charset="0"/>
                              <a:cs typeface="Times New Roman" panose="02020603050405020304" pitchFamily="18" charset="0"/>
                            </a:rPr>
                            <a:t>Young’s Modulus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111.2 </a:t>
                          </a:r>
                          <a:r>
                            <a:rPr lang="en-US" sz="2000" dirty="0" err="1">
                              <a:latin typeface="Times New Roman" panose="02020603050405020304" pitchFamily="18" charset="0"/>
                              <a:cs typeface="Times New Roman" panose="02020603050405020304" pitchFamily="18" charset="0"/>
                            </a:rPr>
                            <a:t>GPa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6421683"/>
                      </a:ext>
                    </a:extLst>
                  </a:tr>
                  <a:tr h="396240">
                    <a:tc>
                      <a:txBody>
                        <a:bodyPr/>
                        <a:lstStyle/>
                        <a:p>
                          <a:r>
                            <a:rPr lang="en-US" sz="2000" dirty="0">
                              <a:latin typeface="Times New Roman" panose="02020603050405020304" pitchFamily="18" charset="0"/>
                              <a:cs typeface="Times New Roman" panose="02020603050405020304" pitchFamily="18" charset="0"/>
                            </a:rPr>
                            <a:t>Poisson’s Ratio</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0.3387</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8981459"/>
                      </a:ext>
                    </a:extLst>
                  </a:tr>
                  <a:tr h="396240">
                    <a:tc>
                      <a:txBody>
                        <a:bodyPr/>
                        <a:lstStyle/>
                        <a:p>
                          <a:r>
                            <a:rPr lang="en-US" sz="2000" dirty="0">
                              <a:latin typeface="Times New Roman" panose="02020603050405020304" pitchFamily="18" charset="0"/>
                              <a:cs typeface="Times New Roman" panose="02020603050405020304" pitchFamily="18" charset="0"/>
                            </a:rPr>
                            <a:t>Tensile Yield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860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33989873"/>
                      </a:ext>
                    </a:extLst>
                  </a:tr>
                  <a:tr h="396240">
                    <a:tc>
                      <a:txBody>
                        <a:bodyPr/>
                        <a:lstStyle/>
                        <a:p>
                          <a:r>
                            <a:rPr lang="en-US" sz="2000" dirty="0">
                              <a:latin typeface="Times New Roman" panose="02020603050405020304" pitchFamily="18" charset="0"/>
                              <a:cs typeface="Times New Roman" panose="02020603050405020304" pitchFamily="18" charset="0"/>
                            </a:rPr>
                            <a:t>Tensile Ultimate</a:t>
                          </a:r>
                          <a:r>
                            <a:rPr lang="en-US" sz="2000" baseline="0" dirty="0">
                              <a:latin typeface="Times New Roman" panose="02020603050405020304" pitchFamily="18" charset="0"/>
                              <a:cs typeface="Times New Roman" panose="02020603050405020304" pitchFamily="18" charset="0"/>
                            </a:rPr>
                            <a:t> Strength</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950 MPa</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0181582"/>
                      </a:ext>
                    </a:extLst>
                  </a:tr>
                </a:tbl>
              </a:graphicData>
            </a:graphic>
          </p:graphicFrame>
        </mc:Fallback>
      </mc:AlternateContent>
    </p:spTree>
    <p:extLst>
      <p:ext uri="{BB962C8B-B14F-4D97-AF65-F5344CB8AC3E}">
        <p14:creationId xmlns:p14="http://schemas.microsoft.com/office/powerpoint/2010/main" val="958799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15</a:t>
            </a:fld>
            <a:endParaRPr lang="en-US">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2"/>
          <a:stretch>
            <a:fillRect/>
          </a:stretch>
        </p:blipFill>
        <p:spPr>
          <a:xfrm>
            <a:off x="5660394" y="1300867"/>
            <a:ext cx="3483606" cy="2985934"/>
          </a:xfrm>
          <a:prstGeom prst="homePlate">
            <a:avLst>
              <a:gd name="adj" fmla="val 33074"/>
            </a:avLst>
          </a:prstGeom>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198" y="1456822"/>
            <a:ext cx="5489196" cy="2628755"/>
          </a:xfrm>
          <a:prstGeom prst="rect">
            <a:avLst/>
          </a:prstGeom>
        </p:spPr>
      </p:pic>
      <mc:AlternateContent xmlns:mc="http://schemas.openxmlformats.org/markup-compatibility/2006">
        <mc:Choice xmlns:a14="http://schemas.microsoft.com/office/drawing/2010/main" Requires="a14">
          <p:sp>
            <p:nvSpPr>
              <p:cNvPr id="16" name="TextBox 15"/>
              <p:cNvSpPr txBox="1"/>
              <p:nvPr/>
            </p:nvSpPr>
            <p:spPr>
              <a:xfrm>
                <a:off x="429477" y="535016"/>
                <a:ext cx="8204718" cy="765851"/>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Loading Conditions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14:m>
                  <m:oMath xmlns:m="http://schemas.openxmlformats.org/officeDocument/2006/math">
                    <m:sSup>
                      <m:sSupPr>
                        <m:ctrlPr>
                          <a:rPr lang="en-IN" sz="2000" b="1" i="1" smtClean="0">
                            <a:latin typeface="Cambria Math" panose="02040503050406030204" pitchFamily="18" charset="0"/>
                          </a:rPr>
                        </m:ctrlPr>
                      </m:sSupPr>
                      <m:e>
                        <m:r>
                          <m:rPr>
                            <m:nor/>
                          </m:rPr>
                          <a:rPr lang="en-IN" sz="2000" b="1" dirty="0">
                            <a:latin typeface="Times New Roman" panose="02020603050405020304" pitchFamily="18" charset="0"/>
                            <a:cs typeface="Times New Roman" panose="02020603050405020304" pitchFamily="18" charset="0"/>
                          </a:rPr>
                          <m:t>One</m:t>
                        </m:r>
                        <m:r>
                          <m:rPr>
                            <m:nor/>
                          </m:rPr>
                          <a:rPr lang="en-IN" sz="2000" b="1" dirty="0">
                            <a:latin typeface="Times New Roman" panose="02020603050405020304" pitchFamily="18" charset="0"/>
                            <a:cs typeface="Times New Roman" panose="02020603050405020304" pitchFamily="18" charset="0"/>
                          </a:rPr>
                          <m:t>‑</m:t>
                        </m:r>
                        <m:r>
                          <m:rPr>
                            <m:nor/>
                          </m:rPr>
                          <a:rPr lang="en-IN" sz="2000" b="1" dirty="0">
                            <a:latin typeface="Times New Roman" panose="02020603050405020304" pitchFamily="18" charset="0"/>
                            <a:cs typeface="Times New Roman" panose="02020603050405020304" pitchFamily="18" charset="0"/>
                          </a:rPr>
                          <m:t>Legged</m:t>
                        </m:r>
                        <m:r>
                          <m:rPr>
                            <m:nor/>
                          </m:rPr>
                          <a:rPr lang="en-IN" sz="2000" b="1" dirty="0">
                            <a:latin typeface="Times New Roman" panose="02020603050405020304" pitchFamily="18" charset="0"/>
                            <a:cs typeface="Times New Roman" panose="02020603050405020304" pitchFamily="18" charset="0"/>
                          </a:rPr>
                          <m:t> </m:t>
                        </m:r>
                        <m:r>
                          <m:rPr>
                            <m:nor/>
                          </m:rPr>
                          <a:rPr lang="en-IN" sz="2000" b="1" dirty="0">
                            <a:latin typeface="Times New Roman" panose="02020603050405020304" pitchFamily="18" charset="0"/>
                            <a:cs typeface="Times New Roman" panose="02020603050405020304" pitchFamily="18" charset="0"/>
                          </a:rPr>
                          <m:t>Stance</m:t>
                        </m:r>
                        <m:r>
                          <m:rPr>
                            <m:nor/>
                          </m:rPr>
                          <a:rPr lang="en-IN" sz="2000" b="1" dirty="0">
                            <a:latin typeface="Times New Roman" panose="02020603050405020304" pitchFamily="18" charset="0"/>
                            <a:cs typeface="Times New Roman" panose="02020603050405020304" pitchFamily="18" charset="0"/>
                          </a:rPr>
                          <m:t> </m:t>
                        </m:r>
                        <m:r>
                          <m:rPr>
                            <m:nor/>
                          </m:rPr>
                          <a:rPr lang="en-IN" sz="2000" b="1" dirty="0">
                            <a:latin typeface="Times New Roman" panose="02020603050405020304" pitchFamily="18" charset="0"/>
                            <a:cs typeface="Times New Roman" panose="02020603050405020304" pitchFamily="18" charset="0"/>
                          </a:rPr>
                          <m:t>Loading</m:t>
                        </m:r>
                        <m:r>
                          <m:rPr>
                            <m:nor/>
                          </m:rPr>
                          <a:rPr lang="en-IN" sz="2000" b="1" dirty="0">
                            <a:latin typeface="Times New Roman" panose="02020603050405020304" pitchFamily="18" charset="0"/>
                            <a:cs typeface="Times New Roman" panose="02020603050405020304" pitchFamily="18" charset="0"/>
                          </a:rPr>
                          <m:t> </m:t>
                        </m:r>
                        <m:r>
                          <m:rPr>
                            <m:nor/>
                          </m:rPr>
                          <a:rPr lang="en-IN" sz="2000" b="1" dirty="0">
                            <a:latin typeface="Times New Roman" panose="02020603050405020304" pitchFamily="18" charset="0"/>
                            <a:cs typeface="Times New Roman" panose="02020603050405020304" pitchFamily="18" charset="0"/>
                          </a:rPr>
                          <m:t>and</m:t>
                        </m:r>
                        <m:r>
                          <m:rPr>
                            <m:nor/>
                          </m:rPr>
                          <a:rPr lang="en-IN" sz="2000" b="1" dirty="0">
                            <a:latin typeface="Times New Roman" panose="02020603050405020304" pitchFamily="18" charset="0"/>
                            <a:cs typeface="Times New Roman" panose="02020603050405020304" pitchFamily="18" charset="0"/>
                          </a:rPr>
                          <m:t> </m:t>
                        </m:r>
                        <m:r>
                          <m:rPr>
                            <m:nor/>
                          </m:rPr>
                          <a:rPr lang="en-IN" sz="2000" b="1" dirty="0">
                            <a:latin typeface="Times New Roman" panose="02020603050405020304" pitchFamily="18" charset="0"/>
                            <a:cs typeface="Times New Roman" panose="02020603050405020304" pitchFamily="18" charset="0"/>
                          </a:rPr>
                          <m:t>Boundary</m:t>
                        </m:r>
                        <m:r>
                          <m:rPr>
                            <m:nor/>
                          </m:rPr>
                          <a:rPr lang="en-IN" sz="2000" b="1" dirty="0">
                            <a:latin typeface="Times New Roman" panose="02020603050405020304" pitchFamily="18" charset="0"/>
                            <a:cs typeface="Times New Roman" panose="02020603050405020304" pitchFamily="18" charset="0"/>
                          </a:rPr>
                          <m:t> </m:t>
                        </m:r>
                        <m:r>
                          <m:rPr>
                            <m:nor/>
                          </m:rPr>
                          <a:rPr lang="en-IN" sz="2000" b="1" dirty="0">
                            <a:latin typeface="Times New Roman" panose="02020603050405020304" pitchFamily="18" charset="0"/>
                            <a:cs typeface="Times New Roman" panose="02020603050405020304" pitchFamily="18" charset="0"/>
                          </a:rPr>
                          <m:t>Conditions</m:t>
                        </m:r>
                        <m:r>
                          <m:rPr>
                            <m:nor/>
                          </m:rPr>
                          <a:rPr lang="en-IN" sz="2000" b="1" dirty="0">
                            <a:latin typeface="Times New Roman" panose="02020603050405020304" pitchFamily="18" charset="0"/>
                            <a:cs typeface="Times New Roman" panose="02020603050405020304" pitchFamily="18" charset="0"/>
                          </a:rPr>
                          <m:t>:</m:t>
                        </m:r>
                      </m:e>
                      <m:sup>
                        <m:r>
                          <m:rPr>
                            <m:nor/>
                          </m:rPr>
                          <a:rPr lang="en-US" sz="2000" b="1" dirty="0">
                            <a:latin typeface="Times New Roman" panose="02020603050405020304" pitchFamily="18" charset="0"/>
                            <a:cs typeface="Times New Roman" panose="02020603050405020304" pitchFamily="18" charset="0"/>
                          </a:rPr>
                          <m:t>[</m:t>
                        </m:r>
                        <m:r>
                          <m:rPr>
                            <m:nor/>
                          </m:rPr>
                          <a:rPr lang="en-US" sz="2000" b="1" i="0" dirty="0" smtClean="0">
                            <a:latin typeface="Times New Roman" panose="02020603050405020304" pitchFamily="18" charset="0"/>
                            <a:cs typeface="Times New Roman" panose="02020603050405020304" pitchFamily="18" charset="0"/>
                          </a:rPr>
                          <m:t>7</m:t>
                        </m:r>
                        <m:r>
                          <m:rPr>
                            <m:nor/>
                          </m:rPr>
                          <a:rPr lang="en-US" sz="2000" b="1" dirty="0">
                            <a:latin typeface="Times New Roman" panose="02020603050405020304" pitchFamily="18" charset="0"/>
                            <a:cs typeface="Times New Roman" panose="02020603050405020304" pitchFamily="18" charset="0"/>
                          </a:rPr>
                          <m:t>]</m:t>
                        </m:r>
                      </m:sup>
                    </m:sSup>
                  </m:oMath>
                </a14:m>
                <a:endParaRPr lang="en-IN" sz="2000" b="1" dirty="0">
                  <a:latin typeface="Times New Roman" panose="02020603050405020304" pitchFamily="18" charset="0"/>
                  <a:cs typeface="Times New Roman" panose="02020603050405020304" pitchFamily="18" charset="0"/>
                </a:endParaRPr>
              </a:p>
            </p:txBody>
          </p:sp>
        </mc:Choice>
        <mc:Fallback>
          <p:sp>
            <p:nvSpPr>
              <p:cNvPr id="16" name="TextBox 15"/>
              <p:cNvSpPr txBox="1">
                <a:spLocks noRot="1" noChangeAspect="1" noMove="1" noResize="1" noEditPoints="1" noAdjustHandles="1" noChangeArrowheads="1" noChangeShapeType="1" noTextEdit="1"/>
              </p:cNvSpPr>
              <p:nvPr/>
            </p:nvSpPr>
            <p:spPr>
              <a:xfrm>
                <a:off x="429477" y="535016"/>
                <a:ext cx="8204718" cy="765851"/>
              </a:xfrm>
              <a:prstGeom prst="rect">
                <a:avLst/>
              </a:prstGeom>
              <a:blipFill>
                <a:blip r:embed="rId4"/>
                <a:stretch>
                  <a:fillRect l="-743" t="-4800" b="-11200"/>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0" name="TextBox 9"/>
              <p:cNvSpPr txBox="1"/>
              <p:nvPr/>
            </p:nvSpPr>
            <p:spPr>
              <a:xfrm>
                <a:off x="429477" y="4093831"/>
                <a:ext cx="8204718" cy="1917641"/>
              </a:xfrm>
              <a:prstGeom prst="rect">
                <a:avLst/>
              </a:prstGeom>
              <a:noFill/>
            </p:spPr>
            <p:txBody>
              <a:bodyPr wrap="square" rtlCol="0">
                <a:spAutoFit/>
              </a:bodyPr>
              <a:lstStyle/>
              <a:p>
                <a:endParaRPr lang="en-IN" sz="20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14:m>
                  <m:oMath xmlns:m="http://schemas.openxmlformats.org/officeDocument/2006/math">
                    <m:r>
                      <m:rPr>
                        <m:nor/>
                      </m:rPr>
                      <a:rPr lang="en-IN" sz="2000" b="1" dirty="0">
                        <a:latin typeface="Times New Roman" panose="02020603050405020304" pitchFamily="18" charset="0"/>
                        <a:cs typeface="Times New Roman" panose="02020603050405020304" pitchFamily="18" charset="0"/>
                      </a:rPr>
                      <m:t>One</m:t>
                    </m:r>
                    <m:r>
                      <m:rPr>
                        <m:nor/>
                      </m:rPr>
                      <a:rPr lang="en-IN" sz="2000" b="1" dirty="0">
                        <a:latin typeface="Times New Roman" panose="02020603050405020304" pitchFamily="18" charset="0"/>
                        <a:cs typeface="Times New Roman" panose="02020603050405020304" pitchFamily="18" charset="0"/>
                      </a:rPr>
                      <m:t>‑</m:t>
                    </m:r>
                    <m:r>
                      <m:rPr>
                        <m:nor/>
                      </m:rPr>
                      <a:rPr lang="en-IN" sz="2000" b="1" dirty="0">
                        <a:latin typeface="Times New Roman" panose="02020603050405020304" pitchFamily="18" charset="0"/>
                        <a:cs typeface="Times New Roman" panose="02020603050405020304" pitchFamily="18" charset="0"/>
                      </a:rPr>
                      <m:t>Legged</m:t>
                    </m:r>
                    <m:r>
                      <m:rPr>
                        <m:nor/>
                      </m:rPr>
                      <a:rPr lang="en-IN" sz="2000" b="1" dirty="0">
                        <a:latin typeface="Times New Roman" panose="02020603050405020304" pitchFamily="18" charset="0"/>
                        <a:cs typeface="Times New Roman" panose="02020603050405020304" pitchFamily="18" charset="0"/>
                      </a:rPr>
                      <m:t> </m:t>
                    </m:r>
                    <m:r>
                      <m:rPr>
                        <m:nor/>
                      </m:rPr>
                      <a:rPr lang="en-IN" sz="2000" b="1" dirty="0">
                        <a:latin typeface="Times New Roman" panose="02020603050405020304" pitchFamily="18" charset="0"/>
                        <a:cs typeface="Times New Roman" panose="02020603050405020304" pitchFamily="18" charset="0"/>
                      </a:rPr>
                      <m:t>Stance</m:t>
                    </m:r>
                    <m:r>
                      <m:rPr>
                        <m:nor/>
                      </m:rPr>
                      <a:rPr lang="en-IN" sz="2000" b="1" dirty="0">
                        <a:latin typeface="Times New Roman" panose="02020603050405020304" pitchFamily="18" charset="0"/>
                        <a:cs typeface="Times New Roman" panose="02020603050405020304" pitchFamily="18" charset="0"/>
                      </a:rPr>
                      <m:t> </m:t>
                    </m:r>
                    <m:r>
                      <m:rPr>
                        <m:nor/>
                      </m:rPr>
                      <a:rPr lang="en-IN" sz="2000" b="1" dirty="0">
                        <a:latin typeface="Times New Roman" panose="02020603050405020304" pitchFamily="18" charset="0"/>
                        <a:cs typeface="Times New Roman" panose="02020603050405020304" pitchFamily="18" charset="0"/>
                      </a:rPr>
                      <m:t>Loading</m:t>
                    </m:r>
                    <m:r>
                      <m:rPr>
                        <m:nor/>
                      </m:rPr>
                      <a:rPr lang="en-IN" sz="2000" b="1" dirty="0">
                        <a:latin typeface="Times New Roman" panose="02020603050405020304" pitchFamily="18" charset="0"/>
                        <a:cs typeface="Times New Roman" panose="02020603050405020304" pitchFamily="18" charset="0"/>
                      </a:rPr>
                      <m:t> </m:t>
                    </m:r>
                    <m:r>
                      <m:rPr>
                        <m:nor/>
                      </m:rPr>
                      <a:rPr lang="en-IN" sz="2000" b="1" dirty="0">
                        <a:latin typeface="Times New Roman" panose="02020603050405020304" pitchFamily="18" charset="0"/>
                        <a:cs typeface="Times New Roman" panose="02020603050405020304" pitchFamily="18" charset="0"/>
                      </a:rPr>
                      <m:t>and</m:t>
                    </m:r>
                    <m:r>
                      <m:rPr>
                        <m:nor/>
                      </m:rPr>
                      <a:rPr lang="en-IN" sz="2000" b="1" dirty="0">
                        <a:latin typeface="Times New Roman" panose="02020603050405020304" pitchFamily="18" charset="0"/>
                        <a:cs typeface="Times New Roman" panose="02020603050405020304" pitchFamily="18" charset="0"/>
                      </a:rPr>
                      <m:t> </m:t>
                    </m:r>
                    <m:r>
                      <m:rPr>
                        <m:nor/>
                      </m:rPr>
                      <a:rPr lang="en-IN" sz="2000" b="1" dirty="0">
                        <a:latin typeface="Times New Roman" panose="02020603050405020304" pitchFamily="18" charset="0"/>
                        <a:cs typeface="Times New Roman" panose="02020603050405020304" pitchFamily="18" charset="0"/>
                      </a:rPr>
                      <m:t>Boundary</m:t>
                    </m:r>
                    <m:r>
                      <m:rPr>
                        <m:nor/>
                      </m:rPr>
                      <a:rPr lang="en-IN" sz="2000" b="1" dirty="0">
                        <a:latin typeface="Times New Roman" panose="02020603050405020304" pitchFamily="18" charset="0"/>
                        <a:cs typeface="Times New Roman" panose="02020603050405020304" pitchFamily="18" charset="0"/>
                      </a:rPr>
                      <m:t> </m:t>
                    </m:r>
                    <m:r>
                      <m:rPr>
                        <m:nor/>
                      </m:rPr>
                      <a:rPr lang="en-IN" sz="2000" b="1" dirty="0">
                        <a:latin typeface="Times New Roman" panose="02020603050405020304" pitchFamily="18" charset="0"/>
                        <a:cs typeface="Times New Roman" panose="02020603050405020304" pitchFamily="18" charset="0"/>
                      </a:rPr>
                      <m:t>Conditions</m:t>
                    </m:r>
                    <m:r>
                      <m:rPr>
                        <m:nor/>
                      </m:rPr>
                      <a:rPr lang="en-US" sz="2000" b="1" dirty="0">
                        <a:latin typeface="Times New Roman" panose="02020603050405020304" pitchFamily="18" charset="0"/>
                        <a:cs typeface="Times New Roman" panose="02020603050405020304" pitchFamily="18" charset="0"/>
                      </a:rPr>
                      <m:t> </m:t>
                    </m:r>
                    <m:r>
                      <m:rPr>
                        <m:nor/>
                      </m:rPr>
                      <a:rPr lang="en-US" sz="2000" b="1" dirty="0">
                        <a:latin typeface="Times New Roman" panose="02020603050405020304" pitchFamily="18" charset="0"/>
                        <a:cs typeface="Times New Roman" panose="02020603050405020304" pitchFamily="18" charset="0"/>
                      </a:rPr>
                      <m:t>During</m:t>
                    </m:r>
                    <m:r>
                      <m:rPr>
                        <m:nor/>
                      </m:rPr>
                      <a:rPr lang="en-US" sz="2000" b="1" dirty="0">
                        <a:latin typeface="Times New Roman" panose="02020603050405020304" pitchFamily="18" charset="0"/>
                        <a:cs typeface="Times New Roman" panose="02020603050405020304" pitchFamily="18" charset="0"/>
                      </a:rPr>
                      <m:t> </m:t>
                    </m:r>
                    <m:r>
                      <m:rPr>
                        <m:nor/>
                      </m:rPr>
                      <a:rPr lang="en-US" sz="2000" b="1" dirty="0">
                        <a:latin typeface="Times New Roman" panose="02020603050405020304" pitchFamily="18" charset="0"/>
                        <a:cs typeface="Times New Roman" panose="02020603050405020304" pitchFamily="18" charset="0"/>
                      </a:rPr>
                      <m:t>Healing</m:t>
                    </m:r>
                    <m:r>
                      <m:rPr>
                        <m:nor/>
                      </m:rPr>
                      <a:rPr lang="en-US" sz="2000" b="1" dirty="0">
                        <a:latin typeface="Times New Roman" panose="02020603050405020304" pitchFamily="18" charset="0"/>
                        <a:cs typeface="Times New Roman" panose="02020603050405020304" pitchFamily="18" charset="0"/>
                      </a:rPr>
                      <m:t> </m:t>
                    </m:r>
                    <m:r>
                      <m:rPr>
                        <m:nor/>
                      </m:rPr>
                      <a:rPr lang="en-US" sz="2000" b="1" dirty="0">
                        <a:latin typeface="Times New Roman" panose="02020603050405020304" pitchFamily="18" charset="0"/>
                        <a:cs typeface="Times New Roman" panose="02020603050405020304" pitchFamily="18" charset="0"/>
                      </a:rPr>
                      <m:t>Period</m:t>
                    </m:r>
                    <m:r>
                      <m:rPr>
                        <m:nor/>
                      </m:rPr>
                      <a:rPr lang="en-US" sz="2000" b="1"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After</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Clinical</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Consultations</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with</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Dr</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Chandak</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it</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was</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recommended</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to</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simulate</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a</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load</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of</m:t>
                    </m:r>
                    <m:r>
                      <m:rPr>
                        <m:nor/>
                      </m:rPr>
                      <a:rPr lang="en-US" sz="2000" b="0" i="0" dirty="0" smtClean="0">
                        <a:latin typeface="Times New Roman" panose="02020603050405020304" pitchFamily="18" charset="0"/>
                        <a:cs typeface="Times New Roman" panose="02020603050405020304" pitchFamily="18" charset="0"/>
                      </a:rPr>
                      <m:t> 5−10 </m:t>
                    </m:r>
                    <m:r>
                      <m:rPr>
                        <m:nor/>
                      </m:rPr>
                      <a:rPr lang="en-US" sz="2000" b="0" i="0" dirty="0" smtClean="0">
                        <a:latin typeface="Times New Roman" panose="02020603050405020304" pitchFamily="18" charset="0"/>
                        <a:cs typeface="Times New Roman" panose="02020603050405020304" pitchFamily="18" charset="0"/>
                      </a:rPr>
                      <m:t>kg</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as</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patients</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are</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advised</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to</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bear</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partial</m:t>
                    </m:r>
                    <m:r>
                      <m:rPr>
                        <m:nor/>
                      </m:rPr>
                      <a:rPr lang="en-US" sz="2000" b="0" i="0" dirty="0" smtClean="0">
                        <a:latin typeface="Times New Roman" panose="02020603050405020304" pitchFamily="18" charset="0"/>
                        <a:cs typeface="Times New Roman" panose="02020603050405020304" pitchFamily="18" charset="0"/>
                      </a:rPr>
                      <m:t> </m:t>
                    </m:r>
                    <m:r>
                      <m:rPr>
                        <m:nor/>
                      </m:rPr>
                      <a:rPr lang="en-US" sz="2000" b="0" i="0" dirty="0" smtClean="0">
                        <a:latin typeface="Times New Roman" panose="02020603050405020304" pitchFamily="18" charset="0"/>
                        <a:cs typeface="Times New Roman" panose="02020603050405020304" pitchFamily="18" charset="0"/>
                      </a:rPr>
                      <m:t>weight</m:t>
                    </m:r>
                  </m:oMath>
                </a14:m>
                <a:r>
                  <a:rPr lang="en-IN" sz="2000" dirty="0">
                    <a:latin typeface="Times New Roman" panose="02020603050405020304" pitchFamily="18" charset="0"/>
                    <a:cs typeface="Times New Roman" panose="02020603050405020304" pitchFamily="18" charset="0"/>
                  </a:rPr>
                  <a:t> during the initial phase. So for that we have divided all the above values by 10.</a:t>
                </a:r>
              </a:p>
            </p:txBody>
          </p:sp>
        </mc:Choice>
        <mc:Fallback>
          <p:sp>
            <p:nvSpPr>
              <p:cNvPr id="10" name="TextBox 9"/>
              <p:cNvSpPr txBox="1">
                <a:spLocks noRot="1" noChangeAspect="1" noMove="1" noResize="1" noEditPoints="1" noAdjustHandles="1" noChangeArrowheads="1" noChangeShapeType="1" noTextEdit="1"/>
              </p:cNvSpPr>
              <p:nvPr/>
            </p:nvSpPr>
            <p:spPr>
              <a:xfrm>
                <a:off x="429477" y="4093831"/>
                <a:ext cx="8204718" cy="1917641"/>
              </a:xfrm>
              <a:prstGeom prst="rect">
                <a:avLst/>
              </a:prstGeom>
              <a:blipFill>
                <a:blip r:embed="rId5"/>
                <a:stretch>
                  <a:fillRect l="-669" b="-5096"/>
                </a:stretch>
              </a:blipFill>
            </p:spPr>
            <p:txBody>
              <a:bodyPr/>
              <a:lstStyle/>
              <a:p>
                <a:r>
                  <a:rPr lang="en-IN">
                    <a:noFill/>
                  </a:rPr>
                  <a:t> </a:t>
                </a:r>
              </a:p>
            </p:txBody>
          </p:sp>
        </mc:Fallback>
      </mc:AlternateContent>
    </p:spTree>
    <p:extLst>
      <p:ext uri="{BB962C8B-B14F-4D97-AF65-F5344CB8AC3E}">
        <p14:creationId xmlns:p14="http://schemas.microsoft.com/office/powerpoint/2010/main" val="12329359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16</a:t>
            </a:fld>
            <a:endParaRPr lang="en-US">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FFBF594-59C0-06E6-8ABA-1D0E005F653A}"/>
              </a:ext>
            </a:extLst>
          </p:cNvPr>
          <p:cNvSpPr txBox="1"/>
          <p:nvPr/>
        </p:nvSpPr>
        <p:spPr>
          <a:xfrm>
            <a:off x="441266" y="264321"/>
            <a:ext cx="824553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000" b="1" dirty="0">
                <a:latin typeface="Times New Roman" panose="02020603050405020304" pitchFamily="18" charset="0"/>
                <a:cs typeface="Times New Roman" panose="02020603050405020304" pitchFamily="18" charset="0"/>
              </a:rPr>
              <a:t>Contact Conditions</a:t>
            </a:r>
            <a:r>
              <a:rPr lang="en-IN"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6438122" y="4234745"/>
            <a:ext cx="1545771" cy="307777"/>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Fixed Support</a:t>
            </a:r>
            <a:endParaRPr lang="en-IN" sz="1400" dirty="0">
              <a:solidFill>
                <a:schemeClr val="bg1"/>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5317" y="1256712"/>
            <a:ext cx="2526398" cy="2182271"/>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978" y="1256712"/>
            <a:ext cx="2760043" cy="2158200"/>
          </a:xfrm>
          <a:prstGeom prst="rect">
            <a:avLst/>
          </a:prstGeom>
        </p:spPr>
      </p:pic>
      <p:pic>
        <p:nvPicPr>
          <p:cNvPr id="14" name="Picture 13"/>
          <p:cNvPicPr>
            <a:picLocks noChangeAspect="1"/>
          </p:cNvPicPr>
          <p:nvPr/>
        </p:nvPicPr>
        <p:blipFill rotWithShape="1">
          <a:blip r:embed="rId4">
            <a:extLst>
              <a:ext uri="{28A0092B-C50C-407E-A947-70E740481C1C}">
                <a14:useLocalDpi xmlns:a14="http://schemas.microsoft.com/office/drawing/2010/main" val="0"/>
              </a:ext>
            </a:extLst>
          </a:blip>
          <a:srcRect l="9050" r="6136"/>
          <a:stretch/>
        </p:blipFill>
        <p:spPr>
          <a:xfrm>
            <a:off x="363488" y="3752353"/>
            <a:ext cx="3477427" cy="2649259"/>
          </a:xfrm>
          <a:prstGeom prst="rect">
            <a:avLst/>
          </a:prstGeom>
        </p:spPr>
      </p:pic>
      <p:pic>
        <p:nvPicPr>
          <p:cNvPr id="15" name="Picture 14"/>
          <p:cNvPicPr>
            <a:picLocks noChangeAspect="1"/>
          </p:cNvPicPr>
          <p:nvPr/>
        </p:nvPicPr>
        <p:blipFill rotWithShape="1">
          <a:blip r:embed="rId5">
            <a:extLst>
              <a:ext uri="{28A0092B-C50C-407E-A947-70E740481C1C}">
                <a14:useLocalDpi xmlns:a14="http://schemas.microsoft.com/office/drawing/2010/main" val="0"/>
              </a:ext>
            </a:extLst>
          </a:blip>
          <a:srcRect l="9483" r="2335"/>
          <a:stretch/>
        </p:blipFill>
        <p:spPr>
          <a:xfrm>
            <a:off x="5605158" y="1143594"/>
            <a:ext cx="3538842" cy="2417603"/>
          </a:xfrm>
          <a:prstGeom prst="rect">
            <a:avLst/>
          </a:prstGeom>
        </p:spPr>
      </p:pic>
      <p:pic>
        <p:nvPicPr>
          <p:cNvPr id="16" name="Picture 15"/>
          <p:cNvPicPr>
            <a:picLocks noChangeAspect="1"/>
          </p:cNvPicPr>
          <p:nvPr/>
        </p:nvPicPr>
        <p:blipFill rotWithShape="1">
          <a:blip r:embed="rId6">
            <a:extLst>
              <a:ext uri="{28A0092B-C50C-407E-A947-70E740481C1C}">
                <a14:useLocalDpi xmlns:a14="http://schemas.microsoft.com/office/drawing/2010/main" val="0"/>
              </a:ext>
            </a:extLst>
          </a:blip>
          <a:srcRect l="7320" r="4193"/>
          <a:stretch/>
        </p:blipFill>
        <p:spPr>
          <a:xfrm>
            <a:off x="5206480" y="3983676"/>
            <a:ext cx="3480320" cy="2309223"/>
          </a:xfrm>
          <a:prstGeom prst="rect">
            <a:avLst/>
          </a:prstGeom>
        </p:spPr>
      </p:pic>
      <p:sp>
        <p:nvSpPr>
          <p:cNvPr id="17" name="TextBox 16"/>
          <p:cNvSpPr txBox="1"/>
          <p:nvPr/>
        </p:nvSpPr>
        <p:spPr>
          <a:xfrm>
            <a:off x="989046" y="972207"/>
            <a:ext cx="6895322" cy="286232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DHS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Angled Blade Plate                                   PFN</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PFNA-II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InterTAN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3622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17</a:t>
            </a:fld>
            <a:endParaRPr lang="en-US">
              <a:latin typeface="Times New Roman" panose="02020603050405020304" pitchFamily="18" charset="0"/>
              <a:cs typeface="Times New Roman" panose="02020603050405020304" pitchFamily="18" charset="0"/>
            </a:endParaRPr>
          </a:p>
        </p:txBody>
      </p:sp>
      <p:sp>
        <p:nvSpPr>
          <p:cNvPr id="6" name="Title 4">
            <a:extLst>
              <a:ext uri="{FF2B5EF4-FFF2-40B4-BE49-F238E27FC236}">
                <a16:creationId xmlns:a16="http://schemas.microsoft.com/office/drawing/2014/main" id="{34390EB0-0F55-826E-671B-225DAF054224}"/>
              </a:ext>
            </a:extLst>
          </p:cNvPr>
          <p:cNvSpPr txBox="1">
            <a:spLocks/>
          </p:cNvSpPr>
          <p:nvPr/>
        </p:nvSpPr>
        <p:spPr>
          <a:xfrm>
            <a:off x="438807" y="276809"/>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Results</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sp>
        <p:nvSpPr>
          <p:cNvPr id="10" name="TextBox 9"/>
          <p:cNvSpPr txBox="1"/>
          <p:nvPr/>
        </p:nvSpPr>
        <p:spPr>
          <a:xfrm>
            <a:off x="261257" y="5812971"/>
            <a:ext cx="8882743"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 Fractured – 75 kg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(b) Fractured – 7.5 kg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(c) Bonded – 75 kg</a:t>
            </a:r>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3721" r="2773" b="28446"/>
          <a:stretch/>
        </p:blipFill>
        <p:spPr>
          <a:xfrm>
            <a:off x="55984" y="2565918"/>
            <a:ext cx="9041364" cy="2851465"/>
          </a:xfrm>
          <a:prstGeom prst="rect">
            <a:avLst/>
          </a:prstGeom>
        </p:spPr>
      </p:pic>
      <p:sp>
        <p:nvSpPr>
          <p:cNvPr id="12" name="TextBox 11"/>
          <p:cNvSpPr txBox="1"/>
          <p:nvPr/>
        </p:nvSpPr>
        <p:spPr>
          <a:xfrm>
            <a:off x="457200" y="985755"/>
            <a:ext cx="8417647" cy="163121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DHS</a:t>
            </a:r>
            <a:r>
              <a:rPr lang="en-IN" sz="2000" b="1" dirty="0" smtClean="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75 kg fractured: Implant stress = 638.29 MPa, Bone stress = 1.36 </a:t>
            </a:r>
            <a:r>
              <a:rPr lang="en-IN" sz="2000" dirty="0" err="1">
                <a:latin typeface="Times New Roman" panose="02020603050405020304" pitchFamily="18" charset="0"/>
                <a:cs typeface="Times New Roman" panose="02020603050405020304" pitchFamily="18" charset="0"/>
              </a:rPr>
              <a:t>GPa</a:t>
            </a:r>
            <a:r>
              <a:rPr lang="en-IN" sz="2000" dirty="0">
                <a:latin typeface="Times New Roman" panose="02020603050405020304" pitchFamily="18" charset="0"/>
                <a:cs typeface="Times New Roman" panose="02020603050405020304" pitchFamily="18" charset="0"/>
              </a:rPr>
              <a:t>, Average stress = 4.39 MPa </a:t>
            </a:r>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7.5 </a:t>
            </a:r>
            <a:r>
              <a:rPr lang="en-IN" sz="2000" dirty="0">
                <a:latin typeface="Times New Roman" panose="02020603050405020304" pitchFamily="18" charset="0"/>
                <a:cs typeface="Times New Roman" panose="02020603050405020304" pitchFamily="18" charset="0"/>
              </a:rPr>
              <a:t>kg fractured: Implant average stress = 1.34 MPa, Bone stress = 216.7 MPa </a:t>
            </a:r>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75 </a:t>
            </a:r>
            <a:r>
              <a:rPr lang="en-IN" sz="2000" dirty="0">
                <a:latin typeface="Times New Roman" panose="02020603050405020304" pitchFamily="18" charset="0"/>
                <a:cs typeface="Times New Roman" panose="02020603050405020304" pitchFamily="18" charset="0"/>
              </a:rPr>
              <a:t>kg bonded/healed: Implant stress = 789.24 MPa, Average stress = 5.80 </a:t>
            </a:r>
            <a:r>
              <a:rPr lang="en-IN" sz="2000" dirty="0" smtClean="0">
                <a:latin typeface="Times New Roman" panose="02020603050405020304" pitchFamily="18" charset="0"/>
                <a:cs typeface="Times New Roman" panose="02020603050405020304" pitchFamily="18" charset="0"/>
              </a:rPr>
              <a:t>MPa</a:t>
            </a:r>
            <a:endParaRPr lang="en-IN" sz="20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3721" t="6009" r="85021" b="45807"/>
          <a:stretch/>
        </p:blipFill>
        <p:spPr>
          <a:xfrm>
            <a:off x="55984" y="2818405"/>
            <a:ext cx="1464906" cy="2584020"/>
          </a:xfrm>
          <a:prstGeom prst="rect">
            <a:avLst/>
          </a:prstGeom>
        </p:spPr>
      </p:pic>
      <p:pic>
        <p:nvPicPr>
          <p:cNvPr id="13" name="Picture 12"/>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38879" t="30435" r="52063" b="32254"/>
          <a:stretch/>
        </p:blipFill>
        <p:spPr>
          <a:xfrm>
            <a:off x="3368351" y="2886811"/>
            <a:ext cx="1575124" cy="2673841"/>
          </a:xfrm>
          <a:prstGeom prst="rect">
            <a:avLst/>
          </a:prstGeom>
        </p:spPr>
      </p:pic>
      <p:pic>
        <p:nvPicPr>
          <p:cNvPr id="14" name="Picture 13"/>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70015" t="3746" r="17633" b="44552"/>
          <a:stretch/>
        </p:blipFill>
        <p:spPr>
          <a:xfrm>
            <a:off x="6450563" y="2712896"/>
            <a:ext cx="1564433" cy="2698859"/>
          </a:xfrm>
          <a:prstGeom prst="rect">
            <a:avLst/>
          </a:prstGeom>
        </p:spPr>
      </p:pic>
    </p:spTree>
    <p:extLst>
      <p:ext uri="{BB962C8B-B14F-4D97-AF65-F5344CB8AC3E}">
        <p14:creationId xmlns:p14="http://schemas.microsoft.com/office/powerpoint/2010/main" val="1318507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dirty="0">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18</a:t>
            </a:fld>
            <a:endParaRPr lang="en-US">
              <a:latin typeface="Times New Roman" panose="02020603050405020304" pitchFamily="18" charset="0"/>
              <a:cs typeface="Times New Roman" panose="02020603050405020304" pitchFamily="18" charset="0"/>
            </a:endParaRPr>
          </a:p>
        </p:txBody>
      </p:sp>
      <p:sp>
        <p:nvSpPr>
          <p:cNvPr id="6" name="Title 4">
            <a:extLst>
              <a:ext uri="{FF2B5EF4-FFF2-40B4-BE49-F238E27FC236}">
                <a16:creationId xmlns:a16="http://schemas.microsoft.com/office/drawing/2014/main" id="{34390EB0-0F55-826E-671B-225DAF054224}"/>
              </a:ext>
            </a:extLst>
          </p:cNvPr>
          <p:cNvSpPr txBox="1">
            <a:spLocks/>
          </p:cNvSpPr>
          <p:nvPr/>
        </p:nvSpPr>
        <p:spPr>
          <a:xfrm>
            <a:off x="438807" y="258147"/>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Results</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sp>
        <p:nvSpPr>
          <p:cNvPr id="10" name="TextBox 9"/>
          <p:cNvSpPr txBox="1"/>
          <p:nvPr/>
        </p:nvSpPr>
        <p:spPr>
          <a:xfrm>
            <a:off x="382554" y="5962261"/>
            <a:ext cx="8882743"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 Fractured – 75 kg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(b) Fractured – 7.5 kg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(c) Bonded – 75 </a:t>
            </a:r>
            <a:r>
              <a:rPr lang="en-IN" sz="2000" dirty="0" smtClean="0">
                <a:latin typeface="Times New Roman" panose="02020603050405020304" pitchFamily="18" charset="0"/>
                <a:cs typeface="Times New Roman" panose="02020603050405020304" pitchFamily="18" charset="0"/>
              </a:rPr>
              <a:t>kg</a:t>
            </a: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20409" r="1944" b="15562"/>
          <a:stretch/>
        </p:blipFill>
        <p:spPr>
          <a:xfrm>
            <a:off x="1244244" y="2915613"/>
            <a:ext cx="7825111" cy="2836506"/>
          </a:xfrm>
          <a:prstGeom prst="rect">
            <a:avLst/>
          </a:prstGeom>
        </p:spPr>
      </p:pic>
      <p:sp>
        <p:nvSpPr>
          <p:cNvPr id="9" name="TextBox 8"/>
          <p:cNvSpPr txBox="1"/>
          <p:nvPr/>
        </p:nvSpPr>
        <p:spPr>
          <a:xfrm>
            <a:off x="457200" y="985755"/>
            <a:ext cx="8417647" cy="193899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Angled Blade Plate</a:t>
            </a:r>
            <a:r>
              <a:rPr lang="en-IN" sz="2000" b="1" dirty="0" smtClean="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75 kg fractured: Implant stress = 807.79 MPa, Bone stress = 226.09 MPa, Average stress = 4.09 MPa </a:t>
            </a:r>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7.5 </a:t>
            </a:r>
            <a:r>
              <a:rPr lang="en-IN" sz="2000" dirty="0">
                <a:latin typeface="Times New Roman" panose="02020603050405020304" pitchFamily="18" charset="0"/>
                <a:cs typeface="Times New Roman" panose="02020603050405020304" pitchFamily="18" charset="0"/>
              </a:rPr>
              <a:t>kg fractured: Implant stress = 242.5 MPa, Bone stress = 64.53 </a:t>
            </a:r>
            <a:r>
              <a:rPr lang="en-IN" sz="2000" dirty="0" err="1" smtClean="0">
                <a:latin typeface="Times New Roman" panose="02020603050405020304" pitchFamily="18" charset="0"/>
                <a:cs typeface="Times New Roman" panose="02020603050405020304" pitchFamily="18" charset="0"/>
              </a:rPr>
              <a:t>Mpa</a:t>
            </a:r>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75 </a:t>
            </a:r>
            <a:r>
              <a:rPr lang="en-IN" sz="2000" dirty="0">
                <a:latin typeface="Times New Roman" panose="02020603050405020304" pitchFamily="18" charset="0"/>
                <a:cs typeface="Times New Roman" panose="02020603050405020304" pitchFamily="18" charset="0"/>
              </a:rPr>
              <a:t>kg bonded/healed: Bone stress = 30.97 MPa, Average implant stress = 6.65 MPa </a:t>
            </a:r>
            <a:endParaRPr lang="en-IN" sz="2000"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4966" t="30598" r="85808" b="33112"/>
          <a:stretch/>
        </p:blipFill>
        <p:spPr>
          <a:xfrm>
            <a:off x="104542" y="3179576"/>
            <a:ext cx="1481662" cy="2064227"/>
          </a:xfrm>
          <a:prstGeom prst="rect">
            <a:avLst/>
          </a:prstGeom>
        </p:spPr>
      </p:pic>
      <p:pic>
        <p:nvPicPr>
          <p:cNvPr id="12" name="Picture 11"/>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37937" t="25614" r="52574" b="33286"/>
          <a:stretch/>
        </p:blipFill>
        <p:spPr>
          <a:xfrm>
            <a:off x="2845388" y="3114674"/>
            <a:ext cx="1708219" cy="2438383"/>
          </a:xfrm>
          <a:prstGeom prst="rect">
            <a:avLst/>
          </a:prstGeom>
        </p:spPr>
      </p:pic>
      <p:pic>
        <p:nvPicPr>
          <p:cNvPr id="13" name="Picture 12"/>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73027" t="23275" r="17466" b="41341"/>
          <a:stretch/>
        </p:blipFill>
        <p:spPr>
          <a:xfrm>
            <a:off x="6019800" y="3081102"/>
            <a:ext cx="2027071" cy="2471955"/>
          </a:xfrm>
          <a:prstGeom prst="rect">
            <a:avLst/>
          </a:prstGeom>
        </p:spPr>
      </p:pic>
    </p:spTree>
    <p:extLst>
      <p:ext uri="{BB962C8B-B14F-4D97-AF65-F5344CB8AC3E}">
        <p14:creationId xmlns:p14="http://schemas.microsoft.com/office/powerpoint/2010/main" val="1284897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19</a:t>
            </a:fld>
            <a:endParaRPr lang="en-US">
              <a:latin typeface="Times New Roman" panose="02020603050405020304" pitchFamily="18" charset="0"/>
              <a:cs typeface="Times New Roman" panose="02020603050405020304" pitchFamily="18" charset="0"/>
            </a:endParaRPr>
          </a:p>
        </p:txBody>
      </p:sp>
      <p:sp>
        <p:nvSpPr>
          <p:cNvPr id="6" name="Title 4">
            <a:extLst>
              <a:ext uri="{FF2B5EF4-FFF2-40B4-BE49-F238E27FC236}">
                <a16:creationId xmlns:a16="http://schemas.microsoft.com/office/drawing/2014/main" id="{34390EB0-0F55-826E-671B-225DAF054224}"/>
              </a:ext>
            </a:extLst>
          </p:cNvPr>
          <p:cNvSpPr txBox="1">
            <a:spLocks/>
          </p:cNvSpPr>
          <p:nvPr/>
        </p:nvSpPr>
        <p:spPr>
          <a:xfrm>
            <a:off x="438807" y="276809"/>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Results</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4176" r="64565" b="28954"/>
          <a:stretch/>
        </p:blipFill>
        <p:spPr>
          <a:xfrm>
            <a:off x="335902" y="2786426"/>
            <a:ext cx="3329652" cy="3026977"/>
          </a:xfrm>
          <a:prstGeom prst="rect">
            <a:avLst/>
          </a:prstGeom>
        </p:spPr>
      </p:pic>
      <p:pic>
        <p:nvPicPr>
          <p:cNvPr id="9" name="Picture 8"/>
          <p:cNvPicPr>
            <a:picLocks noChangeAspect="1"/>
          </p:cNvPicPr>
          <p:nvPr/>
        </p:nvPicPr>
        <p:blipFill rotWithShape="1">
          <a:blip r:embed="rId4">
            <a:extLst>
              <a:ext uri="{BEBA8EAE-BF5A-486C-A8C5-ECC9F3942E4B}">
                <a14:imgProps xmlns:a14="http://schemas.microsoft.com/office/drawing/2010/main">
                  <a14:imgLayer r:embed="rId5">
                    <a14:imgEffect>
                      <a14:backgroundRemoval t="3520" b="87360" l="42564" r="58194"/>
                    </a14:imgEffect>
                  </a14:imgLayer>
                </a14:imgProps>
              </a:ext>
              <a:ext uri="{28A0092B-C50C-407E-A947-70E740481C1C}">
                <a14:useLocalDpi xmlns:a14="http://schemas.microsoft.com/office/drawing/2010/main" val="0"/>
              </a:ext>
            </a:extLst>
          </a:blip>
          <a:srcRect l="42157" t="3922" r="40965" b="45126"/>
          <a:stretch/>
        </p:blipFill>
        <p:spPr>
          <a:xfrm>
            <a:off x="7261971" y="3001331"/>
            <a:ext cx="1964315" cy="2812072"/>
          </a:xfrm>
          <a:prstGeom prst="rect">
            <a:avLst/>
          </a:prstGeom>
        </p:spPr>
      </p:pic>
      <p:pic>
        <p:nvPicPr>
          <p:cNvPr id="11" name="Picture 10"/>
          <p:cNvPicPr>
            <a:picLocks noChangeAspect="1"/>
          </p:cNvPicPr>
          <p:nvPr/>
        </p:nvPicPr>
        <p:blipFill rotWithShape="1">
          <a:blip r:embed="rId6">
            <a:extLst>
              <a:ext uri="{BEBA8EAE-BF5A-486C-A8C5-ECC9F3942E4B}">
                <a14:imgProps xmlns:a14="http://schemas.microsoft.com/office/drawing/2010/main">
                  <a14:imgLayer r:embed="rId7">
                    <a14:imgEffect>
                      <a14:backgroundRemoval t="8307" b="100000" l="25736" r="65622"/>
                    </a14:imgEffect>
                  </a14:imgLayer>
                </a14:imgProps>
              </a:ext>
              <a:ext uri="{28A0092B-C50C-407E-A947-70E740481C1C}">
                <a14:useLocalDpi xmlns:a14="http://schemas.microsoft.com/office/drawing/2010/main" val="0"/>
              </a:ext>
            </a:extLst>
          </a:blip>
          <a:srcRect l="-8997" t="7757" r="34587" b="1302"/>
          <a:stretch/>
        </p:blipFill>
        <p:spPr>
          <a:xfrm>
            <a:off x="3388186" y="2653827"/>
            <a:ext cx="2847258" cy="3187762"/>
          </a:xfrm>
          <a:prstGeom prst="rect">
            <a:avLst/>
          </a:prstGeom>
        </p:spPr>
      </p:pic>
      <p:sp>
        <p:nvSpPr>
          <p:cNvPr id="12" name="TextBox 11"/>
          <p:cNvSpPr txBox="1"/>
          <p:nvPr/>
        </p:nvSpPr>
        <p:spPr>
          <a:xfrm>
            <a:off x="457200" y="896420"/>
            <a:ext cx="8417647" cy="193899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PFN</a:t>
            </a:r>
            <a:r>
              <a:rPr lang="en-IN" sz="2000" b="1" dirty="0" smtClean="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75 kg fractured: Implant stress = 1.84 </a:t>
            </a:r>
            <a:r>
              <a:rPr lang="en-IN" sz="2000" dirty="0" err="1">
                <a:latin typeface="Times New Roman" panose="02020603050405020304" pitchFamily="18" charset="0"/>
                <a:cs typeface="Times New Roman" panose="02020603050405020304" pitchFamily="18" charset="0"/>
              </a:rPr>
              <a:t>GPa</a:t>
            </a:r>
            <a:r>
              <a:rPr lang="en-IN" sz="2000" dirty="0">
                <a:latin typeface="Times New Roman" panose="02020603050405020304" pitchFamily="18" charset="0"/>
                <a:cs typeface="Times New Roman" panose="02020603050405020304" pitchFamily="18" charset="0"/>
              </a:rPr>
              <a:t>, Bone stress = 760.11 MPa, Average stress = 11.10 MPa </a:t>
            </a:r>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7.5 </a:t>
            </a:r>
            <a:r>
              <a:rPr lang="en-IN" sz="2000" dirty="0">
                <a:latin typeface="Times New Roman" panose="02020603050405020304" pitchFamily="18" charset="0"/>
                <a:cs typeface="Times New Roman" panose="02020603050405020304" pitchFamily="18" charset="0"/>
              </a:rPr>
              <a:t>kg fractured: Implant stress = 453.5 MPa, Bone stress = 122.62 MPa, Average stress = 3.09 MPa </a:t>
            </a:r>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75 </a:t>
            </a:r>
            <a:r>
              <a:rPr lang="en-IN" sz="2000" dirty="0">
                <a:latin typeface="Times New Roman" panose="02020603050405020304" pitchFamily="18" charset="0"/>
                <a:cs typeface="Times New Roman" panose="02020603050405020304" pitchFamily="18" charset="0"/>
              </a:rPr>
              <a:t>kg bonded/healed</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Bone stress = 37.33 MPa, Average stress = 6.74 MPa </a:t>
            </a:r>
            <a:endParaRPr lang="en-IN" sz="2000" dirty="0">
              <a:latin typeface="Times New Roman" panose="02020603050405020304" pitchFamily="18" charset="0"/>
              <a:cs typeface="Times New Roman" panose="02020603050405020304" pitchFamily="18" charset="0"/>
            </a:endParaRPr>
          </a:p>
        </p:txBody>
      </p:sp>
      <p:pic>
        <p:nvPicPr>
          <p:cNvPr id="13" name="Picture 12"/>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41275" t="6935" r="49615" b="51673"/>
          <a:stretch/>
        </p:blipFill>
        <p:spPr>
          <a:xfrm>
            <a:off x="3253971" y="3001331"/>
            <a:ext cx="1438110" cy="2613489"/>
          </a:xfrm>
          <a:prstGeom prst="rect">
            <a:avLst/>
          </a:prstGeom>
        </p:spPr>
      </p:pic>
      <p:pic>
        <p:nvPicPr>
          <p:cNvPr id="14" name="Picture 13"/>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5505" t="6643" r="84070" b="54813"/>
          <a:stretch/>
        </p:blipFill>
        <p:spPr>
          <a:xfrm>
            <a:off x="205240" y="3001331"/>
            <a:ext cx="1693986" cy="2505387"/>
          </a:xfrm>
          <a:prstGeom prst="rect">
            <a:avLst/>
          </a:prstGeom>
        </p:spPr>
      </p:pic>
      <p:pic>
        <p:nvPicPr>
          <p:cNvPr id="15" name="Picture 14"/>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71848" t="5403" r="17290" b="53207"/>
          <a:stretch/>
        </p:blipFill>
        <p:spPr>
          <a:xfrm>
            <a:off x="6181041" y="3180551"/>
            <a:ext cx="1597085" cy="2434269"/>
          </a:xfrm>
          <a:prstGeom prst="rect">
            <a:avLst/>
          </a:prstGeom>
        </p:spPr>
      </p:pic>
      <p:sp>
        <p:nvSpPr>
          <p:cNvPr id="16" name="TextBox 15"/>
          <p:cNvSpPr txBox="1"/>
          <p:nvPr/>
        </p:nvSpPr>
        <p:spPr>
          <a:xfrm>
            <a:off x="382554" y="5962261"/>
            <a:ext cx="8882743"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 Fractured – 75 kg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(b) Fractured – 7.5 kg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(c) Bonded – 75 </a:t>
            </a:r>
            <a:r>
              <a:rPr lang="en-IN" sz="2000" dirty="0" smtClean="0">
                <a:latin typeface="Times New Roman" panose="02020603050405020304" pitchFamily="18" charset="0"/>
                <a:cs typeface="Times New Roman" panose="02020603050405020304" pitchFamily="18" charset="0"/>
              </a:rPr>
              <a:t>kg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6227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20</a:t>
            </a:fld>
            <a:endParaRPr lang="en-US">
              <a:latin typeface="Times New Roman" panose="02020603050405020304" pitchFamily="18" charset="0"/>
              <a:cs typeface="Times New Roman" panose="02020603050405020304" pitchFamily="18" charset="0"/>
            </a:endParaRPr>
          </a:p>
        </p:txBody>
      </p:sp>
      <p:sp>
        <p:nvSpPr>
          <p:cNvPr id="6" name="Title 4">
            <a:extLst>
              <a:ext uri="{FF2B5EF4-FFF2-40B4-BE49-F238E27FC236}">
                <a16:creationId xmlns:a16="http://schemas.microsoft.com/office/drawing/2014/main" id="{34390EB0-0F55-826E-671B-225DAF054224}"/>
              </a:ext>
            </a:extLst>
          </p:cNvPr>
          <p:cNvSpPr txBox="1">
            <a:spLocks/>
          </p:cNvSpPr>
          <p:nvPr/>
        </p:nvSpPr>
        <p:spPr>
          <a:xfrm>
            <a:off x="438807" y="276809"/>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Results</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5156" t="208" r="757" b="33576"/>
          <a:stretch/>
        </p:blipFill>
        <p:spPr>
          <a:xfrm>
            <a:off x="195943" y="3187741"/>
            <a:ext cx="8873413" cy="2494603"/>
          </a:xfrm>
          <a:prstGeom prst="rect">
            <a:avLst/>
          </a:prstGeom>
        </p:spPr>
      </p:pic>
      <p:sp>
        <p:nvSpPr>
          <p:cNvPr id="9" name="TextBox 8"/>
          <p:cNvSpPr txBox="1"/>
          <p:nvPr/>
        </p:nvSpPr>
        <p:spPr>
          <a:xfrm>
            <a:off x="457200" y="985755"/>
            <a:ext cx="8417647" cy="193899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PFNA-II</a:t>
            </a:r>
            <a:r>
              <a:rPr lang="en-IN" sz="2000" b="1" dirty="0" smtClean="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75 kg fractured: Implant stress = 1.04 </a:t>
            </a:r>
            <a:r>
              <a:rPr lang="en-IN" sz="2000" dirty="0" err="1">
                <a:latin typeface="Times New Roman" panose="02020603050405020304" pitchFamily="18" charset="0"/>
                <a:cs typeface="Times New Roman" panose="02020603050405020304" pitchFamily="18" charset="0"/>
              </a:rPr>
              <a:t>GPa</a:t>
            </a:r>
            <a:r>
              <a:rPr lang="en-IN" sz="2000" dirty="0">
                <a:latin typeface="Times New Roman" panose="02020603050405020304" pitchFamily="18" charset="0"/>
                <a:cs typeface="Times New Roman" panose="02020603050405020304" pitchFamily="18" charset="0"/>
              </a:rPr>
              <a:t>, Bone stress = 2.1481 </a:t>
            </a:r>
            <a:r>
              <a:rPr lang="en-IN" sz="2000" dirty="0" err="1">
                <a:latin typeface="Times New Roman" panose="02020603050405020304" pitchFamily="18" charset="0"/>
                <a:cs typeface="Times New Roman" panose="02020603050405020304" pitchFamily="18" charset="0"/>
              </a:rPr>
              <a:t>GPa</a:t>
            </a:r>
            <a:r>
              <a:rPr lang="en-IN" sz="2000" dirty="0">
                <a:latin typeface="Times New Roman" panose="02020603050405020304" pitchFamily="18" charset="0"/>
                <a:cs typeface="Times New Roman" panose="02020603050405020304" pitchFamily="18" charset="0"/>
              </a:rPr>
              <a:t>, Average stress = 13.21 MPa </a:t>
            </a:r>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7.5 </a:t>
            </a:r>
            <a:r>
              <a:rPr lang="en-IN" sz="2000" dirty="0">
                <a:latin typeface="Times New Roman" panose="02020603050405020304" pitchFamily="18" charset="0"/>
                <a:cs typeface="Times New Roman" panose="02020603050405020304" pitchFamily="18" charset="0"/>
              </a:rPr>
              <a:t>kg fractured: Implant stress = 242.51 MPa, Bone stress = 167.74 MPa, Average stress = 1.17 MPa </a:t>
            </a:r>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75 </a:t>
            </a:r>
            <a:r>
              <a:rPr lang="en-IN" sz="2000" dirty="0">
                <a:latin typeface="Times New Roman" panose="02020603050405020304" pitchFamily="18" charset="0"/>
                <a:cs typeface="Times New Roman" panose="02020603050405020304" pitchFamily="18" charset="0"/>
              </a:rPr>
              <a:t>kg bonded/healed: Implant stress = 131.04 MPa, Bone stress = 29.48 MPa </a:t>
            </a:r>
            <a:endParaRPr lang="en-IN" sz="2000"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71446" t="5174" r="15599" b="52123"/>
          <a:stretch/>
        </p:blipFill>
        <p:spPr>
          <a:xfrm>
            <a:off x="5962620" y="3243367"/>
            <a:ext cx="1810139" cy="2383349"/>
          </a:xfrm>
          <a:prstGeom prst="rect">
            <a:avLst/>
          </a:prstGeom>
        </p:spPr>
      </p:pic>
      <p:pic>
        <p:nvPicPr>
          <p:cNvPr id="12" name="Picture 11"/>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36646" t="3734" r="50183" b="48159"/>
          <a:stretch/>
        </p:blipFill>
        <p:spPr>
          <a:xfrm>
            <a:off x="2947635" y="3162984"/>
            <a:ext cx="1718388" cy="2507157"/>
          </a:xfrm>
          <a:prstGeom prst="rect">
            <a:avLst/>
          </a:prstGeom>
        </p:spPr>
      </p:pic>
      <p:pic>
        <p:nvPicPr>
          <p:cNvPr id="13" name="Picture 12"/>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4005" r="82284" b="48790"/>
          <a:stretch/>
        </p:blipFill>
        <p:spPr>
          <a:xfrm>
            <a:off x="79410" y="3047782"/>
            <a:ext cx="1688642" cy="2519360"/>
          </a:xfrm>
          <a:prstGeom prst="rect">
            <a:avLst/>
          </a:prstGeom>
        </p:spPr>
      </p:pic>
      <p:sp>
        <p:nvSpPr>
          <p:cNvPr id="14" name="TextBox 13"/>
          <p:cNvSpPr txBox="1"/>
          <p:nvPr/>
        </p:nvSpPr>
        <p:spPr>
          <a:xfrm>
            <a:off x="382554" y="5962261"/>
            <a:ext cx="8882743"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 Fractured – 75 kg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(b) Fractured – 7.5 kg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(c) Bonded – 75 </a:t>
            </a:r>
            <a:r>
              <a:rPr lang="en-IN" sz="2000" dirty="0" smtClean="0">
                <a:latin typeface="Times New Roman" panose="02020603050405020304" pitchFamily="18" charset="0"/>
                <a:cs typeface="Times New Roman" panose="02020603050405020304" pitchFamily="18" charset="0"/>
              </a:rPr>
              <a:t>kg</a:t>
            </a:r>
            <a:endParaRPr lang="en-IN" sz="2000" dirty="0">
              <a:latin typeface="Times New Roman" panose="02020603050405020304" pitchFamily="18" charset="0"/>
              <a:cs typeface="Times New Roman" panose="02020603050405020304" pitchFamily="18" charset="0"/>
            </a:endParaRPr>
          </a:p>
        </p:txBody>
      </p:sp>
      <p:sp>
        <p:nvSpPr>
          <p:cNvPr id="15" name="Title 4">
            <a:extLst>
              <a:ext uri="{FF2B5EF4-FFF2-40B4-BE49-F238E27FC236}">
                <a16:creationId xmlns:a16="http://schemas.microsoft.com/office/drawing/2014/main" id="{34390EB0-0F55-826E-671B-225DAF054224}"/>
              </a:ext>
            </a:extLst>
          </p:cNvPr>
          <p:cNvSpPr txBox="1">
            <a:spLocks/>
          </p:cNvSpPr>
          <p:nvPr/>
        </p:nvSpPr>
        <p:spPr>
          <a:xfrm>
            <a:off x="457200" y="258148"/>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Results</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8093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21</a:t>
            </a:fld>
            <a:endParaRPr lang="en-US">
              <a:latin typeface="Times New Roman" panose="02020603050405020304" pitchFamily="18" charset="0"/>
              <a:cs typeface="Times New Roman" panose="02020603050405020304" pitchFamily="18" charset="0"/>
            </a:endParaRPr>
          </a:p>
        </p:txBody>
      </p:sp>
      <p:sp>
        <p:nvSpPr>
          <p:cNvPr id="6" name="Title 4">
            <a:extLst>
              <a:ext uri="{FF2B5EF4-FFF2-40B4-BE49-F238E27FC236}">
                <a16:creationId xmlns:a16="http://schemas.microsoft.com/office/drawing/2014/main" id="{34390EB0-0F55-826E-671B-225DAF054224}"/>
              </a:ext>
            </a:extLst>
          </p:cNvPr>
          <p:cNvSpPr txBox="1">
            <a:spLocks/>
          </p:cNvSpPr>
          <p:nvPr/>
        </p:nvSpPr>
        <p:spPr>
          <a:xfrm>
            <a:off x="438807" y="276809"/>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Results</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sp>
        <p:nvSpPr>
          <p:cNvPr id="8" name="TextBox 7"/>
          <p:cNvSpPr txBox="1"/>
          <p:nvPr/>
        </p:nvSpPr>
        <p:spPr>
          <a:xfrm>
            <a:off x="457200" y="985755"/>
            <a:ext cx="8417647" cy="193899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InterTAN</a:t>
            </a:r>
            <a:r>
              <a:rPr lang="en-IN" sz="2000" b="1" dirty="0" smtClean="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75 kg fractured: Implant stress = 2.6169 </a:t>
            </a:r>
            <a:r>
              <a:rPr lang="en-IN" sz="2000" dirty="0" err="1">
                <a:latin typeface="Times New Roman" panose="02020603050405020304" pitchFamily="18" charset="0"/>
                <a:cs typeface="Times New Roman" panose="02020603050405020304" pitchFamily="18" charset="0"/>
              </a:rPr>
              <a:t>GPa</a:t>
            </a:r>
            <a:r>
              <a:rPr lang="en-IN" sz="2000" dirty="0">
                <a:latin typeface="Times New Roman" panose="02020603050405020304" pitchFamily="18" charset="0"/>
                <a:cs typeface="Times New Roman" panose="02020603050405020304" pitchFamily="18" charset="0"/>
              </a:rPr>
              <a:t>, Average stress = 17.45 MPa </a:t>
            </a:r>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7.5 </a:t>
            </a:r>
            <a:r>
              <a:rPr lang="en-IN" sz="2000" dirty="0">
                <a:latin typeface="Times New Roman" panose="02020603050405020304" pitchFamily="18" charset="0"/>
                <a:cs typeface="Times New Roman" panose="02020603050405020304" pitchFamily="18" charset="0"/>
              </a:rPr>
              <a:t>kg fractured: Implant stress = 215.39 MPa, Bone stress = 62.26 MPa, Average stress = 1.66 MPa </a:t>
            </a:r>
            <a:endParaRPr lang="en-IN"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75 </a:t>
            </a:r>
            <a:r>
              <a:rPr lang="en-IN" sz="2000" dirty="0">
                <a:latin typeface="Times New Roman" panose="02020603050405020304" pitchFamily="18" charset="0"/>
                <a:cs typeface="Times New Roman" panose="02020603050405020304" pitchFamily="18" charset="0"/>
              </a:rPr>
              <a:t>kg bonded/healed: Implant stress = 90.99 MPa, Bone stress = 31.65 MPa, Average stress = 7.67 MPa </a:t>
            </a:r>
            <a:endParaRPr lang="en-IN" sz="2000"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21744" r="1024" b="19664"/>
          <a:stretch/>
        </p:blipFill>
        <p:spPr>
          <a:xfrm>
            <a:off x="1604865" y="3079102"/>
            <a:ext cx="7539135" cy="2799184"/>
          </a:xfrm>
          <a:prstGeom prst="rect">
            <a:avLst/>
          </a:prstGeom>
        </p:spPr>
      </p:pic>
      <p:sp>
        <p:nvSpPr>
          <p:cNvPr id="9" name="TextBox 8"/>
          <p:cNvSpPr txBox="1"/>
          <p:nvPr/>
        </p:nvSpPr>
        <p:spPr>
          <a:xfrm>
            <a:off x="382554" y="5962261"/>
            <a:ext cx="8882743"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 Fractured – 75 kg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(b) Fractured – 7.5 kg          </a:t>
            </a:r>
            <a:r>
              <a:rPr lang="en-IN" sz="2000" dirty="0" smtClean="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(c) Bonded – 75 </a:t>
            </a:r>
            <a:r>
              <a:rPr lang="en-IN" sz="2000" dirty="0" smtClean="0">
                <a:latin typeface="Times New Roman" panose="02020603050405020304" pitchFamily="18" charset="0"/>
                <a:cs typeface="Times New Roman" panose="02020603050405020304" pitchFamily="18" charset="0"/>
              </a:rPr>
              <a:t>kg</a:t>
            </a:r>
            <a:endParaRPr lang="en-IN" sz="2000" dirty="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70576" t="33724" r="21242" b="30174"/>
          <a:stretch/>
        </p:blipFill>
        <p:spPr>
          <a:xfrm>
            <a:off x="6019800" y="3304801"/>
            <a:ext cx="1920552" cy="2824451"/>
          </a:xfrm>
          <a:prstGeom prst="rect">
            <a:avLst/>
          </a:prstGeom>
        </p:spPr>
      </p:pic>
      <p:pic>
        <p:nvPicPr>
          <p:cNvPr id="13" name="Picture 12"/>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37480" t="28831" r="53998" b="25991"/>
          <a:stretch/>
        </p:blipFill>
        <p:spPr>
          <a:xfrm>
            <a:off x="2929812" y="3293218"/>
            <a:ext cx="1604865" cy="2836035"/>
          </a:xfrm>
          <a:prstGeom prst="rect">
            <a:avLst/>
          </a:prstGeom>
        </p:spPr>
      </p:pic>
      <p:pic>
        <p:nvPicPr>
          <p:cNvPr id="14" name="Picture 13"/>
          <p:cNvPicPr>
            <a:picLocks noChangeAspect="1"/>
          </p:cNvPicPr>
          <p:nvPr/>
        </p:nvPicPr>
        <p:blipFill rotWithShape="1">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l="4487" t="32181" r="86125" b="19664"/>
          <a:stretch/>
        </p:blipFill>
        <p:spPr>
          <a:xfrm>
            <a:off x="68423" y="3293218"/>
            <a:ext cx="1536441" cy="2627056"/>
          </a:xfrm>
          <a:prstGeom prst="rect">
            <a:avLst/>
          </a:prstGeom>
        </p:spPr>
      </p:pic>
    </p:spTree>
    <p:extLst>
      <p:ext uri="{BB962C8B-B14F-4D97-AF65-F5344CB8AC3E}">
        <p14:creationId xmlns:p14="http://schemas.microsoft.com/office/powerpoint/2010/main" val="2529614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22</a:t>
            </a:fld>
            <a:endParaRPr lang="en-US">
              <a:latin typeface="Times New Roman" panose="02020603050405020304" pitchFamily="18" charset="0"/>
              <a:cs typeface="Times New Roman" panose="02020603050405020304" pitchFamily="18" charset="0"/>
            </a:endParaRPr>
          </a:p>
        </p:txBody>
      </p:sp>
      <p:sp>
        <p:nvSpPr>
          <p:cNvPr id="6" name="Title 4">
            <a:extLst>
              <a:ext uri="{FF2B5EF4-FFF2-40B4-BE49-F238E27FC236}">
                <a16:creationId xmlns:a16="http://schemas.microsoft.com/office/drawing/2014/main" id="{34390EB0-0F55-826E-671B-225DAF054224}"/>
              </a:ext>
            </a:extLst>
          </p:cNvPr>
          <p:cNvSpPr txBox="1">
            <a:spLocks/>
          </p:cNvSpPr>
          <p:nvPr/>
        </p:nvSpPr>
        <p:spPr>
          <a:xfrm>
            <a:off x="438807" y="276809"/>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Comparison and Conclusion</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FFBF594-59C0-06E6-8ABA-1D0E005F653A}"/>
              </a:ext>
            </a:extLst>
          </p:cNvPr>
          <p:cNvSpPr txBox="1"/>
          <p:nvPr/>
        </p:nvSpPr>
        <p:spPr>
          <a:xfrm>
            <a:off x="422873" y="1182401"/>
            <a:ext cx="824553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smtClean="0">
                <a:latin typeface="Times New Roman" panose="02020603050405020304" pitchFamily="18" charset="0"/>
                <a:cs typeface="Times New Roman" panose="02020603050405020304" pitchFamily="18" charset="0"/>
              </a:rPr>
              <a:t>Intramedullary Implants:</a:t>
            </a:r>
            <a:endParaRPr lang="en-IN" sz="2000" b="1"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rotWithShape="1">
          <a:blip r:embed="rId2">
            <a:extLst>
              <a:ext uri="{BEBA8EAE-BF5A-486C-A8C5-ECC9F3942E4B}">
                <a14:imgProps xmlns:a14="http://schemas.microsoft.com/office/drawing/2010/main">
                  <a14:imgLayer r:embed="rId3">
                    <a14:imgEffect>
                      <a14:backgroundRemoval t="0" b="100000" l="0" r="100000">
                        <a14:backgroundMark x1="92161" y1="40495" x2="95220" y2="40755"/>
                        <a14:backgroundMark x1="91587" y1="40234" x2="95220" y2="39974"/>
                        <a14:backgroundMark x1="91969" y1="41016" x2="95602" y2="41146"/>
                        <a14:backgroundMark x1="91778" y1="40755" x2="93690" y2="41146"/>
                        <a14:backgroundMark x1="91969" y1="59375" x2="95411" y2="59115"/>
                        <a14:backgroundMark x1="92161" y1="60026" x2="95220" y2="59896"/>
                        <a14:backgroundMark x1="91969" y1="59505" x2="95029" y2="59375"/>
                        <a14:backgroundMark x1="91587" y1="76432" x2="95411" y2="76563"/>
                        <a14:backgroundMark x1="91587" y1="76953" x2="95029" y2="76953"/>
                        <a14:backgroundMark x1="91969" y1="96224" x2="96176" y2="95833"/>
                        <a14:backgroundMark x1="91969" y1="95964" x2="96367" y2="95313"/>
                        <a14:backgroundMark x1="91205" y1="95313" x2="95220" y2="96354"/>
                        <a14:backgroundMark x1="95220" y1="39844" x2="95220" y2="41146"/>
                        <a14:backgroundMark x1="95602" y1="40625" x2="93499" y2="41146"/>
                        <a14:backgroundMark x1="95602" y1="40365" x2="94073" y2="40365"/>
                        <a14:backgroundMark x1="95793" y1="40365" x2="92161" y2="39714"/>
                        <a14:backgroundMark x1="91205" y1="40234" x2="93117" y2="40885"/>
                        <a14:backgroundMark x1="94646" y1="41016" x2="94455" y2="40365"/>
                        <a14:backgroundMark x1="94264" y1="39974" x2="94073" y2="40495"/>
                        <a14:backgroundMark x1="95985" y1="59896" x2="92925" y2="59115"/>
                        <a14:backgroundMark x1="95985" y1="59635" x2="91969" y2="58854"/>
                        <a14:backgroundMark x1="95985" y1="76953" x2="93881" y2="77344"/>
                        <a14:backgroundMark x1="91778" y1="76042" x2="92161" y2="77604"/>
                        <a14:backgroundMark x1="93117" y1="76302" x2="93308" y2="77474"/>
                        <a14:backgroundMark x1="95220" y1="76432" x2="95411" y2="77734"/>
                        <a14:backgroundMark x1="91969" y1="95443" x2="92161" y2="96745"/>
                        <a14:backgroundMark x1="95411" y1="95052" x2="95220" y2="96875"/>
                        <a14:backgroundMark x1="92925" y1="96354" x2="94455" y2="96354"/>
                      </a14:backgroundRemoval>
                    </a14:imgEffect>
                    <a14:imgEffect>
                      <a14:sharpenSoften amount="50000"/>
                    </a14:imgEffect>
                  </a14:imgLayer>
                </a14:imgProps>
              </a:ext>
              <a:ext uri="{28A0092B-C50C-407E-A947-70E740481C1C}">
                <a14:useLocalDpi xmlns:a14="http://schemas.microsoft.com/office/drawing/2010/main" val="0"/>
              </a:ext>
            </a:extLst>
          </a:blip>
          <a:srcRect r="2208" b="55383"/>
          <a:stretch/>
        </p:blipFill>
        <p:spPr>
          <a:xfrm>
            <a:off x="982964" y="1582511"/>
            <a:ext cx="7125351" cy="4773839"/>
          </a:xfrm>
          <a:prstGeom prst="rect">
            <a:avLst/>
          </a:prstGeom>
        </p:spPr>
      </p:pic>
    </p:spTree>
    <p:extLst>
      <p:ext uri="{BB962C8B-B14F-4D97-AF65-F5344CB8AC3E}">
        <p14:creationId xmlns:p14="http://schemas.microsoft.com/office/powerpoint/2010/main" val="2095882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23</a:t>
            </a:fld>
            <a:endParaRPr lang="en-US">
              <a:latin typeface="Times New Roman" panose="02020603050405020304" pitchFamily="18" charset="0"/>
              <a:cs typeface="Times New Roman" panose="02020603050405020304" pitchFamily="18" charset="0"/>
            </a:endParaRPr>
          </a:p>
        </p:txBody>
      </p:sp>
      <p:sp>
        <p:nvSpPr>
          <p:cNvPr id="6" name="Title 4">
            <a:extLst>
              <a:ext uri="{FF2B5EF4-FFF2-40B4-BE49-F238E27FC236}">
                <a16:creationId xmlns:a16="http://schemas.microsoft.com/office/drawing/2014/main" id="{34390EB0-0F55-826E-671B-225DAF054224}"/>
              </a:ext>
            </a:extLst>
          </p:cNvPr>
          <p:cNvSpPr txBox="1">
            <a:spLocks/>
          </p:cNvSpPr>
          <p:nvPr/>
        </p:nvSpPr>
        <p:spPr>
          <a:xfrm>
            <a:off x="438807" y="276809"/>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Comparison and Conclusion</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FFBF594-59C0-06E6-8ABA-1D0E005F653A}"/>
              </a:ext>
            </a:extLst>
          </p:cNvPr>
          <p:cNvSpPr txBox="1"/>
          <p:nvPr/>
        </p:nvSpPr>
        <p:spPr>
          <a:xfrm>
            <a:off x="422873" y="1158750"/>
            <a:ext cx="824553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IN" sz="20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rotWithShape="1">
          <a:blip r:embed="rId2">
            <a:extLst>
              <a:ext uri="{BEBA8EAE-BF5A-486C-A8C5-ECC9F3942E4B}">
                <a14:imgProps xmlns:a14="http://schemas.microsoft.com/office/drawing/2010/main">
                  <a14:imgLayer r:embed="rId3">
                    <a14:imgEffect>
                      <a14:backgroundRemoval t="0" b="100000" l="0" r="100000">
                        <a14:backgroundMark x1="92161" y1="40495" x2="95220" y2="40755"/>
                        <a14:backgroundMark x1="91587" y1="40234" x2="95220" y2="39974"/>
                        <a14:backgroundMark x1="91969" y1="41016" x2="95602" y2="41146"/>
                        <a14:backgroundMark x1="91778" y1="40755" x2="93690" y2="41146"/>
                        <a14:backgroundMark x1="91969" y1="59375" x2="95411" y2="59115"/>
                        <a14:backgroundMark x1="92161" y1="60026" x2="95220" y2="59896"/>
                        <a14:backgroundMark x1="91969" y1="59505" x2="95029" y2="59375"/>
                        <a14:backgroundMark x1="91587" y1="76432" x2="95411" y2="76563"/>
                        <a14:backgroundMark x1="91587" y1="76953" x2="95029" y2="76953"/>
                        <a14:backgroundMark x1="91969" y1="96224" x2="96176" y2="95833"/>
                        <a14:backgroundMark x1="91969" y1="95964" x2="96367" y2="95313"/>
                        <a14:backgroundMark x1="91205" y1="95313" x2="95220" y2="96354"/>
                        <a14:backgroundMark x1="95220" y1="39844" x2="95220" y2="41146"/>
                        <a14:backgroundMark x1="95602" y1="40625" x2="93499" y2="41146"/>
                        <a14:backgroundMark x1="95602" y1="40365" x2="94073" y2="40365"/>
                        <a14:backgroundMark x1="95793" y1="40365" x2="92161" y2="39714"/>
                        <a14:backgroundMark x1="91205" y1="40234" x2="93117" y2="40885"/>
                        <a14:backgroundMark x1="94646" y1="41016" x2="94455" y2="40365"/>
                        <a14:backgroundMark x1="94264" y1="39974" x2="94073" y2="40495"/>
                        <a14:backgroundMark x1="95985" y1="59896" x2="92925" y2="59115"/>
                        <a14:backgroundMark x1="95985" y1="59635" x2="91969" y2="58854"/>
                        <a14:backgroundMark x1="95985" y1="76953" x2="93881" y2="77344"/>
                        <a14:backgroundMark x1="91778" y1="76042" x2="92161" y2="77604"/>
                        <a14:backgroundMark x1="93117" y1="76302" x2="93308" y2="77474"/>
                        <a14:backgroundMark x1="95220" y1="76432" x2="95411" y2="77734"/>
                        <a14:backgroundMark x1="91969" y1="95443" x2="92161" y2="96745"/>
                        <a14:backgroundMark x1="95411" y1="95052" x2="95220" y2="96875"/>
                        <a14:backgroundMark x1="92925" y1="96354" x2="94455" y2="96354"/>
                      </a14:backgroundRemoval>
                    </a14:imgEffect>
                    <a14:imgEffect>
                      <a14:sharpenSoften amount="50000"/>
                    </a14:imgEffect>
                  </a14:imgLayer>
                </a14:imgProps>
              </a:ext>
              <a:ext uri="{28A0092B-C50C-407E-A947-70E740481C1C}">
                <a14:useLocalDpi xmlns:a14="http://schemas.microsoft.com/office/drawing/2010/main" val="0"/>
              </a:ext>
            </a:extLst>
          </a:blip>
          <a:srcRect r="711" b="94286"/>
          <a:stretch/>
        </p:blipFill>
        <p:spPr>
          <a:xfrm>
            <a:off x="1839843" y="1558860"/>
            <a:ext cx="5411594" cy="457293"/>
          </a:xfrm>
          <a:prstGeom prst="rect">
            <a:avLst/>
          </a:prstGeom>
        </p:spPr>
      </p:pic>
      <p:pic>
        <p:nvPicPr>
          <p:cNvPr id="11" name="Picture 10"/>
          <p:cNvPicPr>
            <a:picLocks noChangeAspect="1"/>
          </p:cNvPicPr>
          <p:nvPr/>
        </p:nvPicPr>
        <p:blipFill rotWithShape="1">
          <a:blip r:embed="rId2">
            <a:extLst>
              <a:ext uri="{BEBA8EAE-BF5A-486C-A8C5-ECC9F3942E4B}">
                <a14:imgProps xmlns:a14="http://schemas.microsoft.com/office/drawing/2010/main">
                  <a14:imgLayer r:embed="rId3">
                    <a14:imgEffect>
                      <a14:backgroundRemoval t="0" b="100000" l="0" r="100000">
                        <a14:backgroundMark x1="92161" y1="40495" x2="95220" y2="40755"/>
                        <a14:backgroundMark x1="91587" y1="40234" x2="95220" y2="39974"/>
                        <a14:backgroundMark x1="91969" y1="41016" x2="95602" y2="41146"/>
                        <a14:backgroundMark x1="91778" y1="40755" x2="93690" y2="41146"/>
                        <a14:backgroundMark x1="91969" y1="59375" x2="95411" y2="59115"/>
                        <a14:backgroundMark x1="92161" y1="60026" x2="95220" y2="59896"/>
                        <a14:backgroundMark x1="91969" y1="59505" x2="95029" y2="59375"/>
                        <a14:backgroundMark x1="91587" y1="76432" x2="95411" y2="76563"/>
                        <a14:backgroundMark x1="91587" y1="76953" x2="95029" y2="76953"/>
                        <a14:backgroundMark x1="91969" y1="96224" x2="96176" y2="95833"/>
                        <a14:backgroundMark x1="91969" y1="95964" x2="96367" y2="95313"/>
                        <a14:backgroundMark x1="91205" y1="95313" x2="95220" y2="96354"/>
                        <a14:backgroundMark x1="95220" y1="39844" x2="95220" y2="41146"/>
                        <a14:backgroundMark x1="95602" y1="40625" x2="93499" y2="41146"/>
                        <a14:backgroundMark x1="95602" y1="40365" x2="94073" y2="40365"/>
                        <a14:backgroundMark x1="95793" y1="40365" x2="92161" y2="39714"/>
                        <a14:backgroundMark x1="91205" y1="40234" x2="93117" y2="40885"/>
                        <a14:backgroundMark x1="94646" y1="41016" x2="94455" y2="40365"/>
                        <a14:backgroundMark x1="94264" y1="39974" x2="94073" y2="40495"/>
                        <a14:backgroundMark x1="95985" y1="59896" x2="92925" y2="59115"/>
                        <a14:backgroundMark x1="95985" y1="59635" x2="91969" y2="58854"/>
                        <a14:backgroundMark x1="95985" y1="76953" x2="93881" y2="77344"/>
                        <a14:backgroundMark x1="91778" y1="76042" x2="92161" y2="77604"/>
                        <a14:backgroundMark x1="93117" y1="76302" x2="93308" y2="77474"/>
                        <a14:backgroundMark x1="95220" y1="76432" x2="95411" y2="77734"/>
                        <a14:backgroundMark x1="91969" y1="95443" x2="92161" y2="96745"/>
                        <a14:backgroundMark x1="95411" y1="95052" x2="95220" y2="96875"/>
                        <a14:backgroundMark x1="92925" y1="96354" x2="94455" y2="96354"/>
                      </a14:backgroundRemoval>
                    </a14:imgEffect>
                    <a14:imgEffect>
                      <a14:sharpenSoften amount="50000"/>
                    </a14:imgEffect>
                  </a14:imgLayer>
                </a14:imgProps>
              </a:ext>
              <a:ext uri="{28A0092B-C50C-407E-A947-70E740481C1C}">
                <a14:useLocalDpi xmlns:a14="http://schemas.microsoft.com/office/drawing/2010/main" val="0"/>
              </a:ext>
            </a:extLst>
          </a:blip>
          <a:srcRect l="-1" t="44391" r="1543"/>
          <a:stretch/>
        </p:blipFill>
        <p:spPr>
          <a:xfrm>
            <a:off x="1839843" y="2000679"/>
            <a:ext cx="5363390" cy="4447099"/>
          </a:xfrm>
          <a:prstGeom prst="rect">
            <a:avLst/>
          </a:prstGeom>
        </p:spPr>
      </p:pic>
      <p:sp>
        <p:nvSpPr>
          <p:cNvPr id="12" name="TextBox 11">
            <a:extLst>
              <a:ext uri="{FF2B5EF4-FFF2-40B4-BE49-F238E27FC236}">
                <a16:creationId xmlns:a16="http://schemas.microsoft.com/office/drawing/2014/main" id="{CFFBF594-59C0-06E6-8ABA-1D0E005F653A}"/>
              </a:ext>
            </a:extLst>
          </p:cNvPr>
          <p:cNvSpPr txBox="1"/>
          <p:nvPr/>
        </p:nvSpPr>
        <p:spPr>
          <a:xfrm>
            <a:off x="422873" y="1182401"/>
            <a:ext cx="824553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err="1" smtClean="0">
                <a:latin typeface="Times New Roman" panose="02020603050405020304" pitchFamily="18" charset="0"/>
                <a:cs typeface="Times New Roman" panose="02020603050405020304" pitchFamily="18" charset="0"/>
              </a:rPr>
              <a:t>Extramedullary</a:t>
            </a:r>
            <a:r>
              <a:rPr lang="en-US" sz="2000" b="1" dirty="0" smtClean="0">
                <a:latin typeface="Times New Roman" panose="02020603050405020304" pitchFamily="18" charset="0"/>
                <a:cs typeface="Times New Roman" panose="02020603050405020304" pitchFamily="18" charset="0"/>
              </a:rPr>
              <a:t> Implants: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9659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816" t="9109" r="714" b="9162"/>
          <a:stretch/>
        </p:blipFill>
        <p:spPr>
          <a:xfrm>
            <a:off x="210660" y="2517263"/>
            <a:ext cx="8685894" cy="2258009"/>
          </a:xfrm>
          <a:prstGeom prst="rect">
            <a:avLst/>
          </a:prstGeom>
        </p:spPr>
      </p:pic>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24</a:t>
            </a:fld>
            <a:endParaRPr lang="en-US">
              <a:latin typeface="Times New Roman" panose="02020603050405020304" pitchFamily="18" charset="0"/>
              <a:cs typeface="Times New Roman" panose="02020603050405020304" pitchFamily="18" charset="0"/>
            </a:endParaRPr>
          </a:p>
        </p:txBody>
      </p:sp>
      <p:sp>
        <p:nvSpPr>
          <p:cNvPr id="6" name="Title 4">
            <a:extLst>
              <a:ext uri="{FF2B5EF4-FFF2-40B4-BE49-F238E27FC236}">
                <a16:creationId xmlns:a16="http://schemas.microsoft.com/office/drawing/2014/main" id="{34390EB0-0F55-826E-671B-225DAF054224}"/>
              </a:ext>
            </a:extLst>
          </p:cNvPr>
          <p:cNvSpPr txBox="1">
            <a:spLocks/>
          </p:cNvSpPr>
          <p:nvPr/>
        </p:nvSpPr>
        <p:spPr>
          <a:xfrm>
            <a:off x="438807" y="276809"/>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Comparison and Conclusion</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FFBF594-59C0-06E6-8ABA-1D0E005F653A}"/>
              </a:ext>
            </a:extLst>
          </p:cNvPr>
          <p:cNvSpPr txBox="1"/>
          <p:nvPr/>
        </p:nvSpPr>
        <p:spPr>
          <a:xfrm>
            <a:off x="422873" y="1158750"/>
            <a:ext cx="824553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IN" sz="20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457200" y="934419"/>
            <a:ext cx="8211207" cy="1631216"/>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FEA was performed on DHS, Angled Blade Plate, PFN, PFNA-II, and InterTAN to compare implant stability and stress distribution in intertrochanteric femur fractures. </a:t>
            </a:r>
            <a:endParaRPr lang="en-IN" sz="20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Average stress deviation from healthy bone (8.23 </a:t>
            </a:r>
            <a:r>
              <a:rPr lang="en-US" sz="2000" dirty="0" err="1" smtClean="0">
                <a:latin typeface="Times New Roman" panose="02020603050405020304" pitchFamily="18" charset="0"/>
                <a:cs typeface="Times New Roman" panose="02020603050405020304" pitchFamily="18" charset="0"/>
              </a:rPr>
              <a:t>Mpa</a:t>
            </a:r>
            <a:r>
              <a:rPr lang="en-US" sz="2000" dirty="0" smtClean="0">
                <a:latin typeface="Times New Roman" panose="02020603050405020304" pitchFamily="18" charset="0"/>
                <a:cs typeface="Times New Roman" panose="02020603050405020304" pitchFamily="18" charset="0"/>
              </a:rPr>
              <a:t>)</a:t>
            </a:r>
            <a:endParaRPr lang="en-IN" sz="2000" dirty="0" smtClean="0">
              <a:latin typeface="Times New Roman" panose="02020603050405020304" pitchFamily="18" charset="0"/>
              <a:cs typeface="Times New Roman" panose="02020603050405020304" pitchFamily="18" charset="0"/>
            </a:endParaRPr>
          </a:p>
        </p:txBody>
      </p:sp>
      <p:sp>
        <p:nvSpPr>
          <p:cNvPr id="7" name="TextBox 6"/>
          <p:cNvSpPr txBox="1"/>
          <p:nvPr/>
        </p:nvSpPr>
        <p:spPr>
          <a:xfrm>
            <a:off x="457200" y="4775272"/>
            <a:ext cx="7987004" cy="1323439"/>
          </a:xfrm>
          <a:prstGeom prst="rect">
            <a:avLst/>
          </a:prstGeom>
          <a:noFill/>
        </p:spPr>
        <p:txBody>
          <a:bodyPr wrap="square" rtlCol="0">
            <a:spAutoFit/>
          </a:bodyPr>
          <a:lstStyle/>
          <a:p>
            <a:pPr marL="342900" indent="-342900">
              <a:buFont typeface="Courier New" panose="02070309020205020404" pitchFamily="49" charset="0"/>
              <a:buChar char="o"/>
            </a:pPr>
            <a:r>
              <a:rPr lang="en-IN" sz="2000" dirty="0">
                <a:latin typeface="Times New Roman" panose="02020603050405020304" pitchFamily="18" charset="0"/>
                <a:cs typeface="Times New Roman" panose="02020603050405020304" pitchFamily="18" charset="0"/>
              </a:rPr>
              <a:t>InterTAN showed the closest performance to healthy bone in the healed condition (6.8% lower), indicating the best </a:t>
            </a:r>
            <a:r>
              <a:rPr lang="en-IN" sz="2000" dirty="0" smtClean="0">
                <a:latin typeface="Times New Roman" panose="02020603050405020304" pitchFamily="18" charset="0"/>
                <a:cs typeface="Times New Roman" panose="02020603050405020304" pitchFamily="18" charset="0"/>
              </a:rPr>
              <a:t>load-sharing capability.</a:t>
            </a:r>
          </a:p>
          <a:p>
            <a:pPr marL="342900" indent="-342900">
              <a:buFont typeface="Courier New" panose="02070309020205020404" pitchFamily="49" charset="0"/>
              <a:buChar char="o"/>
            </a:pPr>
            <a:r>
              <a:rPr lang="en-IN" sz="2000" dirty="0" smtClean="0">
                <a:latin typeface="Times New Roman" panose="02020603050405020304" pitchFamily="18" charset="0"/>
                <a:cs typeface="Times New Roman" panose="02020603050405020304" pitchFamily="18" charset="0"/>
              </a:rPr>
              <a:t>PFNA-II carried </a:t>
            </a:r>
            <a:r>
              <a:rPr lang="en-IN" sz="2000" dirty="0">
                <a:latin typeface="Times New Roman" panose="02020603050405020304" pitchFamily="18" charset="0"/>
                <a:cs typeface="Times New Roman" panose="02020603050405020304" pitchFamily="18" charset="0"/>
              </a:rPr>
              <a:t>higher stresses in fractured conditions, indicating stronger fixation and stability under </a:t>
            </a:r>
            <a:r>
              <a:rPr lang="en-IN" sz="2000" dirty="0" smtClean="0">
                <a:latin typeface="Times New Roman" panose="02020603050405020304" pitchFamily="18" charset="0"/>
                <a:cs typeface="Times New Roman" panose="02020603050405020304" pitchFamily="18" charset="0"/>
              </a:rPr>
              <a:t>loading.</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25056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25</a:t>
            </a:fld>
            <a:endParaRPr lang="en-US">
              <a:latin typeface="Times New Roman" panose="02020603050405020304" pitchFamily="18" charset="0"/>
              <a:cs typeface="Times New Roman" panose="02020603050405020304" pitchFamily="18" charset="0"/>
            </a:endParaRPr>
          </a:p>
        </p:txBody>
      </p:sp>
      <p:sp>
        <p:nvSpPr>
          <p:cNvPr id="6" name="Title 4">
            <a:extLst>
              <a:ext uri="{FF2B5EF4-FFF2-40B4-BE49-F238E27FC236}">
                <a16:creationId xmlns:a16="http://schemas.microsoft.com/office/drawing/2014/main" id="{34390EB0-0F55-826E-671B-225DAF054224}"/>
              </a:ext>
            </a:extLst>
          </p:cNvPr>
          <p:cNvSpPr txBox="1">
            <a:spLocks/>
          </p:cNvSpPr>
          <p:nvPr/>
        </p:nvSpPr>
        <p:spPr>
          <a:xfrm>
            <a:off x="438807" y="276809"/>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Comparison and Conclusion</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FFBF594-59C0-06E6-8ABA-1D0E005F653A}"/>
              </a:ext>
            </a:extLst>
          </p:cNvPr>
          <p:cNvSpPr txBox="1"/>
          <p:nvPr/>
        </p:nvSpPr>
        <p:spPr>
          <a:xfrm>
            <a:off x="422873" y="1158750"/>
            <a:ext cx="824553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IN" sz="20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541176" y="1306705"/>
            <a:ext cx="7957068" cy="2862322"/>
          </a:xfrm>
          <a:prstGeom prst="rect">
            <a:avLst/>
          </a:prstGeom>
          <a:noFill/>
        </p:spPr>
        <p:txBody>
          <a:bodyPr wrap="square" rtlCol="0">
            <a:spAutoFit/>
          </a:bodyPr>
          <a:lstStyle/>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smtClean="0">
                <a:latin typeface="Times New Roman" panose="02020603050405020304" pitchFamily="18" charset="0"/>
                <a:cs typeface="Times New Roman" panose="02020603050405020304" pitchFamily="18" charset="0"/>
              </a:rPr>
              <a:t>PFN</a:t>
            </a:r>
            <a:r>
              <a:rPr lang="en-IN" sz="2000"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PFNA-II and InterTAN (intramedullary nails) </a:t>
            </a:r>
            <a:r>
              <a:rPr lang="en-IN" sz="2000" dirty="0">
                <a:latin typeface="Times New Roman" panose="02020603050405020304" pitchFamily="18" charset="0"/>
                <a:cs typeface="Times New Roman" panose="02020603050405020304" pitchFamily="18" charset="0"/>
              </a:rPr>
              <a:t>showed better load sharing and stability than DHS and Angled Blade </a:t>
            </a:r>
            <a:r>
              <a:rPr lang="en-IN" sz="2000" dirty="0" smtClean="0">
                <a:latin typeface="Times New Roman" panose="02020603050405020304" pitchFamily="18" charset="0"/>
                <a:cs typeface="Times New Roman" panose="02020603050405020304" pitchFamily="18" charset="0"/>
              </a:rPr>
              <a:t>Plate (</a:t>
            </a:r>
            <a:r>
              <a:rPr lang="en-IN" sz="2000" dirty="0" err="1" smtClean="0">
                <a:latin typeface="Times New Roman" panose="02020603050405020304" pitchFamily="18" charset="0"/>
                <a:cs typeface="Times New Roman" panose="02020603050405020304" pitchFamily="18" charset="0"/>
              </a:rPr>
              <a:t>extramedullary</a:t>
            </a:r>
            <a:r>
              <a:rPr lang="en-IN" sz="2000" dirty="0" smtClean="0">
                <a:latin typeface="Times New Roman" panose="02020603050405020304" pitchFamily="18" charset="0"/>
                <a:cs typeface="Times New Roman" panose="02020603050405020304" pitchFamily="18" charset="0"/>
              </a:rPr>
              <a:t> implants), </a:t>
            </a:r>
            <a:r>
              <a:rPr lang="en-IN" sz="2000" dirty="0">
                <a:latin typeface="Times New Roman" panose="02020603050405020304" pitchFamily="18" charset="0"/>
                <a:cs typeface="Times New Roman" panose="02020603050405020304" pitchFamily="18" charset="0"/>
              </a:rPr>
              <a:t>with InterTAN performing closest to healthy bone conditions. </a:t>
            </a:r>
            <a:endParaRPr lang="en-IN" sz="2000"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study highlighted that premature full body-weight loading can cause excessive stress and possible implant or bone failure, emphasizing the importance of gradual rehabilitation with assisted support until sufficient healing occurs.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5917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2D8C2-730E-41D0-A6A3-3DCB021D69EE}"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3" name="Footer Placeholder 2"/>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4" name="Slide Number Placeholder 3"/>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26</a:t>
            </a:fld>
            <a:endParaRPr lang="en-US">
              <a:latin typeface="Times New Roman" panose="02020603050405020304" pitchFamily="18" charset="0"/>
              <a:cs typeface="Times New Roman" panose="02020603050405020304" pitchFamily="18" charset="0"/>
            </a:endParaRPr>
          </a:p>
        </p:txBody>
      </p:sp>
      <p:sp>
        <p:nvSpPr>
          <p:cNvPr id="5" name="Title 4"/>
          <p:cNvSpPr txBox="1">
            <a:spLocks/>
          </p:cNvSpPr>
          <p:nvPr/>
        </p:nvSpPr>
        <p:spPr>
          <a:xfrm>
            <a:off x="438807" y="276809"/>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References</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4D93C9A-7221-0E2E-B38C-CF2FA0BF06F4}"/>
              </a:ext>
            </a:extLst>
          </p:cNvPr>
          <p:cNvSpPr txBox="1"/>
          <p:nvPr/>
        </p:nvSpPr>
        <p:spPr>
          <a:xfrm>
            <a:off x="190500" y="1183600"/>
            <a:ext cx="8763000" cy="4801314"/>
          </a:xfrm>
          <a:prstGeom prst="rect">
            <a:avLst/>
          </a:prstGeom>
          <a:noFill/>
        </p:spPr>
        <p:txBody>
          <a:bodyPr wrap="square" lIns="91440" tIns="45720" rIns="91440" bIns="45720" rtlCol="0" anchor="t">
            <a:spAutoFit/>
          </a:bodyPr>
          <a:lstStyle/>
          <a:p>
            <a:r>
              <a:rPr lang="en-US" b="1" dirty="0">
                <a:latin typeface="Times New Roman" panose="02020603050405020304" pitchFamily="18" charset="0"/>
                <a:cs typeface="Times New Roman" panose="02020603050405020304" pitchFamily="18" charset="0"/>
              </a:rPr>
              <a:t>[1] </a:t>
            </a:r>
            <a:r>
              <a:rPr lang="en-US" b="1" dirty="0" err="1">
                <a:solidFill>
                  <a:schemeClr val="dk1"/>
                </a:solidFill>
                <a:latin typeface="Times New Roman" panose="02020603050405020304" pitchFamily="18" charset="0"/>
                <a:cs typeface="Times New Roman" panose="02020603050405020304" pitchFamily="18" charset="0"/>
              </a:rPr>
              <a:t>Tianhao</a:t>
            </a:r>
            <a:r>
              <a:rPr lang="en-US" b="1" dirty="0">
                <a:solidFill>
                  <a:schemeClr val="dk1"/>
                </a:solidFill>
                <a:latin typeface="Times New Roman" panose="02020603050405020304" pitchFamily="18" charset="0"/>
                <a:cs typeface="Times New Roman" panose="02020603050405020304" pitchFamily="18" charset="0"/>
              </a:rPr>
              <a:t> Yang, Faez Noraddin, </a:t>
            </a:r>
            <a:r>
              <a:rPr lang="en-US" b="1" dirty="0" err="1">
                <a:solidFill>
                  <a:schemeClr val="dk1"/>
                </a:solidFill>
                <a:latin typeface="Times New Roman" panose="02020603050405020304" pitchFamily="18" charset="0"/>
                <a:cs typeface="Times New Roman" panose="02020603050405020304" pitchFamily="18" charset="0"/>
              </a:rPr>
              <a:t>Baozhe</a:t>
            </a:r>
            <a:r>
              <a:rPr lang="en-US" b="1" dirty="0">
                <a:solidFill>
                  <a:schemeClr val="dk1"/>
                </a:solidFill>
                <a:latin typeface="Times New Roman" panose="02020603050405020304" pitchFamily="18" charset="0"/>
                <a:cs typeface="Times New Roman" panose="02020603050405020304" pitchFamily="18" charset="0"/>
              </a:rPr>
              <a:t> Liu, Zegen Zhang and Hai-Lun Gu; Finite Element Analysis of Implant Selection and Screw Positioning in Proximal Femoral </a:t>
            </a:r>
            <a:r>
              <a:rPr lang="en-US" b="1" dirty="0" err="1">
                <a:solidFill>
                  <a:schemeClr val="dk1"/>
                </a:solidFill>
                <a:latin typeface="Times New Roman" panose="02020603050405020304" pitchFamily="18" charset="0"/>
                <a:cs typeface="Times New Roman" panose="02020603050405020304" pitchFamily="18" charset="0"/>
              </a:rPr>
              <a:t>Basicervical</a:t>
            </a:r>
            <a:r>
              <a:rPr lang="en-US" b="1" dirty="0">
                <a:solidFill>
                  <a:schemeClr val="dk1"/>
                </a:solidFill>
                <a:latin typeface="Times New Roman" panose="02020603050405020304" pitchFamily="18" charset="0"/>
                <a:cs typeface="Times New Roman" panose="02020603050405020304" pitchFamily="18" charset="0"/>
              </a:rPr>
              <a:t> Fractures, Article in Scientific Reports, Oct 2025</a:t>
            </a:r>
          </a:p>
          <a:p>
            <a:pPr algn="just"/>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Huang X, Yu B, Gu Y, Li Z. Biomechanical comparison of dynamic hip screw and Gamma</a:t>
            </a:r>
          </a:p>
          <a:p>
            <a:r>
              <a:rPr lang="en-US" b="1" dirty="0">
                <a:latin typeface="Times New Roman" panose="02020603050405020304" pitchFamily="18" charset="0"/>
                <a:cs typeface="Times New Roman" panose="02020603050405020304" pitchFamily="18" charset="0"/>
              </a:rPr>
              <a:t>nail for the treatment of unstable trochanteric fractures: a finite element study. Original</a:t>
            </a:r>
          </a:p>
          <a:p>
            <a:r>
              <a:rPr lang="en-US" b="1" dirty="0">
                <a:latin typeface="Times New Roman" panose="02020603050405020304" pitchFamily="18" charset="0"/>
                <a:cs typeface="Times New Roman" panose="02020603050405020304" pitchFamily="18" charset="0"/>
              </a:rPr>
              <a:t>Article, 2017.</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a:t>
            </a:r>
            <a:r>
              <a:rPr lang="en-US" b="1" dirty="0">
                <a:solidFill>
                  <a:schemeClr val="dk1"/>
                </a:solidFill>
                <a:latin typeface="Times New Roman" panose="02020603050405020304" pitchFamily="18" charset="0"/>
                <a:cs typeface="Times New Roman" panose="02020603050405020304" pitchFamily="18" charset="0"/>
              </a:rPr>
              <a:t>Li C-T, Chang C-W, Chen Y-N. Biomechanical analysis of proximal femoral nail</a:t>
            </a:r>
          </a:p>
          <a:p>
            <a:r>
              <a:rPr lang="en-US" b="1" dirty="0">
                <a:solidFill>
                  <a:schemeClr val="dk1"/>
                </a:solidFill>
                <a:latin typeface="Times New Roman" panose="02020603050405020304" pitchFamily="18" charset="0"/>
                <a:cs typeface="Times New Roman" panose="02020603050405020304" pitchFamily="18" charset="0"/>
              </a:rPr>
              <a:t>augmented with various screw configurations for proximal femoral fractures. Journal</a:t>
            </a:r>
          </a:p>
          <a:p>
            <a:r>
              <a:rPr lang="en-US" b="1" dirty="0">
                <a:solidFill>
                  <a:schemeClr val="dk1"/>
                </a:solidFill>
                <a:latin typeface="Times New Roman" panose="02020603050405020304" pitchFamily="18" charset="0"/>
                <a:cs typeface="Times New Roman" panose="02020603050405020304" pitchFamily="18" charset="0"/>
              </a:rPr>
              <a:t>of </a:t>
            </a:r>
            <a:r>
              <a:rPr lang="en-US" b="1" dirty="0" err="1">
                <a:solidFill>
                  <a:schemeClr val="dk1"/>
                </a:solidFill>
                <a:latin typeface="Times New Roman" panose="02020603050405020304" pitchFamily="18" charset="0"/>
                <a:cs typeface="Times New Roman" panose="02020603050405020304" pitchFamily="18" charset="0"/>
              </a:rPr>
              <a:t>Orthopaedics</a:t>
            </a:r>
            <a:r>
              <a:rPr lang="en-US" b="1" dirty="0">
                <a:solidFill>
                  <a:schemeClr val="dk1"/>
                </a:solidFill>
                <a:latin typeface="Times New Roman" panose="02020603050405020304" pitchFamily="18" charset="0"/>
                <a:cs typeface="Times New Roman" panose="02020603050405020304" pitchFamily="18" charset="0"/>
              </a:rPr>
              <a:t>, Volume 73, March 2026, pp. 159–168.</a:t>
            </a:r>
          </a:p>
          <a:p>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[4] </a:t>
            </a:r>
            <a:r>
              <a:rPr lang="en-US" b="1" dirty="0" err="1">
                <a:solidFill>
                  <a:schemeClr val="dk1"/>
                </a:solidFill>
                <a:latin typeface="Times New Roman" panose="02020603050405020304" pitchFamily="18" charset="0"/>
                <a:cs typeface="Times New Roman" panose="02020603050405020304" pitchFamily="18" charset="0"/>
              </a:rPr>
              <a:t>Mustamsir</a:t>
            </a:r>
            <a:r>
              <a:rPr lang="en-US" b="1" dirty="0">
                <a:solidFill>
                  <a:schemeClr val="dk1"/>
                </a:solidFill>
                <a:latin typeface="Times New Roman" panose="02020603050405020304" pitchFamily="18" charset="0"/>
                <a:cs typeface="Times New Roman" panose="02020603050405020304" pitchFamily="18" charset="0"/>
              </a:rPr>
              <a:t> E, Aji AP, Fernando A</a:t>
            </a:r>
            <a:r>
              <a:rPr lang="en-US"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ea typeface="+mn-lt"/>
                <a:cs typeface="Times New Roman" panose="02020603050405020304" pitchFamily="18" charset="0"/>
              </a:rPr>
              <a:t>Comparative evaluation of proximal femoral nail anti-rotation versus dynamic hip screw for stable intertrochanteric femoral fractures: A meta-analysis of clinical outcomes, Journal of Musculoskeletal Surgery and Research, June 2024, Vol 8</a:t>
            </a:r>
            <a:endParaRPr lang="en-US" dirty="0">
              <a:latin typeface="Times New Roman" panose="02020603050405020304" pitchFamily="18" charset="0"/>
              <a:ea typeface="Calibri"/>
              <a:cs typeface="Times New Roman" panose="02020603050405020304" pitchFamily="18" charset="0"/>
            </a:endParaRPr>
          </a:p>
        </p:txBody>
      </p:sp>
      <p:sp>
        <p:nvSpPr>
          <p:cNvPr id="8" name="Title 4"/>
          <p:cNvSpPr txBox="1">
            <a:spLocks/>
          </p:cNvSpPr>
          <p:nvPr/>
        </p:nvSpPr>
        <p:spPr>
          <a:xfrm>
            <a:off x="438807" y="258148"/>
            <a:ext cx="8229600" cy="533400"/>
          </a:xfrm>
          <a:prstGeom prst="roundRect">
            <a:avLst/>
          </a:prstGeom>
          <a:ln/>
        </p:spPr>
        <p:style>
          <a:lnRef idx="1">
            <a:schemeClr val="accent4"/>
          </a:lnRef>
          <a:fillRef idx="2">
            <a:schemeClr val="accent4"/>
          </a:fillRef>
          <a:effectRef idx="1">
            <a:schemeClr val="accent4"/>
          </a:effectRef>
          <a:fontRef idx="minor">
            <a:schemeClr val="dk1"/>
          </a:fontRef>
        </p:style>
        <p:txBody>
          <a:bodyPr vert="horz" rtlCol="0" anchor="ctr">
            <a:normAutofit fontScale="92500" lnSpcReduction="20000"/>
          </a:bodyPr>
          <a:lstStyle/>
          <a:p>
            <a:pPr marL="548640" marR="0" lvl="0" indent="-411480" algn="ctr" defTabSz="914400" rtl="0" eaLnBrk="1" fontAlgn="auto" latinLnBrk="0" hangingPunct="1">
              <a:lnSpc>
                <a:spcPct val="100000"/>
              </a:lnSpc>
              <a:spcBef>
                <a:spcPct val="20000"/>
              </a:spcBef>
              <a:spcAft>
                <a:spcPts val="0"/>
              </a:spcAft>
              <a:buClr>
                <a:schemeClr val="tx1">
                  <a:shade val="95000"/>
                </a:schemeClr>
              </a:buClr>
              <a:buSzPct val="65000"/>
              <a:buFont typeface="Wingdings 2"/>
              <a:buNone/>
              <a:tabLst/>
              <a:defRPr/>
            </a:pPr>
            <a:r>
              <a:rPr lang="en-US" sz="3200" dirty="0">
                <a:latin typeface="Times New Roman" panose="02020603050405020304" pitchFamily="18" charset="0"/>
                <a:cs typeface="Times New Roman" panose="02020603050405020304" pitchFamily="18" charset="0"/>
              </a:rPr>
              <a:t>References</a:t>
            </a:r>
            <a:endParaRPr kumimoji="0" lang="en-US" sz="3200" b="0" i="0" u="none" strike="noStrike" kern="1200" cap="none" spc="0" normalizeH="0" baseline="0" noProof="0" dirty="0">
              <a:ln>
                <a:noFill/>
              </a:ln>
              <a:solidFill>
                <a:schemeClr val="lt1"/>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7248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4F630-1ED4-414E-ECF2-01F4E32BAAE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4A8171A-F918-11E7-50F7-B907A776E707}"/>
              </a:ext>
            </a:extLst>
          </p:cNvPr>
          <p:cNvSpPr txBox="1"/>
          <p:nvPr/>
        </p:nvSpPr>
        <p:spPr>
          <a:xfrm>
            <a:off x="194982" y="766482"/>
            <a:ext cx="8763000" cy="3970318"/>
          </a:xfrm>
          <a:prstGeom prst="rect">
            <a:avLst/>
          </a:prstGeom>
          <a:noFill/>
        </p:spPr>
        <p:txBody>
          <a:bodyPr wrap="square" lIns="91440" tIns="45720" rIns="91440" bIns="45720" rtlCol="0" anchor="t">
            <a:spAutoFit/>
          </a:bodyPr>
          <a:lstStyle/>
          <a:p>
            <a:pPr algn="just"/>
            <a:r>
              <a:rPr lang="en-US" b="1" dirty="0">
                <a:latin typeface="Times New Roman" panose="02020603050405020304" pitchFamily="18" charset="0"/>
                <a:cs typeface="Times New Roman" panose="02020603050405020304" pitchFamily="18" charset="0"/>
              </a:rPr>
              <a:t>[5] </a:t>
            </a:r>
            <a:r>
              <a:rPr lang="en-US" b="1" dirty="0">
                <a:solidFill>
                  <a:schemeClr val="dk1"/>
                </a:solidFill>
                <a:latin typeface="Times New Roman" panose="02020603050405020304" pitchFamily="18" charset="0"/>
                <a:cs typeface="Times New Roman" panose="02020603050405020304" pitchFamily="18" charset="0"/>
              </a:rPr>
              <a:t>Rogalski, Martelli, Pandy, Kersh. Role of muscle forces on strain distributions in the</a:t>
            </a:r>
          </a:p>
          <a:p>
            <a:pPr algn="just"/>
            <a:r>
              <a:rPr lang="en-US" b="1" dirty="0">
                <a:solidFill>
                  <a:schemeClr val="dk1"/>
                </a:solidFill>
                <a:latin typeface="Times New Roman" panose="02020603050405020304" pitchFamily="18" charset="0"/>
                <a:cs typeface="Times New Roman" panose="02020603050405020304" pitchFamily="18" charset="0"/>
              </a:rPr>
              <a:t>proximal femur. Journal of Biomechanics, 2025.</a:t>
            </a: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[6] </a:t>
            </a:r>
            <a:r>
              <a:rPr lang="en-US" b="1" dirty="0">
                <a:solidFill>
                  <a:schemeClr val="dk1"/>
                </a:solidFill>
                <a:latin typeface="Times New Roman" panose="02020603050405020304" pitchFamily="18" charset="0"/>
                <a:cs typeface="Times New Roman" panose="02020603050405020304" pitchFamily="18" charset="0"/>
              </a:rPr>
              <a:t>Gao-Xiang Yuan, Yu-Hui Shen, Bo Chen, Wei-Bin Zhang</a:t>
            </a:r>
            <a:r>
              <a:rPr lang="en-US" b="1"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ea typeface="+mn-lt"/>
                <a:cs typeface="Times New Roman" panose="02020603050405020304" pitchFamily="18" charset="0"/>
              </a:rPr>
              <a:t>Biomechanical comparison of internal fixations in osteoporotic intertrochanteric fracture</a:t>
            </a:r>
            <a:r>
              <a:rPr lang="en-US" b="1"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Journal of </a:t>
            </a:r>
            <a:r>
              <a:rPr lang="en-IN" b="1" dirty="0">
                <a:latin typeface="Times New Roman" panose="02020603050405020304" pitchFamily="18" charset="0"/>
                <a:ea typeface="+mn-lt"/>
                <a:cs typeface="Times New Roman" panose="02020603050405020304" pitchFamily="18" charset="0"/>
              </a:rPr>
              <a:t>Saudi Med J 2012; Vol. 33 (7)</a:t>
            </a:r>
            <a:endParaRPr lang="en-US" b="1" dirty="0">
              <a:latin typeface="Times New Roman" panose="02020603050405020304" pitchFamily="18" charset="0"/>
              <a:ea typeface="Calibri"/>
              <a:cs typeface="Times New Roman" panose="02020603050405020304" pitchFamily="18" charset="0"/>
            </a:endParaRPr>
          </a:p>
          <a:p>
            <a:pPr algn="just"/>
            <a:endParaRPr lang="en-US" b="1" dirty="0">
              <a:latin typeface="Times New Roman" panose="02020603050405020304" pitchFamily="18" charset="0"/>
              <a:ea typeface="Calibri"/>
              <a:cs typeface="Times New Roman" panose="02020603050405020304" pitchFamily="18" charset="0"/>
            </a:endParaRPr>
          </a:p>
          <a:p>
            <a:pPr algn="just"/>
            <a:r>
              <a:rPr lang="en-US" b="1" dirty="0">
                <a:latin typeface="Times New Roman" panose="02020603050405020304" pitchFamily="18" charset="0"/>
                <a:ea typeface="Calibri"/>
                <a:cs typeface="Times New Roman" panose="02020603050405020304" pitchFamily="18" charset="0"/>
              </a:rPr>
              <a:t>[7] </a:t>
            </a:r>
            <a:r>
              <a:rPr lang="en-IN" b="1" dirty="0">
                <a:latin typeface="Times New Roman" panose="02020603050405020304" pitchFamily="18" charset="0"/>
                <a:cs typeface="Times New Roman" panose="02020603050405020304" pitchFamily="18" charset="0"/>
              </a:rPr>
              <a:t>Sandeep Rathor, Rashmi Uddanwadiker, Nandram </a:t>
            </a:r>
            <a:r>
              <a:rPr lang="en-IN" b="1" dirty="0" err="1">
                <a:latin typeface="Times New Roman" panose="02020603050405020304" pitchFamily="18" charset="0"/>
                <a:cs typeface="Times New Roman" panose="02020603050405020304" pitchFamily="18" charset="0"/>
              </a:rPr>
              <a:t>Saryam</a:t>
            </a:r>
            <a:r>
              <a:rPr lang="en-IN" b="1" dirty="0">
                <a:latin typeface="Times New Roman" panose="02020603050405020304" pitchFamily="18" charset="0"/>
                <a:cs typeface="Times New Roman" panose="02020603050405020304" pitchFamily="18" charset="0"/>
              </a:rPr>
              <a:t> and Ashutosh Apte; Effective Treatment of Femur Diaphyseal Fracture with Compression Plate – A Finite Element and In Vivo Study Comparing the Healing Outcomes of Nailing and Plating, Article in Indian Journal of Orthopaedics, Accepted November 2022</a:t>
            </a:r>
            <a:endParaRPr lang="en-US"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ea typeface="Calibri"/>
              <a:cs typeface="Times New Roman" panose="02020603050405020304" pitchFamily="18" charset="0"/>
            </a:endParaRPr>
          </a:p>
          <a:p>
            <a:pPr algn="just"/>
            <a:r>
              <a:rPr lang="en-US" b="1" dirty="0">
                <a:latin typeface="Times New Roman" panose="02020603050405020304" pitchFamily="18" charset="0"/>
                <a:ea typeface="Calibri"/>
                <a:cs typeface="Times New Roman" panose="02020603050405020304" pitchFamily="18" charset="0"/>
              </a:rPr>
              <a:t>[8] Ansys Granta </a:t>
            </a:r>
            <a:r>
              <a:rPr lang="en-US" b="1" dirty="0" err="1">
                <a:latin typeface="Times New Roman" panose="02020603050405020304" pitchFamily="18" charset="0"/>
                <a:ea typeface="Calibri"/>
                <a:cs typeface="Times New Roman" panose="02020603050405020304" pitchFamily="18" charset="0"/>
              </a:rPr>
              <a:t>EduPack</a:t>
            </a:r>
            <a:r>
              <a:rPr lang="en-US" b="1" dirty="0">
                <a:latin typeface="Times New Roman" panose="02020603050405020304" pitchFamily="18" charset="0"/>
                <a:ea typeface="Calibri"/>
                <a:cs typeface="Times New Roman" panose="02020603050405020304" pitchFamily="18" charset="0"/>
              </a:rPr>
              <a:t> Software</a:t>
            </a:r>
          </a:p>
          <a:p>
            <a:endParaRPr lang="en-US" b="1" dirty="0">
              <a:latin typeface="Times New Roman" panose="02020603050405020304" pitchFamily="18" charset="0"/>
              <a:ea typeface="Calibri"/>
              <a:cs typeface="Times New Roman" panose="02020603050405020304" pitchFamily="18" charset="0"/>
            </a:endParaRPr>
          </a:p>
        </p:txBody>
      </p:sp>
      <p:sp>
        <p:nvSpPr>
          <p:cNvPr id="2" name="Date Placeholder 1">
            <a:extLst>
              <a:ext uri="{FF2B5EF4-FFF2-40B4-BE49-F238E27FC236}">
                <a16:creationId xmlns:a16="http://schemas.microsoft.com/office/drawing/2014/main" id="{12717AE3-9352-B7C3-21A8-5FB19D1A8DDC}"/>
              </a:ext>
            </a:extLst>
          </p:cNvPr>
          <p:cNvSpPr>
            <a:spLocks noGrp="1"/>
          </p:cNvSpPr>
          <p:nvPr>
            <p:ph type="dt" sz="half" idx="10"/>
          </p:nvPr>
        </p:nvSpPr>
        <p:spPr/>
        <p:txBody>
          <a:bodyPr/>
          <a:lstStyle/>
          <a:p>
            <a:fld id="{580D1FF9-AFA4-4DBB-8E23-EAC93F93D728}" type="datetime1">
              <a:rPr lang="en-IN" smtClean="0">
                <a:latin typeface="Times New Roman" panose="02020603050405020304" pitchFamily="18" charset="0"/>
                <a:cs typeface="Times New Roman" panose="02020603050405020304" pitchFamily="18" charset="0"/>
              </a:rPr>
              <a:t>08-05-2026</a:t>
            </a:fld>
            <a:endParaRPr lang="en-US"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37B4034D-7137-68C2-4568-8814DBBA0941}"/>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 Tech. Progress seminar </a:t>
            </a:r>
          </a:p>
        </p:txBody>
      </p:sp>
      <p:sp>
        <p:nvSpPr>
          <p:cNvPr id="8" name="Slide Number Placeholder 7">
            <a:extLst>
              <a:ext uri="{FF2B5EF4-FFF2-40B4-BE49-F238E27FC236}">
                <a16:creationId xmlns:a16="http://schemas.microsoft.com/office/drawing/2014/main" id="{24C47AB2-34F0-00B4-1B70-1D0BC9D7DE1D}"/>
              </a:ext>
            </a:extLst>
          </p:cNvPr>
          <p:cNvSpPr>
            <a:spLocks noGrp="1"/>
          </p:cNvSpPr>
          <p:nvPr>
            <p:ph type="sldNum" sz="quarter" idx="12"/>
          </p:nvPr>
        </p:nvSpPr>
        <p:spPr/>
        <p:txBody>
          <a:bodyPr/>
          <a:lstStyle/>
          <a:p>
            <a:fld id="{E3F582E7-5946-46E8-90FE-86F4A45DA68F}" type="slidenum">
              <a:rPr lang="en-US" smtClean="0">
                <a:latin typeface="Times New Roman" panose="02020603050405020304" pitchFamily="18" charset="0"/>
                <a:cs typeface="Times New Roman" panose="02020603050405020304" pitchFamily="18" charset="0"/>
              </a:rPr>
              <a:pPr/>
              <a:t>27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5614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p:txBody>
          <a:bodyPr/>
          <a:lstStyle/>
          <a:p>
            <a:pPr>
              <a:buNone/>
            </a:pPr>
            <a:endParaRPr lang="en-US"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195C195B-1976-45D3-91F6-35FAF504038F}" type="datetime1">
              <a:rPr lang="en-IN" smtClean="0">
                <a:latin typeface="Times New Roman" panose="02020603050405020304" pitchFamily="18" charset="0"/>
                <a:cs typeface="Times New Roman" panose="02020603050405020304" pitchFamily="18" charset="0"/>
              </a:rPr>
              <a:t>08-05-2026</a:t>
            </a:fld>
            <a:endParaRPr lang="en-US">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a:xfrm>
            <a:off x="4953000" y="6381750"/>
            <a:ext cx="5486400" cy="476250"/>
          </a:xfrm>
        </p:spPr>
        <p:txBody>
          <a:bodyPr/>
          <a:lstStyle/>
          <a:p>
            <a:r>
              <a:rPr lang="en-US" b="1">
                <a:solidFill>
                  <a:schemeClr val="bg1"/>
                </a:solidFill>
                <a:latin typeface="Times New Roman" panose="02020603050405020304" pitchFamily="18" charset="0"/>
                <a:cs typeface="Times New Roman" panose="02020603050405020304" pitchFamily="18" charset="0"/>
              </a:rPr>
              <a:t>B. Tech. Progress seminar </a:t>
            </a:r>
          </a:p>
        </p:txBody>
      </p:sp>
      <p:sp>
        <p:nvSpPr>
          <p:cNvPr id="8" name="Slide Number Placeholder 7"/>
          <p:cNvSpPr>
            <a:spLocks noGrp="1"/>
          </p:cNvSpPr>
          <p:nvPr>
            <p:ph type="sldNum" sz="quarter" idx="12"/>
          </p:nvPr>
        </p:nvSpPr>
        <p:spPr>
          <a:xfrm>
            <a:off x="6781800" y="6213475"/>
            <a:ext cx="2133600" cy="476250"/>
          </a:xfrm>
        </p:spPr>
        <p:txBody>
          <a:bodyPr/>
          <a:lstStyle/>
          <a:p>
            <a:fld id="{E3F582E7-5946-46E8-90FE-86F4A45DA68F}" type="slidenum">
              <a:rPr lang="en-US" smtClean="0">
                <a:latin typeface="Times New Roman" panose="02020603050405020304" pitchFamily="18" charset="0"/>
                <a:cs typeface="Times New Roman" panose="02020603050405020304" pitchFamily="18" charset="0"/>
              </a:rPr>
              <a:pPr/>
              <a:t>28</a:t>
            </a:fld>
            <a:endParaRPr lang="en-US">
              <a:latin typeface="Times New Roman" panose="02020603050405020304" pitchFamily="18" charset="0"/>
              <a:cs typeface="Times New Roman" panose="02020603050405020304" pitchFamily="18" charset="0"/>
            </a:endParaRPr>
          </a:p>
        </p:txBody>
      </p:sp>
      <p:sp>
        <p:nvSpPr>
          <p:cNvPr id="3" name="Rounded Rectangle 2"/>
          <p:cNvSpPr/>
          <p:nvPr/>
        </p:nvSpPr>
        <p:spPr>
          <a:xfrm>
            <a:off x="1295400" y="2362200"/>
            <a:ext cx="6553200" cy="1905000"/>
          </a:xfrm>
          <a:prstGeom prst="roundRect">
            <a:avLst/>
          </a:prstGeom>
          <a:ln/>
        </p:spPr>
        <p:style>
          <a:lnRef idx="1">
            <a:schemeClr val="accent4"/>
          </a:lnRef>
          <a:fillRef idx="3">
            <a:schemeClr val="accent4"/>
          </a:fillRef>
          <a:effectRef idx="2">
            <a:schemeClr val="accent4"/>
          </a:effectRef>
          <a:fontRef idx="minor">
            <a:schemeClr val="lt1"/>
          </a:fontRef>
        </p:style>
        <p:txBody>
          <a:bodyPr rtlCol="0" anchor="ctr"/>
          <a:lstStyle/>
          <a:p>
            <a:pPr>
              <a:buNone/>
            </a:pPr>
            <a:r>
              <a:rPr lang="en-US" sz="3600" b="1" i="1" dirty="0">
                <a:solidFill>
                  <a:schemeClr val="bg1"/>
                </a:solidFill>
                <a:latin typeface="Times New Roman" panose="02020603050405020304" pitchFamily="18" charset="0"/>
                <a:cs typeface="Times New Roman" panose="02020603050405020304" pitchFamily="18" charset="0"/>
              </a:rPr>
              <a:t>Thank you</a:t>
            </a:r>
            <a:endParaRPr lang="en-US" sz="4800" b="1" i="1" dirty="0">
              <a:solidFill>
                <a:schemeClr val="bg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0" y="6477000"/>
            <a:ext cx="1219200" cy="369332"/>
          </a:xfrm>
          <a:prstGeom prst="rect">
            <a:avLst/>
          </a:prstGeom>
          <a:noFill/>
        </p:spPr>
        <p:txBody>
          <a:bodyPr wrap="square" rtlCol="0">
            <a:spAutoFit/>
          </a:bodyPr>
          <a:lstStyle/>
          <a:p>
            <a:r>
              <a:rPr lang="en-US" b="1">
                <a:solidFill>
                  <a:schemeClr val="bg1"/>
                </a:solidFill>
                <a:latin typeface="Times New Roman" panose="02020603050405020304" pitchFamily="18" charset="0"/>
                <a:cs typeface="Times New Roman" panose="02020603050405020304" pitchFamily="18" charset="0"/>
              </a:rPr>
              <a:t> 10  / 10 </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